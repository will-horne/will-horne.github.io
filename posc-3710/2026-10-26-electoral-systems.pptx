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5" r:id="rId22"/>
    <p:sldId id="276" r:id="rId23"/>
    <p:sldId id="277" r:id="rId24"/>
    <p:sldId id="280" r:id="rId25"/>
    <p:sldId id="281" r:id="rId26"/>
    <p:sldId id="279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600"/>
    <a:srgbClr val="2E1946"/>
    <a:srgbClr val="004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79674"/>
  </p:normalViewPr>
  <p:slideViewPr>
    <p:cSldViewPr snapToGrid="0">
      <p:cViewPr varScale="1">
        <p:scale>
          <a:sx n="92" d="100"/>
          <a:sy n="92" d="100"/>
        </p:scale>
        <p:origin x="27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1" d="100"/>
          <a:sy n="141" d="100"/>
        </p:scale>
        <p:origin x="624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29C96F-1000-C65C-C46A-DA14851133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95355-E84A-6573-5549-851D4ADC6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FA5A5-83E0-C843-A833-1581F35400C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27B71-4299-2D9E-4AB0-081BE29BB1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7D83-DAF8-7574-6FD2-27143710F8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934A6-1BE6-7D49-B4FB-2D04BF75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33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2DEE5-9574-204D-9FB1-AE984D3E7C3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36EDD-184B-404C-BDB7-A0B1EB46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0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36EDD-184B-404C-BDB7-A0B1EB463AA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7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E9FCEB86-C289-BAE5-F910-E0FA7B1DD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968ABF-4D01-3D46-DD50-05AAEA7E7C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rgbClr val="2E1946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B38C7-61C8-6264-1ABC-076BA35222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 cap="all" spc="300" baseline="0">
                <a:solidFill>
                  <a:srgbClr val="2E1946"/>
                </a:solidFill>
                <a:latin typeface="Franklin Gothic Medium Cond" panose="020B06060304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Unit/Division and/or presenter’s name/title</a:t>
            </a:r>
          </a:p>
        </p:txBody>
      </p:sp>
      <p:pic>
        <p:nvPicPr>
          <p:cNvPr id="9" name="Picture 8" descr="Clemson logo">
            <a:extLst>
              <a:ext uri="{FF2B5EF4-FFF2-40B4-BE49-F238E27FC236}">
                <a16:creationId xmlns:a16="http://schemas.microsoft.com/office/drawing/2014/main" id="{8492A997-2520-187B-104E-CDFE0EF01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18743" y="5626210"/>
            <a:ext cx="2829340" cy="141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8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orange&#10;&#10;Description automatically generated">
            <a:extLst>
              <a:ext uri="{FF2B5EF4-FFF2-40B4-BE49-F238E27FC236}">
                <a16:creationId xmlns:a16="http://schemas.microsoft.com/office/drawing/2014/main" id="{3218C5B7-1B48-9220-02FD-18EAA908C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B5D491-FFDD-12DC-F8B9-D44A9110D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845608"/>
          </a:xfrm>
        </p:spPr>
        <p:txBody>
          <a:bodyPr/>
          <a:lstStyle>
            <a:lvl1pPr>
              <a:defRPr b="1" i="0">
                <a:solidFill>
                  <a:srgbClr val="2E1946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C60D-E7A2-1FAA-6A9A-18C3F0788B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3933"/>
            <a:ext cx="10515600" cy="4309792"/>
          </a:xfrm>
        </p:spPr>
        <p:txBody>
          <a:bodyPr/>
          <a:lstStyle>
            <a:lvl1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1pPr>
            <a:lvl2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2pPr>
            <a:lvl3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3pPr>
            <a:lvl4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4pPr>
            <a:lvl5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897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B6E6D0E5-30B8-F707-1A18-C16C1DC5F4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B611FD-8E3E-EDB6-39F7-5065D6B8B0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31242"/>
            <a:ext cx="4736123" cy="2368306"/>
          </a:xfrm>
        </p:spPr>
        <p:txBody>
          <a:bodyPr anchor="t"/>
          <a:lstStyle>
            <a:lvl1pPr>
              <a:defRPr b="1" i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514B4-B8D9-B783-92CA-1398173D2E1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930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CE9A7DBE-E94F-11FE-B202-FED354F27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sky, outdoor&#10;&#10;Description automatically generated">
            <a:extLst>
              <a:ext uri="{FF2B5EF4-FFF2-40B4-BE49-F238E27FC236}">
                <a16:creationId xmlns:a16="http://schemas.microsoft.com/office/drawing/2014/main" id="{F1B14EBB-2F19-A151-9C9E-3D31472376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5988" y="0"/>
            <a:ext cx="596601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B611FD-8E3E-EDB6-39F7-5065D6B8B0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769" y="373918"/>
            <a:ext cx="5181600" cy="1542806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48D1-E40A-0169-72CA-57B7B3A4537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4769" y="2150330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321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F2CC4E72-8006-C0E6-E5E0-5FEC74091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2497B5-26FE-AD47-D019-4EC9E788E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1709738"/>
            <a:ext cx="10665057" cy="2852737"/>
          </a:xfrm>
        </p:spPr>
        <p:txBody>
          <a:bodyPr anchor="b">
            <a:normAutofit/>
          </a:bodyPr>
          <a:lstStyle>
            <a:lvl1pPr>
              <a:defRPr sz="6600" b="1" i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980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orn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07D40A01-AAA7-1D91-B3D8-4DE6503492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2497B5-26FE-AD47-D019-4EC9E788E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709662" cy="2852737"/>
          </a:xfrm>
        </p:spPr>
        <p:txBody>
          <a:bodyPr anchor="b">
            <a:normAutofit/>
          </a:bodyPr>
          <a:lstStyle>
            <a:lvl1pPr>
              <a:defRPr sz="6600" b="1" i="0">
                <a:solidFill>
                  <a:srgbClr val="2E1946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928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CCDDC-A064-45DD-7CCA-04B7253A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DDB838-EF86-B949-B36C-251AD94A1C8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C43AE-8F9F-7A45-8622-0BC97234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72D84-1CD8-E501-7962-0A18C3B5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E3CDEB-8119-314D-8B42-1AC764E01F9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D9B3203B-93E8-5265-CEB3-C3D7347A2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B491ABA-1768-D306-08E1-704F99EE3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267181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A8D12DF9-9FA3-E494-C157-ADFC07CB50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7923E18-677B-DA18-379C-72DE7A6C23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31160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range - p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CCDDC-A064-45DD-7CCA-04B7253A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DDB838-EF86-B949-B36C-251AD94A1C8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C43AE-8F9F-7A45-8622-0BC97234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72D84-1CD8-E501-7962-0A18C3B5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E3CDEB-8119-314D-8B42-1AC764E01F9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D9B3203B-93E8-5265-CEB3-C3D7347A2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clemson tiger paw">
            <a:extLst>
              <a:ext uri="{FF2B5EF4-FFF2-40B4-BE49-F238E27FC236}">
                <a16:creationId xmlns:a16="http://schemas.microsoft.com/office/drawing/2014/main" id="{BABE5E18-0A7D-6738-AA9B-DF1C834AE1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2800" y="685800"/>
            <a:ext cx="5486400" cy="5486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FA5162E-6C6D-4D42-4654-84BA23B0D4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65433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 - P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A8D12DF9-9FA3-E494-C157-ADFC07CB50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clemson tiger paw">
            <a:extLst>
              <a:ext uri="{FF2B5EF4-FFF2-40B4-BE49-F238E27FC236}">
                <a16:creationId xmlns:a16="http://schemas.microsoft.com/office/drawing/2014/main" id="{38594F7C-BC73-84BE-106F-7C6CA81D33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2800" y="685800"/>
            <a:ext cx="5486400" cy="5486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5C7694-CA6D-1C42-3EDC-56CD2759BC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274408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20BE7E-501E-6569-CA9C-A5BF6CDFD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3F628C4-4CB5-F4A0-BBA3-9F4EBCE4D3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2071880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loudy&#10;&#10;Description automatically generated">
            <a:extLst>
              <a:ext uri="{FF2B5EF4-FFF2-40B4-BE49-F238E27FC236}">
                <a16:creationId xmlns:a16="http://schemas.microsoft.com/office/drawing/2014/main" id="{2EC047A0-1136-7375-8BB3-BB258DE36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0" y="3048"/>
            <a:ext cx="121886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EDC1F1-6562-EE88-8B6C-254F9F3FF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79080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37745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5CCEF-8DA5-EF9F-63FD-5F01C214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B8550-F7BB-8CD4-BFDC-64295DB6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762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3" r:id="rId4"/>
    <p:sldLayoutId id="2147483651" r:id="rId5"/>
    <p:sldLayoutId id="2147483662" r:id="rId6"/>
    <p:sldLayoutId id="2147483655" r:id="rId7"/>
    <p:sldLayoutId id="2147483666" r:id="rId8"/>
    <p:sldLayoutId id="2147483660" r:id="rId9"/>
    <p:sldLayoutId id="2147483667" r:id="rId10"/>
    <p:sldLayoutId id="2147483664" r:id="rId11"/>
    <p:sldLayoutId id="214748366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Sabon Next LT" panose="02000500000000000000" pitchFamily="2" charset="0"/>
          <a:ea typeface="+mj-ea"/>
          <a:cs typeface="Sabon Next LT" panose="02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www.youtube.com/embed/QT0I-sdoSXU?autoplay=1&amp;rel=0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POSC 3710: European Politics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10/19/2026: Electoral Systems</a:t>
            </a:r>
          </a:p>
          <a:p>
            <a:r>
              <a:t>Dr. Will Horne</a:t>
            </a:r>
          </a:p>
          <a:p>
            <a:r>
              <a:t>Clemson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05" y="384048"/>
            <a:ext cx="10515600" cy="1188720"/>
          </a:xfrm>
        </p:spPr>
        <p:txBody>
          <a:bodyPr/>
          <a:lstStyle/>
          <a:p>
            <a:r>
              <a:t>Britain May Change the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91640"/>
            <a:ext cx="5806440" cy="4023360"/>
          </a:xfrm>
        </p:spPr>
        <p:txBody>
          <a:bodyPr/>
          <a:lstStyle/>
          <a:p>
            <a:r>
              <a:rPr sz="2000" dirty="0"/>
              <a:t>September 29, 2026: Andy Burnham, Britain’s Labour prime minister, announces a commission on electoral reform</a:t>
            </a:r>
          </a:p>
          <a:p>
            <a:r>
              <a:rPr sz="2000" dirty="0"/>
              <a:t>Labour will run on “a manifesto commitment to change the electoral system”</a:t>
            </a:r>
          </a:p>
          <a:p>
            <a:r>
              <a:rPr sz="2000" dirty="0"/>
              <a:t>His warning: today’s rules could put a party in power “with 30% of the vote or less”</a:t>
            </a:r>
            <a:endParaRPr lang="en-US" sz="2000" dirty="0"/>
          </a:p>
          <a:p>
            <a:r>
              <a:rPr lang="en-US" sz="2000" dirty="0"/>
              <a:t>We’ve seen this story before…</a:t>
            </a:r>
            <a:endParaRPr sz="2000" dirty="0"/>
          </a:p>
          <a:p>
            <a:r>
              <a:rPr lang="en-US" sz="2000" dirty="0"/>
              <a:t>What do you all think</a:t>
            </a:r>
            <a:r>
              <a:rPr sz="2000" dirty="0"/>
              <a:t>: would Labour gain seats under new rules, or lose them?</a:t>
            </a:r>
          </a:p>
        </p:txBody>
      </p:sp>
      <p:pic>
        <p:nvPicPr>
          <p:cNvPr id="4" name="Photo (Lecture 8a.pptx, slide 18, picture 1)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75120" y="1806085"/>
            <a:ext cx="5074920" cy="3382989"/>
          </a:xfrm>
          <a:prstGeom prst="rect">
            <a:avLst/>
          </a:prstGeom>
        </p:spPr>
      </p:pic>
      <p:sp>
        <p:nvSpPr>
          <p:cNvPr id="5" name="Photo caption"/>
          <p:cNvSpPr/>
          <p:nvPr/>
        </p:nvSpPr>
        <p:spPr>
          <a:xfrm>
            <a:off x="6675120" y="5243939"/>
            <a:ext cx="5074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>
            <a:normAutofit/>
          </a:bodyPr>
          <a:lstStyle/>
          <a:p>
            <a:pPr marL="0" indent="0" algn="ctr">
              <a:buNone/>
            </a:pPr>
            <a:r>
              <a:rPr sz="1150" b="0" i="1">
                <a:solidFill>
                  <a:srgbClr val="321744"/>
                </a:solidFill>
                <a:latin typeface="Calibri"/>
                <a:cs typeface="Calibri"/>
              </a:rPr>
              <a:t>The 2024 election: Keir Starmer (left), who led Labour to victory, debates Rishi Sunak, the Conservative prime minister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Guess the Number: Britain, 2024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"/>
          <p:cNvSpPr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endParaRPr sz="1250" b="1" i="0" dirty="0">
              <a:solidFill>
                <a:srgbClr val="F3672A"/>
              </a:solidFill>
              <a:latin typeface="Calibri"/>
              <a:cs typeface="Calibri"/>
            </a:endParaRPr>
          </a:p>
        </p:txBody>
      </p:sp>
      <p:sp>
        <p:nvSpPr>
          <p:cNvPr id="5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In 2024 Labour won 33.7% of the vote in Britain. What share of the seats did it win?</a:t>
            </a:r>
          </a:p>
        </p:txBody>
      </p:sp>
      <p:sp>
        <p:nvSpPr>
          <p:cNvPr id="6" name="Option A"/>
          <p:cNvSpPr/>
          <p:nvPr/>
        </p:nvSpPr>
        <p:spPr>
          <a:xfrm>
            <a:off x="502920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ption A text"/>
          <p:cNvSpPr/>
          <p:nvPr/>
        </p:nvSpPr>
        <p:spPr>
          <a:xfrm>
            <a:off x="502920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A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34%</a:t>
            </a:r>
          </a:p>
        </p:txBody>
      </p:sp>
      <p:sp>
        <p:nvSpPr>
          <p:cNvPr id="8" name="Option B"/>
          <p:cNvSpPr/>
          <p:nvPr/>
        </p:nvSpPr>
        <p:spPr>
          <a:xfrm>
            <a:off x="3369564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ption B text"/>
          <p:cNvSpPr/>
          <p:nvPr/>
        </p:nvSpPr>
        <p:spPr>
          <a:xfrm>
            <a:off x="3369564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B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45%</a:t>
            </a:r>
          </a:p>
        </p:txBody>
      </p:sp>
      <p:sp>
        <p:nvSpPr>
          <p:cNvPr id="10" name="Option C"/>
          <p:cNvSpPr/>
          <p:nvPr/>
        </p:nvSpPr>
        <p:spPr>
          <a:xfrm>
            <a:off x="6236208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ption C text"/>
          <p:cNvSpPr/>
          <p:nvPr/>
        </p:nvSpPr>
        <p:spPr>
          <a:xfrm>
            <a:off x="6236208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C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55%</a:t>
            </a:r>
          </a:p>
        </p:txBody>
      </p:sp>
      <p:sp>
        <p:nvSpPr>
          <p:cNvPr id="12" name="Option D"/>
          <p:cNvSpPr/>
          <p:nvPr/>
        </p:nvSpPr>
        <p:spPr>
          <a:xfrm>
            <a:off x="9102852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ption D text"/>
          <p:cNvSpPr/>
          <p:nvPr/>
        </p:nvSpPr>
        <p:spPr>
          <a:xfrm>
            <a:off x="9102852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D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63%</a:t>
            </a:r>
          </a:p>
        </p:txBody>
      </p:sp>
      <p:sp>
        <p:nvSpPr>
          <p:cNvPr id="14" name="Answer highlight"/>
          <p:cNvSpPr/>
          <p:nvPr/>
        </p:nvSpPr>
        <p:spPr>
          <a:xfrm>
            <a:off x="9102852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3672A"/>
          </a:solidFill>
          <a:ln w="1270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swer highlight text"/>
          <p:cNvSpPr/>
          <p:nvPr/>
        </p:nvSpPr>
        <p:spPr>
          <a:xfrm>
            <a:off x="9102852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63%</a:t>
            </a:r>
          </a:p>
        </p:txBody>
      </p:sp>
      <p:sp>
        <p:nvSpPr>
          <p:cNvPr id="16" name="Legend 1"/>
          <p:cNvSpPr/>
          <p:nvPr/>
        </p:nvSpPr>
        <p:spPr>
          <a:xfrm>
            <a:off x="822960" y="2569464"/>
            <a:ext cx="237744" cy="18288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egend 1 text"/>
          <p:cNvSpPr/>
          <p:nvPr/>
        </p:nvSpPr>
        <p:spPr>
          <a:xfrm>
            <a:off x="1115568" y="2487168"/>
            <a:ext cx="16459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Share of the vote</a:t>
            </a:r>
          </a:p>
        </p:txBody>
      </p:sp>
      <p:sp>
        <p:nvSpPr>
          <p:cNvPr id="18" name="Legend 2"/>
          <p:cNvSpPr/>
          <p:nvPr/>
        </p:nvSpPr>
        <p:spPr>
          <a:xfrm>
            <a:off x="2944368" y="2569464"/>
            <a:ext cx="237744" cy="18288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gend 2 text"/>
          <p:cNvSpPr/>
          <p:nvPr/>
        </p:nvSpPr>
        <p:spPr>
          <a:xfrm>
            <a:off x="3236976" y="2487168"/>
            <a:ext cx="420624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Share of the seats in the House of Commons</a:t>
            </a:r>
          </a:p>
        </p:txBody>
      </p:sp>
      <p:sp>
        <p:nvSpPr>
          <p:cNvPr id="20" name="Labour votes bar"/>
          <p:cNvSpPr/>
          <p:nvPr/>
        </p:nvSpPr>
        <p:spPr>
          <a:xfrm>
            <a:off x="947928" y="4121094"/>
            <a:ext cx="566928" cy="999546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abour votes value"/>
          <p:cNvSpPr/>
          <p:nvPr/>
        </p:nvSpPr>
        <p:spPr>
          <a:xfrm>
            <a:off x="673608" y="3819342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33.7%</a:t>
            </a:r>
          </a:p>
        </p:txBody>
      </p:sp>
      <p:sp>
        <p:nvSpPr>
          <p:cNvPr id="22" name="Labour seats bar"/>
          <p:cNvSpPr/>
          <p:nvPr/>
        </p:nvSpPr>
        <p:spPr>
          <a:xfrm>
            <a:off x="1578864" y="3246120"/>
            <a:ext cx="566928" cy="187452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abour seats value"/>
          <p:cNvSpPr/>
          <p:nvPr/>
        </p:nvSpPr>
        <p:spPr>
          <a:xfrm>
            <a:off x="1304544" y="2944368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63.2%</a:t>
            </a:r>
          </a:p>
        </p:txBody>
      </p:sp>
      <p:sp>
        <p:nvSpPr>
          <p:cNvPr id="24" name="Labour label"/>
          <p:cNvSpPr/>
          <p:nvPr/>
        </p:nvSpPr>
        <p:spPr>
          <a:xfrm>
            <a:off x="64008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Labour</a:t>
            </a:r>
          </a:p>
        </p:txBody>
      </p:sp>
      <p:sp>
        <p:nvSpPr>
          <p:cNvPr id="25" name="Conservatives votes bar"/>
          <p:cNvSpPr/>
          <p:nvPr/>
        </p:nvSpPr>
        <p:spPr>
          <a:xfrm>
            <a:off x="2761488" y="4417695"/>
            <a:ext cx="566928" cy="702945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onservatives votes value"/>
          <p:cNvSpPr/>
          <p:nvPr/>
        </p:nvSpPr>
        <p:spPr>
          <a:xfrm>
            <a:off x="2487168" y="4115943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23.7%</a:t>
            </a:r>
          </a:p>
        </p:txBody>
      </p:sp>
      <p:sp>
        <p:nvSpPr>
          <p:cNvPr id="27" name="Conservatives seats bar"/>
          <p:cNvSpPr/>
          <p:nvPr/>
        </p:nvSpPr>
        <p:spPr>
          <a:xfrm>
            <a:off x="3392424" y="4568962"/>
            <a:ext cx="566928" cy="551678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onservatives seats value"/>
          <p:cNvSpPr/>
          <p:nvPr/>
        </p:nvSpPr>
        <p:spPr>
          <a:xfrm>
            <a:off x="3118104" y="4267210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18.6%</a:t>
            </a:r>
          </a:p>
        </p:txBody>
      </p:sp>
      <p:sp>
        <p:nvSpPr>
          <p:cNvPr id="29" name="Conservatives label"/>
          <p:cNvSpPr/>
          <p:nvPr/>
        </p:nvSpPr>
        <p:spPr>
          <a:xfrm>
            <a:off x="245364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Conservatives</a:t>
            </a:r>
          </a:p>
        </p:txBody>
      </p:sp>
      <p:sp>
        <p:nvSpPr>
          <p:cNvPr id="30" name="Reform UK votes bar"/>
          <p:cNvSpPr/>
          <p:nvPr/>
        </p:nvSpPr>
        <p:spPr>
          <a:xfrm>
            <a:off x="4575048" y="4696500"/>
            <a:ext cx="566928" cy="42414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form UK votes value"/>
          <p:cNvSpPr/>
          <p:nvPr/>
        </p:nvSpPr>
        <p:spPr>
          <a:xfrm>
            <a:off x="4300728" y="4394748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14.3%</a:t>
            </a:r>
          </a:p>
        </p:txBody>
      </p:sp>
      <p:sp>
        <p:nvSpPr>
          <p:cNvPr id="32" name="Reform UK seats bar"/>
          <p:cNvSpPr/>
          <p:nvPr/>
        </p:nvSpPr>
        <p:spPr>
          <a:xfrm>
            <a:off x="5205984" y="5093208"/>
            <a:ext cx="566928" cy="27432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form UK seats value"/>
          <p:cNvSpPr/>
          <p:nvPr/>
        </p:nvSpPr>
        <p:spPr>
          <a:xfrm>
            <a:off x="4931664" y="4791456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0.8%</a:t>
            </a:r>
          </a:p>
        </p:txBody>
      </p:sp>
      <p:sp>
        <p:nvSpPr>
          <p:cNvPr id="34" name="Reform UK label"/>
          <p:cNvSpPr/>
          <p:nvPr/>
        </p:nvSpPr>
        <p:spPr>
          <a:xfrm>
            <a:off x="426720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Reform UK</a:t>
            </a:r>
          </a:p>
        </p:txBody>
      </p:sp>
      <p:sp>
        <p:nvSpPr>
          <p:cNvPr id="35" name="Liberal Democrats votes bar"/>
          <p:cNvSpPr/>
          <p:nvPr/>
        </p:nvSpPr>
        <p:spPr>
          <a:xfrm>
            <a:off x="6388608" y="4758786"/>
            <a:ext cx="566928" cy="361854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Liberal Democrats votes value"/>
          <p:cNvSpPr/>
          <p:nvPr/>
        </p:nvSpPr>
        <p:spPr>
          <a:xfrm>
            <a:off x="6114288" y="4457034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12.2%</a:t>
            </a:r>
          </a:p>
        </p:txBody>
      </p:sp>
      <p:sp>
        <p:nvSpPr>
          <p:cNvPr id="37" name="Liberal Democrats seats bar"/>
          <p:cNvSpPr/>
          <p:nvPr/>
        </p:nvSpPr>
        <p:spPr>
          <a:xfrm>
            <a:off x="7019544" y="4791413"/>
            <a:ext cx="566928" cy="329227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Liberal Democrats seats value"/>
          <p:cNvSpPr/>
          <p:nvPr/>
        </p:nvSpPr>
        <p:spPr>
          <a:xfrm>
            <a:off x="6745224" y="4489661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11.1%</a:t>
            </a:r>
          </a:p>
        </p:txBody>
      </p:sp>
      <p:sp>
        <p:nvSpPr>
          <p:cNvPr id="39" name="Liberal Democrats label"/>
          <p:cNvSpPr/>
          <p:nvPr/>
        </p:nvSpPr>
        <p:spPr>
          <a:xfrm>
            <a:off x="608076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Liberal Democrats</a:t>
            </a:r>
          </a:p>
        </p:txBody>
      </p:sp>
      <p:sp>
        <p:nvSpPr>
          <p:cNvPr id="40" name="Greens votes bar"/>
          <p:cNvSpPr/>
          <p:nvPr/>
        </p:nvSpPr>
        <p:spPr>
          <a:xfrm>
            <a:off x="8202168" y="4921917"/>
            <a:ext cx="566928" cy="198723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Greens votes value"/>
          <p:cNvSpPr/>
          <p:nvPr/>
        </p:nvSpPr>
        <p:spPr>
          <a:xfrm>
            <a:off x="7927848" y="4620165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6.7%</a:t>
            </a:r>
          </a:p>
        </p:txBody>
      </p:sp>
      <p:sp>
        <p:nvSpPr>
          <p:cNvPr id="42" name="Greens seats bar"/>
          <p:cNvSpPr/>
          <p:nvPr/>
        </p:nvSpPr>
        <p:spPr>
          <a:xfrm>
            <a:off x="8833104" y="5093208"/>
            <a:ext cx="566928" cy="27432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Greens seats value"/>
          <p:cNvSpPr/>
          <p:nvPr/>
        </p:nvSpPr>
        <p:spPr>
          <a:xfrm>
            <a:off x="8558784" y="4791456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0.6%</a:t>
            </a:r>
          </a:p>
        </p:txBody>
      </p:sp>
      <p:sp>
        <p:nvSpPr>
          <p:cNvPr id="44" name="Greens label"/>
          <p:cNvSpPr/>
          <p:nvPr/>
        </p:nvSpPr>
        <p:spPr>
          <a:xfrm>
            <a:off x="789432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Greens</a:t>
            </a:r>
          </a:p>
        </p:txBody>
      </p:sp>
      <p:sp>
        <p:nvSpPr>
          <p:cNvPr id="45" name="Scottish National Party votes bar"/>
          <p:cNvSpPr/>
          <p:nvPr/>
        </p:nvSpPr>
        <p:spPr>
          <a:xfrm>
            <a:off x="10015728" y="5046490"/>
            <a:ext cx="566928" cy="7415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Scottish National Party votes value"/>
          <p:cNvSpPr/>
          <p:nvPr/>
        </p:nvSpPr>
        <p:spPr>
          <a:xfrm>
            <a:off x="9741408" y="4744738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2.5%</a:t>
            </a:r>
          </a:p>
        </p:txBody>
      </p:sp>
      <p:sp>
        <p:nvSpPr>
          <p:cNvPr id="47" name="Scottish National Party seats bar"/>
          <p:cNvSpPr/>
          <p:nvPr/>
        </p:nvSpPr>
        <p:spPr>
          <a:xfrm>
            <a:off x="10646664" y="5079116"/>
            <a:ext cx="566928" cy="41524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Scottish National Party seats value"/>
          <p:cNvSpPr/>
          <p:nvPr/>
        </p:nvSpPr>
        <p:spPr>
          <a:xfrm>
            <a:off x="10372344" y="4777364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1.4%</a:t>
            </a:r>
          </a:p>
        </p:txBody>
      </p:sp>
      <p:sp>
        <p:nvSpPr>
          <p:cNvPr id="49" name="Scottish National Party label"/>
          <p:cNvSpPr/>
          <p:nvPr/>
        </p:nvSpPr>
        <p:spPr>
          <a:xfrm>
            <a:off x="970788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Scottish National Party</a:t>
            </a:r>
          </a:p>
        </p:txBody>
      </p:sp>
      <p:cxnSp>
        <p:nvCxnSpPr>
          <p:cNvPr id="50" name="Baseline"/>
          <p:cNvCxnSpPr/>
          <p:nvPr/>
        </p:nvCxnSpPr>
        <p:spPr>
          <a:xfrm>
            <a:off x="640080" y="5120640"/>
            <a:ext cx="10881360" cy="0"/>
          </a:xfrm>
          <a:prstGeom prst="line">
            <a:avLst/>
          </a:prstGeom>
          <a:ln w="19050">
            <a:solidFill>
              <a:srgbClr val="32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ootnote"/>
          <p:cNvSpPr/>
          <p:nvPr/>
        </p:nvSpPr>
        <p:spPr>
          <a:xfrm>
            <a:off x="457200" y="5596128"/>
            <a:ext cx="11274552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sz="1300" b="0" i="1" dirty="0">
                <a:solidFill>
                  <a:srgbClr val="5C5C5C"/>
                </a:solidFill>
                <a:latin typeface="Calibri"/>
                <a:cs typeface="Calibri"/>
              </a:rPr>
              <a:t>650 seats; Labour won 411. Reform UK won more votes than the Liberal Democrats, and 5 seats to their 72. It was the least proportional election in British history.</a:t>
            </a:r>
            <a:endParaRPr lang="en-US" sz="1300" b="0" i="1" dirty="0">
              <a:solidFill>
                <a:srgbClr val="5C5C5C"/>
              </a:solidFill>
              <a:latin typeface="Calibri"/>
              <a:cs typeface="Calibri"/>
            </a:endParaRPr>
          </a:p>
          <a:p>
            <a:pPr marL="0" indent="0" algn="ctr">
              <a:buNone/>
            </a:pPr>
            <a:endParaRPr lang="en-US" sz="1300" i="1" dirty="0">
              <a:solidFill>
                <a:srgbClr val="5C5C5C"/>
              </a:solidFill>
              <a:latin typeface="Calibri"/>
              <a:cs typeface="Calibri"/>
            </a:endParaRPr>
          </a:p>
          <a:p>
            <a:pPr marL="0" indent="0" algn="ctr">
              <a:buNone/>
            </a:pPr>
            <a:r>
              <a:rPr lang="en-US" sz="1300" b="0" i="1" dirty="0">
                <a:solidFill>
                  <a:srgbClr val="5C5C5C"/>
                </a:solidFill>
                <a:latin typeface="Calibri"/>
                <a:cs typeface="Calibri"/>
              </a:rPr>
              <a:t>NOTE – it’s not Gerrymandering (per se). A natural consequence of first past the post.</a:t>
            </a:r>
            <a:endParaRPr sz="1300" b="0" i="1" dirty="0">
              <a:solidFill>
                <a:srgbClr val="5C5C5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05" y="384048"/>
            <a:ext cx="10058400" cy="1188720"/>
          </a:xfrm>
        </p:spPr>
        <p:txBody>
          <a:bodyPr/>
          <a:lstStyle/>
          <a:p>
            <a:r>
              <a:t>A Minimum Definition of Democracy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5" y="1737360"/>
            <a:ext cx="10515600" cy="3977640"/>
          </a:xfrm>
        </p:spPr>
        <p:txBody>
          <a:bodyPr/>
          <a:lstStyle/>
          <a:p>
            <a:r>
              <a:t>Every adult citizen has the right to vote periodically</a:t>
            </a:r>
          </a:p>
          <a:p>
            <a:pPr lvl="1"/>
            <a:r>
              <a:t>To choose who governs, and to hold politicians accountable</a:t>
            </a:r>
          </a:p>
          <a:p>
            <a:r>
              <a:t>The type of election is not specified</a:t>
            </a:r>
          </a:p>
          <a:p>
            <a:pPr lvl="1"/>
            <a:r>
              <a:t>Plurality, runoffs, ranked choice, proportional, mixed</a:t>
            </a:r>
          </a:p>
          <a:p>
            <a:r>
              <a:t>Nor is the timing</a:t>
            </a:r>
          </a:p>
          <a:p>
            <a:pPr lvl="1"/>
            <a:r>
              <a:t>Fixed terms (USA, Norway), a maximum term (most of Europe), a hybrid (Sweden)</a:t>
            </a:r>
          </a:p>
          <a:p>
            <a:r>
              <a:t>An electoral system: the rules for “how votes are cast” and how they are “converted into seats”</a:t>
            </a:r>
          </a:p>
        </p:txBody>
      </p:sp>
      <p:sp>
        <p:nvSpPr>
          <p:cNvPr id="4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FFFFFF"/>
                </a:solidFill>
                <a:latin typeface="Calibri"/>
              </a:rPr>
              <a:t>From today’s reading: Gallagher and Mitchell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European Electoral Systems</a:t>
            </a:r>
          </a:p>
        </p:txBody>
      </p:sp>
      <p:sp>
        <p:nvSpPr>
          <p:cNvPr id="3" name="Canvas"/>
          <p:cNvSpPr/>
          <p:nvPr/>
        </p:nvSpPr>
        <p:spPr>
          <a:xfrm>
            <a:off x="-1372" y="-2054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321744"/>
                </a:solidFill>
                <a:latin typeface="Calibri"/>
                <a:cs typeface="Calibri"/>
              </a:rPr>
              <a:t>European electoral systems: three </a:t>
            </a:r>
            <a:r>
              <a:rPr lang="en-US" sz="2800" b="1" i="0" dirty="0">
                <a:solidFill>
                  <a:srgbClr val="321744"/>
                </a:solidFill>
                <a:latin typeface="Calibri"/>
                <a:cs typeface="Calibri"/>
              </a:rPr>
              <a:t>ideal types</a:t>
            </a:r>
            <a:endParaRPr sz="2800" b="1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5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Gallagher and Mitchell</a:t>
            </a:r>
          </a:p>
        </p:txBody>
      </p:sp>
      <p:sp>
        <p:nvSpPr>
          <p:cNvPr id="6" name="Family card 1"/>
          <p:cNvSpPr/>
          <p:nvPr/>
        </p:nvSpPr>
        <p:spPr>
          <a:xfrm>
            <a:off x="457200" y="1234440"/>
            <a:ext cx="3675888" cy="41605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amily card 1 header"/>
          <p:cNvSpPr/>
          <p:nvPr/>
        </p:nvSpPr>
        <p:spPr>
          <a:xfrm>
            <a:off x="457200" y="1234440"/>
            <a:ext cx="3675888" cy="502920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amily card 1 header text"/>
          <p:cNvSpPr/>
          <p:nvPr/>
        </p:nvSpPr>
        <p:spPr>
          <a:xfrm>
            <a:off x="457200" y="1234440"/>
            <a:ext cx="3675888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SINGLE-MEMBER DISTRICTS</a:t>
            </a:r>
          </a:p>
        </p:txBody>
      </p:sp>
      <p:sp>
        <p:nvSpPr>
          <p:cNvPr id="9" name="Family card 1 text"/>
          <p:cNvSpPr/>
          <p:nvPr/>
        </p:nvSpPr>
        <p:spPr>
          <a:xfrm>
            <a:off x="630936" y="1920240"/>
            <a:ext cx="3328416" cy="3364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2200" b="1" i="0">
                <a:solidFill>
                  <a:srgbClr val="321744"/>
                </a:solidFill>
                <a:latin typeface="Calibri"/>
                <a:cs typeface="Calibri"/>
              </a:rPr>
              <a:t>One winner per district</a:t>
            </a:r>
          </a:p>
          <a:p>
            <a:pPr marL="171450" indent="-171450" algn="l">
              <a:spcAft>
                <a:spcPts val="1400"/>
              </a:spcAft>
              <a:buFont typeface="Arial"/>
              <a:buChar char="•"/>
            </a:pPr>
            <a:r>
              <a:rPr sz="1950" b="0" i="0">
                <a:solidFill>
                  <a:srgbClr val="321744"/>
                </a:solidFill>
                <a:latin typeface="Calibri"/>
                <a:cs typeface="Calibri"/>
              </a:rPr>
              <a:t>Plurality: the most votes wins. Britain, the United States</a:t>
            </a:r>
          </a:p>
          <a:p>
            <a:pPr marL="171450" indent="-171450" algn="l">
              <a:spcAft>
                <a:spcPts val="1400"/>
              </a:spcAft>
              <a:buFont typeface="Arial"/>
              <a:buChar char="•"/>
            </a:pPr>
            <a:r>
              <a:rPr sz="1950" b="0" i="0">
                <a:solidFill>
                  <a:srgbClr val="321744"/>
                </a:solidFill>
                <a:latin typeface="Calibri"/>
                <a:cs typeface="Calibri"/>
              </a:rPr>
              <a:t>Majority: a runoff if no one wins outright. France</a:t>
            </a:r>
          </a:p>
          <a:p>
            <a:pPr marL="171450" indent="-171450" algn="l">
              <a:spcAft>
                <a:spcPts val="1400"/>
              </a:spcAft>
              <a:buFont typeface="Arial"/>
              <a:buChar char="•"/>
            </a:pPr>
            <a:r>
              <a:rPr sz="1950" b="0" i="0">
                <a:solidFill>
                  <a:srgbClr val="321744"/>
                </a:solidFill>
                <a:latin typeface="Calibri"/>
                <a:cs typeface="Calibri"/>
              </a:rPr>
              <a:t>Ranked ballots: Australia</a:t>
            </a:r>
          </a:p>
        </p:txBody>
      </p:sp>
      <p:sp>
        <p:nvSpPr>
          <p:cNvPr id="10" name="Family card 2"/>
          <p:cNvSpPr/>
          <p:nvPr/>
        </p:nvSpPr>
        <p:spPr>
          <a:xfrm>
            <a:off x="4261104" y="1234440"/>
            <a:ext cx="3675888" cy="41605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amily card 2 header"/>
          <p:cNvSpPr/>
          <p:nvPr/>
        </p:nvSpPr>
        <p:spPr>
          <a:xfrm>
            <a:off x="4261104" y="1234440"/>
            <a:ext cx="3675888" cy="502920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amily card 2 header text"/>
          <p:cNvSpPr/>
          <p:nvPr/>
        </p:nvSpPr>
        <p:spPr>
          <a:xfrm>
            <a:off x="4261104" y="1234440"/>
            <a:ext cx="3675888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PROPORTIONAL REPRESENTATION</a:t>
            </a:r>
          </a:p>
        </p:txBody>
      </p:sp>
      <p:sp>
        <p:nvSpPr>
          <p:cNvPr id="13" name="Family card 2 text"/>
          <p:cNvSpPr/>
          <p:nvPr/>
        </p:nvSpPr>
        <p:spPr>
          <a:xfrm>
            <a:off x="4434840" y="1920240"/>
            <a:ext cx="3328416" cy="3364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 lnSpcReduction="10000"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2200" b="1" i="0" dirty="0">
                <a:solidFill>
                  <a:srgbClr val="321744"/>
                </a:solidFill>
                <a:latin typeface="Calibri"/>
                <a:cs typeface="Calibri"/>
              </a:rPr>
              <a:t>Seats in proportion to votes</a:t>
            </a:r>
          </a:p>
          <a:p>
            <a:pPr marL="171450" indent="-171450" algn="l">
              <a:spcAft>
                <a:spcPts val="1400"/>
              </a:spcAft>
              <a:buFont typeface="Arial"/>
              <a:buChar char="•"/>
            </a:pPr>
            <a:r>
              <a:rPr sz="1950" b="0" i="0" dirty="0">
                <a:solidFill>
                  <a:srgbClr val="321744"/>
                </a:solidFill>
                <a:latin typeface="Calibri"/>
                <a:cs typeface="Calibri"/>
              </a:rPr>
              <a:t>Party lists in districts with many seats: Spain, the Netherlands, Sweden</a:t>
            </a:r>
          </a:p>
          <a:p>
            <a:pPr marL="171450" indent="-171450" algn="l">
              <a:spcAft>
                <a:spcPts val="1400"/>
              </a:spcAft>
              <a:buFont typeface="Arial"/>
              <a:buChar char="•"/>
            </a:pPr>
            <a:r>
              <a:rPr sz="1950" b="0" i="0" dirty="0">
                <a:solidFill>
                  <a:srgbClr val="321744"/>
                </a:solidFill>
                <a:latin typeface="Calibri"/>
                <a:cs typeface="Calibri"/>
              </a:rPr>
              <a:t>Ireland: voters rank the candidates, in districts of three to five seats</a:t>
            </a:r>
            <a:endParaRPr lang="en-US" sz="1950" b="0" i="0" dirty="0">
              <a:solidFill>
                <a:srgbClr val="321744"/>
              </a:solidFill>
              <a:latin typeface="Calibri"/>
              <a:cs typeface="Calibri"/>
            </a:endParaRPr>
          </a:p>
          <a:p>
            <a:pPr marL="628650" lvl="1" indent="-171450">
              <a:spcAft>
                <a:spcPts val="1400"/>
              </a:spcAft>
              <a:buFont typeface="Arial"/>
              <a:buChar char="•"/>
            </a:pPr>
            <a:r>
              <a:rPr lang="en-US" sz="1950" dirty="0">
                <a:solidFill>
                  <a:srgbClr val="321744"/>
                </a:solidFill>
                <a:latin typeface="Calibri"/>
                <a:cs typeface="Calibri"/>
              </a:rPr>
              <a:t>My op-ed (and other research) proposes a similar plan for the US</a:t>
            </a:r>
            <a:endParaRPr sz="1950" b="0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14" name="Family card 3"/>
          <p:cNvSpPr/>
          <p:nvPr/>
        </p:nvSpPr>
        <p:spPr>
          <a:xfrm>
            <a:off x="8065008" y="1234440"/>
            <a:ext cx="3675888" cy="41605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5B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amily card 3 header"/>
          <p:cNvSpPr/>
          <p:nvPr/>
        </p:nvSpPr>
        <p:spPr>
          <a:xfrm>
            <a:off x="8065008" y="1234440"/>
            <a:ext cx="3675888" cy="502920"/>
          </a:xfrm>
          <a:prstGeom prst="roundRect">
            <a:avLst>
              <a:gd name="adj" fmla="val 18000"/>
            </a:avLst>
          </a:prstGeom>
          <a:solidFill>
            <a:srgbClr val="5B4468"/>
          </a:solidFill>
          <a:ln w="31750">
            <a:solidFill>
              <a:srgbClr val="5B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amily card 3 header text"/>
          <p:cNvSpPr/>
          <p:nvPr/>
        </p:nvSpPr>
        <p:spPr>
          <a:xfrm>
            <a:off x="8065008" y="1234440"/>
            <a:ext cx="3675888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MIXED SYSTEMS</a:t>
            </a:r>
          </a:p>
        </p:txBody>
      </p:sp>
      <p:sp>
        <p:nvSpPr>
          <p:cNvPr id="17" name="Family card 3 text"/>
          <p:cNvSpPr/>
          <p:nvPr/>
        </p:nvSpPr>
        <p:spPr>
          <a:xfrm>
            <a:off x="8238744" y="1920240"/>
            <a:ext cx="3328416" cy="3364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2200" b="1" i="0">
                <a:solidFill>
                  <a:srgbClr val="321744"/>
                </a:solidFill>
                <a:latin typeface="Calibri"/>
                <a:cs typeface="Calibri"/>
              </a:rPr>
              <a:t>Two votes: a candidate and a party</a:t>
            </a:r>
          </a:p>
          <a:p>
            <a:pPr marL="171450" indent="-171450" algn="l">
              <a:spcAft>
                <a:spcPts val="1400"/>
              </a:spcAft>
              <a:buFont typeface="Arial"/>
              <a:buChar char="•"/>
            </a:pPr>
            <a:r>
              <a:rPr sz="1950" b="0" i="0">
                <a:solidFill>
                  <a:srgbClr val="321744"/>
                </a:solidFill>
                <a:latin typeface="Calibri"/>
                <a:cs typeface="Calibri"/>
              </a:rPr>
              <a:t>Germany: list seats make the whole parliament proportional</a:t>
            </a:r>
          </a:p>
          <a:p>
            <a:pPr marL="171450" indent="-171450" algn="l">
              <a:spcAft>
                <a:spcPts val="1400"/>
              </a:spcAft>
              <a:buFont typeface="Arial"/>
              <a:buChar char="•"/>
            </a:pPr>
            <a:r>
              <a:rPr sz="1950" b="0" i="0">
                <a:solidFill>
                  <a:srgbClr val="321744"/>
                </a:solidFill>
                <a:latin typeface="Calibri"/>
                <a:cs typeface="Calibri"/>
              </a:rPr>
              <a:t>Hungary: most seats go to district winners. April 2026: 53% of the vote, 71% of the seats</a:t>
            </a:r>
          </a:p>
        </p:txBody>
      </p:sp>
      <p:sp>
        <p:nvSpPr>
          <p:cNvPr id="18" name="Footnote"/>
          <p:cNvSpPr/>
          <p:nvPr/>
        </p:nvSpPr>
        <p:spPr>
          <a:xfrm>
            <a:off x="457200" y="5532120"/>
            <a:ext cx="1127455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sz="1450" b="0" i="1" dirty="0">
                <a:solidFill>
                  <a:srgbClr val="5C5C5C"/>
                </a:solidFill>
                <a:latin typeface="Calibri"/>
                <a:cs typeface="Calibri"/>
              </a:rPr>
              <a:t>Most European countries use</a:t>
            </a:r>
            <a:r>
              <a:rPr lang="en-US" sz="1450" b="0" i="1" dirty="0">
                <a:solidFill>
                  <a:srgbClr val="5C5C5C"/>
                </a:solidFill>
                <a:latin typeface="Calibri"/>
                <a:cs typeface="Calibri"/>
              </a:rPr>
              <a:t> (some form of)</a:t>
            </a:r>
            <a:r>
              <a:rPr sz="1450" b="0" i="1" dirty="0">
                <a:solidFill>
                  <a:srgbClr val="5C5C5C"/>
                </a:solidFill>
                <a:latin typeface="Calibri"/>
                <a:cs typeface="Calibri"/>
              </a:rPr>
              <a:t> proportional representation. Britain and France are exceptions.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Far Are Seats from Votes?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How far are seats from votes?</a:t>
            </a:r>
          </a:p>
        </p:txBody>
      </p:sp>
      <p:sp>
        <p:nvSpPr>
          <p:cNvPr id="5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Gallagher and Mitchell</a:t>
            </a:r>
          </a:p>
        </p:txBody>
      </p:sp>
      <p:sp>
        <p:nvSpPr>
          <p:cNvPr id="6" name="Legend 1"/>
          <p:cNvSpPr/>
          <p:nvPr/>
        </p:nvSpPr>
        <p:spPr>
          <a:xfrm>
            <a:off x="548640" y="1197864"/>
            <a:ext cx="237744" cy="18288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egend 1 text"/>
          <p:cNvSpPr/>
          <p:nvPr/>
        </p:nvSpPr>
        <p:spPr>
          <a:xfrm>
            <a:off x="841248" y="1115568"/>
            <a:ext cx="21031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Single-member districts</a:t>
            </a:r>
          </a:p>
        </p:txBody>
      </p:sp>
      <p:sp>
        <p:nvSpPr>
          <p:cNvPr id="8" name="Legend 2"/>
          <p:cNvSpPr/>
          <p:nvPr/>
        </p:nvSpPr>
        <p:spPr>
          <a:xfrm>
            <a:off x="3127248" y="1197864"/>
            <a:ext cx="237744" cy="182880"/>
          </a:xfrm>
          <a:prstGeom prst="rect">
            <a:avLst/>
          </a:prstGeom>
          <a:solidFill>
            <a:srgbClr val="5B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egend 2 text"/>
          <p:cNvSpPr/>
          <p:nvPr/>
        </p:nvSpPr>
        <p:spPr>
          <a:xfrm>
            <a:off x="3419856" y="1115568"/>
            <a:ext cx="68580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Mixed</a:t>
            </a:r>
          </a:p>
        </p:txBody>
      </p:sp>
      <p:sp>
        <p:nvSpPr>
          <p:cNvPr id="10" name="Legend 3"/>
          <p:cNvSpPr/>
          <p:nvPr/>
        </p:nvSpPr>
        <p:spPr>
          <a:xfrm>
            <a:off x="4288536" y="1197864"/>
            <a:ext cx="237744" cy="18288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egend 3 text"/>
          <p:cNvSpPr/>
          <p:nvPr/>
        </p:nvSpPr>
        <p:spPr>
          <a:xfrm>
            <a:off x="4581144" y="1115568"/>
            <a:ext cx="128016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Proportional</a:t>
            </a:r>
          </a:p>
        </p:txBody>
      </p:sp>
      <p:sp>
        <p:nvSpPr>
          <p:cNvPr id="12" name="Britain 2024 label"/>
          <p:cNvSpPr/>
          <p:nvPr/>
        </p:nvSpPr>
        <p:spPr>
          <a:xfrm>
            <a:off x="457200" y="1645920"/>
            <a:ext cx="283464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bIns="0" rtlCol="0" anchor="ctr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Britain 2024</a:t>
            </a:r>
          </a:p>
          <a:p>
            <a:pPr marL="0" indent="0" algn="r">
              <a:buNone/>
            </a:pPr>
            <a:r>
              <a:rPr sz="1250" b="0" i="0">
                <a:solidFill>
                  <a:srgbClr val="5C5C5C"/>
                </a:solidFill>
                <a:latin typeface="Calibri"/>
                <a:cs typeface="Calibri"/>
              </a:rPr>
              <a:t>1 seat per district</a:t>
            </a:r>
          </a:p>
        </p:txBody>
      </p:sp>
      <p:sp>
        <p:nvSpPr>
          <p:cNvPr id="13" name="Britain 2024 bar"/>
          <p:cNvSpPr/>
          <p:nvPr/>
        </p:nvSpPr>
        <p:spPr>
          <a:xfrm>
            <a:off x="3383280" y="1746504"/>
            <a:ext cx="4206240" cy="402336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ritain 2024 value"/>
          <p:cNvSpPr/>
          <p:nvPr/>
        </p:nvSpPr>
        <p:spPr>
          <a:xfrm>
            <a:off x="7644384" y="1746504"/>
            <a:ext cx="82296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23.6</a:t>
            </a:r>
          </a:p>
        </p:txBody>
      </p:sp>
      <p:sp>
        <p:nvSpPr>
          <p:cNvPr id="15" name="France 2024 label"/>
          <p:cNvSpPr/>
          <p:nvPr/>
        </p:nvSpPr>
        <p:spPr>
          <a:xfrm>
            <a:off x="457200" y="2304288"/>
            <a:ext cx="283464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bIns="0" rtlCol="0" anchor="ctr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France 2024</a:t>
            </a:r>
          </a:p>
          <a:p>
            <a:pPr marL="0" indent="0" algn="r">
              <a:buNone/>
            </a:pPr>
            <a:r>
              <a:rPr sz="1250" b="0" i="0">
                <a:solidFill>
                  <a:srgbClr val="5C5C5C"/>
                </a:solidFill>
                <a:latin typeface="Calibri"/>
                <a:cs typeface="Calibri"/>
              </a:rPr>
              <a:t>1 seat per district, two rounds</a:t>
            </a:r>
          </a:p>
        </p:txBody>
      </p:sp>
      <p:sp>
        <p:nvSpPr>
          <p:cNvPr id="16" name="France 2024 bar"/>
          <p:cNvSpPr/>
          <p:nvPr/>
        </p:nvSpPr>
        <p:spPr>
          <a:xfrm>
            <a:off x="3383280" y="2404872"/>
            <a:ext cx="1390198" cy="402336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ance 2024 value"/>
          <p:cNvSpPr/>
          <p:nvPr/>
        </p:nvSpPr>
        <p:spPr>
          <a:xfrm>
            <a:off x="4828342" y="2404872"/>
            <a:ext cx="82296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7.8</a:t>
            </a:r>
          </a:p>
        </p:txBody>
      </p:sp>
      <p:sp>
        <p:nvSpPr>
          <p:cNvPr id="18" name="Germany 2025 label"/>
          <p:cNvSpPr/>
          <p:nvPr/>
        </p:nvSpPr>
        <p:spPr>
          <a:xfrm>
            <a:off x="457200" y="2962656"/>
            <a:ext cx="283464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bIns="0" rtlCol="0" anchor="ctr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Germany 2025</a:t>
            </a:r>
          </a:p>
          <a:p>
            <a:pPr marL="0" indent="0" algn="r">
              <a:buNone/>
            </a:pPr>
            <a:r>
              <a:rPr sz="1250" b="0" i="0">
                <a:solidFill>
                  <a:srgbClr val="5C5C5C"/>
                </a:solidFill>
                <a:latin typeface="Calibri"/>
                <a:cs typeface="Calibri"/>
              </a:rPr>
              <a:t>mixed, with a 5% threshold</a:t>
            </a:r>
          </a:p>
        </p:txBody>
      </p:sp>
      <p:sp>
        <p:nvSpPr>
          <p:cNvPr id="19" name="Germany 2025 bar"/>
          <p:cNvSpPr/>
          <p:nvPr/>
        </p:nvSpPr>
        <p:spPr>
          <a:xfrm>
            <a:off x="3383280" y="3063240"/>
            <a:ext cx="1158498" cy="402336"/>
          </a:xfrm>
          <a:prstGeom prst="rect">
            <a:avLst/>
          </a:prstGeom>
          <a:solidFill>
            <a:srgbClr val="5B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Germany 2025 value"/>
          <p:cNvSpPr/>
          <p:nvPr/>
        </p:nvSpPr>
        <p:spPr>
          <a:xfrm>
            <a:off x="4596642" y="3063240"/>
            <a:ext cx="82296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6.5</a:t>
            </a:r>
          </a:p>
        </p:txBody>
      </p:sp>
      <p:sp>
        <p:nvSpPr>
          <p:cNvPr id="21" name="Ireland 2024 label"/>
          <p:cNvSpPr/>
          <p:nvPr/>
        </p:nvSpPr>
        <p:spPr>
          <a:xfrm>
            <a:off x="457200" y="3621024"/>
            <a:ext cx="283464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bIns="0" rtlCol="0" anchor="ctr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Ireland 2024</a:t>
            </a:r>
          </a:p>
          <a:p>
            <a:pPr marL="0" indent="0" algn="r">
              <a:buNone/>
            </a:pPr>
            <a:r>
              <a:rPr sz="1250" b="0" i="0">
                <a:solidFill>
                  <a:srgbClr val="5C5C5C"/>
                </a:solidFill>
                <a:latin typeface="Calibri"/>
                <a:cs typeface="Calibri"/>
              </a:rPr>
              <a:t>3 to 5 seats per district</a:t>
            </a:r>
          </a:p>
        </p:txBody>
      </p:sp>
      <p:sp>
        <p:nvSpPr>
          <p:cNvPr id="22" name="Ireland 2024 bar"/>
          <p:cNvSpPr/>
          <p:nvPr/>
        </p:nvSpPr>
        <p:spPr>
          <a:xfrm>
            <a:off x="3383280" y="3721608"/>
            <a:ext cx="1033737" cy="402336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reland 2024 value"/>
          <p:cNvSpPr/>
          <p:nvPr/>
        </p:nvSpPr>
        <p:spPr>
          <a:xfrm>
            <a:off x="4471881" y="3721608"/>
            <a:ext cx="82296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5.8</a:t>
            </a:r>
          </a:p>
        </p:txBody>
      </p:sp>
      <p:sp>
        <p:nvSpPr>
          <p:cNvPr id="24" name="Spain 2023 label"/>
          <p:cNvSpPr/>
          <p:nvPr/>
        </p:nvSpPr>
        <p:spPr>
          <a:xfrm>
            <a:off x="457200" y="4279392"/>
            <a:ext cx="283464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bIns="0" rtlCol="0" anchor="ctr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Spain 2023</a:t>
            </a:r>
          </a:p>
          <a:p>
            <a:pPr marL="0" indent="0" algn="r">
              <a:buNone/>
            </a:pPr>
            <a:r>
              <a:rPr sz="1250" b="0" i="0">
                <a:solidFill>
                  <a:srgbClr val="5C5C5C"/>
                </a:solidFill>
                <a:latin typeface="Calibri"/>
                <a:cs typeface="Calibri"/>
              </a:rPr>
              <a:t>6.7 seats per district on average</a:t>
            </a:r>
          </a:p>
        </p:txBody>
      </p:sp>
      <p:sp>
        <p:nvSpPr>
          <p:cNvPr id="25" name="Spain 2023 bar"/>
          <p:cNvSpPr/>
          <p:nvPr/>
        </p:nvSpPr>
        <p:spPr>
          <a:xfrm>
            <a:off x="3383280" y="4379976"/>
            <a:ext cx="1015914" cy="402336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pain 2023 value"/>
          <p:cNvSpPr/>
          <p:nvPr/>
        </p:nvSpPr>
        <p:spPr>
          <a:xfrm>
            <a:off x="4454058" y="4379976"/>
            <a:ext cx="82296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5.7</a:t>
            </a:r>
          </a:p>
        </p:txBody>
      </p:sp>
      <p:sp>
        <p:nvSpPr>
          <p:cNvPr id="27" name="Netherlands 2023 label"/>
          <p:cNvSpPr/>
          <p:nvPr/>
        </p:nvSpPr>
        <p:spPr>
          <a:xfrm>
            <a:off x="457200" y="4937760"/>
            <a:ext cx="283464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bIns="0" rtlCol="0" anchor="ctr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Netherlands 2023</a:t>
            </a:r>
          </a:p>
          <a:p>
            <a:pPr marL="0" indent="0" algn="r">
              <a:buNone/>
            </a:pPr>
            <a:r>
              <a:rPr sz="1250" b="0" i="0">
                <a:solidFill>
                  <a:srgbClr val="5C5C5C"/>
                </a:solidFill>
                <a:latin typeface="Calibri"/>
                <a:cs typeface="Calibri"/>
              </a:rPr>
              <a:t>150 seats in one national district</a:t>
            </a:r>
          </a:p>
        </p:txBody>
      </p:sp>
      <p:sp>
        <p:nvSpPr>
          <p:cNvPr id="28" name="Netherlands 2023 bar"/>
          <p:cNvSpPr/>
          <p:nvPr/>
        </p:nvSpPr>
        <p:spPr>
          <a:xfrm>
            <a:off x="3383280" y="5038344"/>
            <a:ext cx="267346" cy="402336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etherlands 2023 value"/>
          <p:cNvSpPr/>
          <p:nvPr/>
        </p:nvSpPr>
        <p:spPr>
          <a:xfrm>
            <a:off x="3705490" y="5038344"/>
            <a:ext cx="82296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1.5</a:t>
            </a:r>
          </a:p>
        </p:txBody>
      </p:sp>
      <p:cxnSp>
        <p:nvCxnSpPr>
          <p:cNvPr id="30" name="Axis"/>
          <p:cNvCxnSpPr/>
          <p:nvPr/>
        </p:nvCxnSpPr>
        <p:spPr>
          <a:xfrm>
            <a:off x="3383280" y="1609344"/>
            <a:ext cx="0" cy="3986784"/>
          </a:xfrm>
          <a:prstGeom prst="line">
            <a:avLst/>
          </a:prstGeom>
          <a:ln w="19050">
            <a:solidFill>
              <a:srgbClr val="32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Magnitude card"/>
          <p:cNvSpPr/>
          <p:nvPr/>
        </p:nvSpPr>
        <p:spPr>
          <a:xfrm>
            <a:off x="8503920" y="1645920"/>
            <a:ext cx="3246120" cy="388620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Magnitude card header"/>
          <p:cNvSpPr/>
          <p:nvPr/>
        </p:nvSpPr>
        <p:spPr>
          <a:xfrm>
            <a:off x="8503920" y="1645920"/>
            <a:ext cx="3246120" cy="502920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gnitude card header text"/>
          <p:cNvSpPr/>
          <p:nvPr/>
        </p:nvSpPr>
        <p:spPr>
          <a:xfrm>
            <a:off x="8503920" y="1645920"/>
            <a:ext cx="3246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DISTRICT MAGNITUDE</a:t>
            </a:r>
          </a:p>
        </p:txBody>
      </p:sp>
      <p:sp>
        <p:nvSpPr>
          <p:cNvPr id="34" name="Magnitude card text"/>
          <p:cNvSpPr/>
          <p:nvPr/>
        </p:nvSpPr>
        <p:spPr>
          <a:xfrm>
            <a:off x="8677656" y="2331720"/>
            <a:ext cx="2898648" cy="3090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1900" b="1" i="0">
                <a:solidFill>
                  <a:srgbClr val="321744"/>
                </a:solidFill>
                <a:latin typeface="Calibri"/>
                <a:cs typeface="Calibri"/>
              </a:rPr>
              <a:t>The number of seats a district elects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700" b="0" i="0">
                <a:solidFill>
                  <a:srgbClr val="321744"/>
                </a:solidFill>
                <a:latin typeface="Calibri"/>
                <a:cs typeface="Calibri"/>
              </a:rPr>
              <a:t>“The smaller the average district magnitude, the greater the disproportionality.”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700" b="0" i="0">
                <a:solidFill>
                  <a:srgbClr val="321744"/>
                </a:solidFill>
                <a:latin typeface="Calibri"/>
                <a:cs typeface="Calibri"/>
              </a:rPr>
              <a:t>The reading calls it one of the most robust findings in the field.</a:t>
            </a:r>
          </a:p>
        </p:txBody>
      </p:sp>
      <p:sp>
        <p:nvSpPr>
          <p:cNvPr id="35" name="Footnote"/>
          <p:cNvSpPr/>
          <p:nvPr/>
        </p:nvSpPr>
        <p:spPr>
          <a:xfrm>
            <a:off x="457200" y="5669280"/>
            <a:ext cx="11274552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0" i="1" dirty="0">
                <a:solidFill>
                  <a:srgbClr val="5C5C5C"/>
                </a:solidFill>
                <a:latin typeface="Calibri"/>
                <a:cs typeface="Calibri"/>
              </a:rPr>
              <a:t>Measurement: </a:t>
            </a:r>
            <a:r>
              <a:rPr sz="1300" b="0" i="1" dirty="0">
                <a:solidFill>
                  <a:srgbClr val="5C5C5C"/>
                </a:solidFill>
                <a:latin typeface="Calibri"/>
                <a:cs typeface="Calibri"/>
              </a:rPr>
              <a:t>The least squares index for the latest election: 0 means every party’s share of seats equals its share of votes. Germany’s threshold left 13.9% of voters without a party in the Bundestag in 2025.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Duverger’s Law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Duverger’s law</a:t>
            </a:r>
          </a:p>
        </p:txBody>
      </p:sp>
      <p:sp>
        <p:nvSpPr>
          <p:cNvPr id="5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Benoit</a:t>
            </a:r>
          </a:p>
        </p:txBody>
      </p:sp>
      <p:sp>
        <p:nvSpPr>
          <p:cNvPr id="6" name="Duverger quote"/>
          <p:cNvSpPr/>
          <p:nvPr/>
        </p:nvSpPr>
        <p:spPr>
          <a:xfrm>
            <a:off x="457200" y="1188720"/>
            <a:ext cx="11274552" cy="1188720"/>
          </a:xfrm>
          <a:prstGeom prst="roundRect">
            <a:avLst>
              <a:gd name="adj" fmla="val 12000"/>
            </a:avLst>
          </a:prstGeom>
          <a:solidFill>
            <a:srgbClr val="FFF6F0"/>
          </a:solidFill>
          <a:ln w="190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>
            <a:norm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sz="2200" b="1" i="1">
                <a:solidFill>
                  <a:srgbClr val="321744"/>
                </a:solidFill>
                <a:latin typeface="Calibri"/>
                <a:cs typeface="Calibri"/>
              </a:rPr>
              <a:t>“The simple-majority single-ballot system favours the two-party system.”</a:t>
            </a:r>
          </a:p>
          <a:p>
            <a:pPr marL="0" indent="0" algn="ctr">
              <a:buNone/>
            </a:pPr>
            <a:r>
              <a:rPr sz="1400" b="0" i="0">
                <a:solidFill>
                  <a:srgbClr val="5C5C5C"/>
                </a:solidFill>
                <a:latin typeface="Calibri"/>
                <a:cs typeface="Calibri"/>
              </a:rPr>
              <a:t>Maurice Duverger, French political scientist, 1951</a:t>
            </a:r>
          </a:p>
        </p:txBody>
      </p:sp>
      <p:sp>
        <p:nvSpPr>
          <p:cNvPr id="7" name="Mechanical card"/>
          <p:cNvSpPr/>
          <p:nvPr/>
        </p:nvSpPr>
        <p:spPr>
          <a:xfrm>
            <a:off x="457200" y="2560320"/>
            <a:ext cx="5550408" cy="260604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echanical card header"/>
          <p:cNvSpPr/>
          <p:nvPr/>
        </p:nvSpPr>
        <p:spPr>
          <a:xfrm>
            <a:off x="457200" y="2560320"/>
            <a:ext cx="5550408" cy="438912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echanical card header text"/>
          <p:cNvSpPr/>
          <p:nvPr/>
        </p:nvSpPr>
        <p:spPr>
          <a:xfrm>
            <a:off x="457200" y="2560320"/>
            <a:ext cx="55504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THE MECHANICAL EFFECT</a:t>
            </a:r>
          </a:p>
        </p:txBody>
      </p:sp>
      <p:sp>
        <p:nvSpPr>
          <p:cNvPr id="10" name="Mechanical card text"/>
          <p:cNvSpPr/>
          <p:nvPr/>
        </p:nvSpPr>
        <p:spPr>
          <a:xfrm>
            <a:off x="630936" y="3090672"/>
            <a:ext cx="5202936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2000" b="1" i="0" dirty="0">
                <a:solidFill>
                  <a:srgbClr val="321744"/>
                </a:solidFill>
                <a:latin typeface="Calibri"/>
                <a:cs typeface="Calibri"/>
              </a:rPr>
              <a:t>At the count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sz="1900" b="0" i="0" dirty="0">
                <a:solidFill>
                  <a:srgbClr val="321744"/>
                </a:solidFill>
                <a:latin typeface="Calibri"/>
                <a:cs typeface="Calibri"/>
              </a:rPr>
              <a:t>The rules turn votes into seats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sz="1900" b="0" i="0" dirty="0">
                <a:solidFill>
                  <a:srgbClr val="321744"/>
                </a:solidFill>
                <a:latin typeface="Calibri"/>
                <a:cs typeface="Calibri"/>
              </a:rPr>
              <a:t>A party that finishes second or third in every district wins nothing</a:t>
            </a:r>
            <a:r>
              <a:rPr lang="en-US" sz="1900" b="0" i="0" dirty="0">
                <a:solidFill>
                  <a:srgbClr val="321744"/>
                </a:solidFill>
                <a:latin typeface="Calibri"/>
                <a:cs typeface="Calibri"/>
              </a:rPr>
              <a:t> (Reform UK in 2024)</a:t>
            </a:r>
            <a:endParaRPr sz="1900" b="0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11" name="Psychological card"/>
          <p:cNvSpPr/>
          <p:nvPr/>
        </p:nvSpPr>
        <p:spPr>
          <a:xfrm>
            <a:off x="6190488" y="2560320"/>
            <a:ext cx="5550408" cy="260604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sychological card header"/>
          <p:cNvSpPr/>
          <p:nvPr/>
        </p:nvSpPr>
        <p:spPr>
          <a:xfrm>
            <a:off x="6190488" y="2560320"/>
            <a:ext cx="5550408" cy="438912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sychological card header text"/>
          <p:cNvSpPr/>
          <p:nvPr/>
        </p:nvSpPr>
        <p:spPr>
          <a:xfrm>
            <a:off x="6190488" y="2560320"/>
            <a:ext cx="55504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THE PSYCHOLOGICAL EFFECT</a:t>
            </a:r>
          </a:p>
        </p:txBody>
      </p:sp>
      <p:sp>
        <p:nvSpPr>
          <p:cNvPr id="14" name="Psychological card text"/>
          <p:cNvSpPr/>
          <p:nvPr/>
        </p:nvSpPr>
        <p:spPr>
          <a:xfrm>
            <a:off x="6364224" y="3090672"/>
            <a:ext cx="5202936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2000" b="1" i="0">
                <a:solidFill>
                  <a:srgbClr val="321744"/>
                </a:solidFill>
                <a:latin typeface="Calibri"/>
                <a:cs typeface="Calibri"/>
              </a:rPr>
              <a:t>Before the vote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321744"/>
                </a:solidFill>
                <a:latin typeface="Calibri"/>
                <a:cs typeface="Calibri"/>
              </a:rPr>
              <a:t>Voters avoid “wasting their votes on sure losers”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321744"/>
                </a:solidFill>
                <a:latin typeface="Calibri"/>
                <a:cs typeface="Calibri"/>
              </a:rPr>
              <a:t>Candidates and donors stay away from parties that cannot win</a:t>
            </a:r>
          </a:p>
        </p:txBody>
      </p:sp>
      <p:sp>
        <p:nvSpPr>
          <p:cNvPr id="15" name="Footnote"/>
          <p:cNvSpPr/>
          <p:nvPr/>
        </p:nvSpPr>
        <p:spPr>
          <a:xfrm>
            <a:off x="457200" y="5303520"/>
            <a:ext cx="112745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endParaRPr sz="1350" b="0" i="1" dirty="0">
              <a:solidFill>
                <a:srgbClr val="5C5C5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Guess the Number: Britain, 1983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"/>
          <p:cNvSpPr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endParaRPr sz="1250" b="1" i="0" dirty="0">
              <a:solidFill>
                <a:srgbClr val="F3672A"/>
              </a:solidFill>
              <a:latin typeface="Calibri"/>
              <a:cs typeface="Calibri"/>
            </a:endParaRPr>
          </a:p>
        </p:txBody>
      </p:sp>
      <p:sp>
        <p:nvSpPr>
          <p:cNvPr id="5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Britain, 1983: Labour won 27.6% of the vote and 209 seats. The SDP–Liberal Alliance won 25.4%. How many seats?</a:t>
            </a:r>
          </a:p>
        </p:txBody>
      </p:sp>
      <p:sp>
        <p:nvSpPr>
          <p:cNvPr id="6" name="Option A"/>
          <p:cNvSpPr/>
          <p:nvPr/>
        </p:nvSpPr>
        <p:spPr>
          <a:xfrm>
            <a:off x="502920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ption A text"/>
          <p:cNvSpPr/>
          <p:nvPr/>
        </p:nvSpPr>
        <p:spPr>
          <a:xfrm>
            <a:off x="502920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A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23</a:t>
            </a:r>
          </a:p>
        </p:txBody>
      </p:sp>
      <p:sp>
        <p:nvSpPr>
          <p:cNvPr id="8" name="Option B"/>
          <p:cNvSpPr/>
          <p:nvPr/>
        </p:nvSpPr>
        <p:spPr>
          <a:xfrm>
            <a:off x="3369564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ption B text"/>
          <p:cNvSpPr/>
          <p:nvPr/>
        </p:nvSpPr>
        <p:spPr>
          <a:xfrm>
            <a:off x="3369564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B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62</a:t>
            </a:r>
          </a:p>
        </p:txBody>
      </p:sp>
      <p:sp>
        <p:nvSpPr>
          <p:cNvPr id="10" name="Option C"/>
          <p:cNvSpPr/>
          <p:nvPr/>
        </p:nvSpPr>
        <p:spPr>
          <a:xfrm>
            <a:off x="6236208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ption C text"/>
          <p:cNvSpPr/>
          <p:nvPr/>
        </p:nvSpPr>
        <p:spPr>
          <a:xfrm>
            <a:off x="6236208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C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120</a:t>
            </a:r>
          </a:p>
        </p:txBody>
      </p:sp>
      <p:sp>
        <p:nvSpPr>
          <p:cNvPr id="12" name="Option D"/>
          <p:cNvSpPr/>
          <p:nvPr/>
        </p:nvSpPr>
        <p:spPr>
          <a:xfrm>
            <a:off x="9102852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ption D text"/>
          <p:cNvSpPr/>
          <p:nvPr/>
        </p:nvSpPr>
        <p:spPr>
          <a:xfrm>
            <a:off x="9102852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D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190</a:t>
            </a:r>
          </a:p>
        </p:txBody>
      </p:sp>
      <p:sp>
        <p:nvSpPr>
          <p:cNvPr id="14" name="Answer highlight"/>
          <p:cNvSpPr/>
          <p:nvPr/>
        </p:nvSpPr>
        <p:spPr>
          <a:xfrm>
            <a:off x="502920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3672A"/>
          </a:solidFill>
          <a:ln w="1270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swer highlight text"/>
          <p:cNvSpPr/>
          <p:nvPr/>
        </p:nvSpPr>
        <p:spPr>
          <a:xfrm>
            <a:off x="502920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</a:p>
        </p:txBody>
      </p:sp>
      <p:sp>
        <p:nvSpPr>
          <p:cNvPr id="16" name="Legend 1"/>
          <p:cNvSpPr/>
          <p:nvPr/>
        </p:nvSpPr>
        <p:spPr>
          <a:xfrm>
            <a:off x="822960" y="2569464"/>
            <a:ext cx="237744" cy="18288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egend 1 text"/>
          <p:cNvSpPr/>
          <p:nvPr/>
        </p:nvSpPr>
        <p:spPr>
          <a:xfrm>
            <a:off x="1115568" y="2487168"/>
            <a:ext cx="16459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Share of the vote</a:t>
            </a:r>
          </a:p>
        </p:txBody>
      </p:sp>
      <p:sp>
        <p:nvSpPr>
          <p:cNvPr id="18" name="Legend 2"/>
          <p:cNvSpPr/>
          <p:nvPr/>
        </p:nvSpPr>
        <p:spPr>
          <a:xfrm>
            <a:off x="2944368" y="2569464"/>
            <a:ext cx="237744" cy="18288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gend 2 text"/>
          <p:cNvSpPr/>
          <p:nvPr/>
        </p:nvSpPr>
        <p:spPr>
          <a:xfrm>
            <a:off x="3236976" y="2487168"/>
            <a:ext cx="329184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Seats (bar: share of the 650 seats)</a:t>
            </a:r>
          </a:p>
        </p:txBody>
      </p:sp>
      <p:sp>
        <p:nvSpPr>
          <p:cNvPr id="20" name="Conservatives votes bar"/>
          <p:cNvSpPr/>
          <p:nvPr/>
        </p:nvSpPr>
        <p:spPr>
          <a:xfrm>
            <a:off x="905256" y="3819827"/>
            <a:ext cx="868680" cy="1300813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nservatives votes value"/>
          <p:cNvSpPr/>
          <p:nvPr/>
        </p:nvSpPr>
        <p:spPr>
          <a:xfrm>
            <a:off x="630936" y="3518075"/>
            <a:ext cx="141732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42.4%</a:t>
            </a:r>
          </a:p>
        </p:txBody>
      </p:sp>
      <p:sp>
        <p:nvSpPr>
          <p:cNvPr id="22" name="Conservatives seats bar"/>
          <p:cNvSpPr/>
          <p:nvPr/>
        </p:nvSpPr>
        <p:spPr>
          <a:xfrm>
            <a:off x="1883664" y="3246120"/>
            <a:ext cx="868680" cy="187452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onservatives seats value"/>
          <p:cNvSpPr/>
          <p:nvPr/>
        </p:nvSpPr>
        <p:spPr>
          <a:xfrm>
            <a:off x="1609344" y="2944368"/>
            <a:ext cx="141732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397 seats</a:t>
            </a:r>
          </a:p>
        </p:txBody>
      </p:sp>
      <p:sp>
        <p:nvSpPr>
          <p:cNvPr id="24" name="Conservatives label"/>
          <p:cNvSpPr/>
          <p:nvPr/>
        </p:nvSpPr>
        <p:spPr>
          <a:xfrm>
            <a:off x="640080" y="5166360"/>
            <a:ext cx="237744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Conservatives</a:t>
            </a:r>
          </a:p>
        </p:txBody>
      </p:sp>
      <p:sp>
        <p:nvSpPr>
          <p:cNvPr id="25" name="Labour votes bar"/>
          <p:cNvSpPr/>
          <p:nvPr/>
        </p:nvSpPr>
        <p:spPr>
          <a:xfrm>
            <a:off x="3282696" y="4273885"/>
            <a:ext cx="868680" cy="846755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bour votes value"/>
          <p:cNvSpPr/>
          <p:nvPr/>
        </p:nvSpPr>
        <p:spPr>
          <a:xfrm>
            <a:off x="3008376" y="3972133"/>
            <a:ext cx="141732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27.6%</a:t>
            </a:r>
          </a:p>
        </p:txBody>
      </p:sp>
      <p:sp>
        <p:nvSpPr>
          <p:cNvPr id="27" name="Labour seats bar"/>
          <p:cNvSpPr/>
          <p:nvPr/>
        </p:nvSpPr>
        <p:spPr>
          <a:xfrm>
            <a:off x="4261104" y="4132759"/>
            <a:ext cx="868680" cy="987881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abour seats value"/>
          <p:cNvSpPr/>
          <p:nvPr/>
        </p:nvSpPr>
        <p:spPr>
          <a:xfrm>
            <a:off x="3986784" y="3831007"/>
            <a:ext cx="141732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209 seats</a:t>
            </a:r>
          </a:p>
        </p:txBody>
      </p:sp>
      <p:sp>
        <p:nvSpPr>
          <p:cNvPr id="29" name="Labour label"/>
          <p:cNvSpPr/>
          <p:nvPr/>
        </p:nvSpPr>
        <p:spPr>
          <a:xfrm>
            <a:off x="3017520" y="5166360"/>
            <a:ext cx="237744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Labour</a:t>
            </a:r>
          </a:p>
        </p:txBody>
      </p:sp>
      <p:sp>
        <p:nvSpPr>
          <p:cNvPr id="30" name="SDP–Liberal Alliance votes bar"/>
          <p:cNvSpPr/>
          <p:nvPr/>
        </p:nvSpPr>
        <p:spPr>
          <a:xfrm>
            <a:off x="5660136" y="4341380"/>
            <a:ext cx="868680" cy="77926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DP–Liberal Alliance votes value"/>
          <p:cNvSpPr/>
          <p:nvPr/>
        </p:nvSpPr>
        <p:spPr>
          <a:xfrm>
            <a:off x="5385816" y="4039628"/>
            <a:ext cx="141732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25.4%</a:t>
            </a:r>
          </a:p>
        </p:txBody>
      </p:sp>
      <p:sp>
        <p:nvSpPr>
          <p:cNvPr id="32" name="SDP–Liberal Alliance seats bar"/>
          <p:cNvSpPr/>
          <p:nvPr/>
        </p:nvSpPr>
        <p:spPr>
          <a:xfrm>
            <a:off x="6638544" y="5013262"/>
            <a:ext cx="868680" cy="107378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DP–Liberal Alliance seats value"/>
          <p:cNvSpPr/>
          <p:nvPr/>
        </p:nvSpPr>
        <p:spPr>
          <a:xfrm>
            <a:off x="6364224" y="4711510"/>
            <a:ext cx="141732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23 seats</a:t>
            </a:r>
          </a:p>
        </p:txBody>
      </p:sp>
      <p:sp>
        <p:nvSpPr>
          <p:cNvPr id="34" name="SDP–Liberal Alliance label"/>
          <p:cNvSpPr/>
          <p:nvPr/>
        </p:nvSpPr>
        <p:spPr>
          <a:xfrm>
            <a:off x="5394960" y="5166360"/>
            <a:ext cx="237744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SDP–Liberal Alliance</a:t>
            </a:r>
          </a:p>
        </p:txBody>
      </p:sp>
      <p:cxnSp>
        <p:nvCxnSpPr>
          <p:cNvPr id="35" name="Baseline"/>
          <p:cNvCxnSpPr/>
          <p:nvPr/>
        </p:nvCxnSpPr>
        <p:spPr>
          <a:xfrm>
            <a:off x="640080" y="5120640"/>
            <a:ext cx="7132320" cy="0"/>
          </a:xfrm>
          <a:prstGeom prst="line">
            <a:avLst/>
          </a:prstGeom>
          <a:ln w="19050">
            <a:solidFill>
              <a:srgbClr val="32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hoto (Lecture 19.pptx, slide 3, picture 1)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29600" y="2563578"/>
            <a:ext cx="3520440" cy="2279485"/>
          </a:xfrm>
          <a:prstGeom prst="rect">
            <a:avLst/>
          </a:prstGeom>
          <a:ln w="19050">
            <a:solidFill>
              <a:srgbClr val="BFBFBF"/>
            </a:solidFill>
          </a:ln>
        </p:spPr>
      </p:pic>
      <p:sp>
        <p:nvSpPr>
          <p:cNvPr id="37" name="Photo caption"/>
          <p:cNvSpPr/>
          <p:nvPr/>
        </p:nvSpPr>
        <p:spPr>
          <a:xfrm>
            <a:off x="8183880" y="4897926"/>
            <a:ext cx="36118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buNone/>
            </a:pPr>
            <a:r>
              <a:rPr sz="1250" b="0" i="1">
                <a:solidFill>
                  <a:srgbClr val="321744"/>
                </a:solidFill>
                <a:latin typeface="Calibri"/>
                <a:cs typeface="Calibri"/>
              </a:rPr>
              <a:t>Margaret Thatcher, prime minister of Britain, 1979–90</a:t>
            </a:r>
          </a:p>
        </p:txBody>
      </p:sp>
      <p:sp>
        <p:nvSpPr>
          <p:cNvPr id="38" name="Footnote"/>
          <p:cNvSpPr/>
          <p:nvPr/>
        </p:nvSpPr>
        <p:spPr>
          <a:xfrm>
            <a:off x="457200" y="5596128"/>
            <a:ext cx="11274552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sz="1300" b="0" i="1">
                <a:solidFill>
                  <a:srgbClr val="5C5C5C"/>
                </a:solidFill>
                <a:latin typeface="Calibri"/>
                <a:cs typeface="Calibri"/>
              </a:rPr>
              <a:t>The Alliance was two parties running together: the Liberals and the new Social Democratic Party. Thatcher’s Conservatives won 61% of the seats with 42.4% of the vote.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Guess the Number: Britain, Today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"/>
          <p:cNvSpPr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endParaRPr sz="1250" b="1" i="0" dirty="0">
              <a:solidFill>
                <a:srgbClr val="F3672A"/>
              </a:solidFill>
              <a:latin typeface="Calibri"/>
              <a:cs typeface="Calibri"/>
            </a:endParaRPr>
          </a:p>
        </p:txBody>
      </p:sp>
      <p:sp>
        <p:nvSpPr>
          <p:cNvPr id="5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A September 2026 projection for Britain: the Greens win 8% of the vote and 3 seats. The Scottish National Party wins 2%. How many seats?</a:t>
            </a:r>
          </a:p>
        </p:txBody>
      </p:sp>
      <p:sp>
        <p:nvSpPr>
          <p:cNvPr id="6" name="Option A"/>
          <p:cNvSpPr/>
          <p:nvPr/>
        </p:nvSpPr>
        <p:spPr>
          <a:xfrm>
            <a:off x="502920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ption A text"/>
          <p:cNvSpPr/>
          <p:nvPr/>
        </p:nvSpPr>
        <p:spPr>
          <a:xfrm>
            <a:off x="502920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A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8" name="Option B"/>
          <p:cNvSpPr/>
          <p:nvPr/>
        </p:nvSpPr>
        <p:spPr>
          <a:xfrm>
            <a:off x="3369564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ption B text"/>
          <p:cNvSpPr/>
          <p:nvPr/>
        </p:nvSpPr>
        <p:spPr>
          <a:xfrm>
            <a:off x="3369564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B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10" name="Option C"/>
          <p:cNvSpPr/>
          <p:nvPr/>
        </p:nvSpPr>
        <p:spPr>
          <a:xfrm>
            <a:off x="6236208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ption C text"/>
          <p:cNvSpPr/>
          <p:nvPr/>
        </p:nvSpPr>
        <p:spPr>
          <a:xfrm>
            <a:off x="6236208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C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27</a:t>
            </a:r>
          </a:p>
        </p:txBody>
      </p:sp>
      <p:sp>
        <p:nvSpPr>
          <p:cNvPr id="12" name="Option D"/>
          <p:cNvSpPr/>
          <p:nvPr/>
        </p:nvSpPr>
        <p:spPr>
          <a:xfrm>
            <a:off x="9102852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ption D text"/>
          <p:cNvSpPr/>
          <p:nvPr/>
        </p:nvSpPr>
        <p:spPr>
          <a:xfrm>
            <a:off x="9102852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5C5C5C"/>
                </a:solidFill>
                <a:latin typeface="Calibri"/>
                <a:cs typeface="Calibri"/>
              </a:rPr>
              <a:t>D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61</a:t>
            </a:r>
          </a:p>
        </p:txBody>
      </p:sp>
      <p:sp>
        <p:nvSpPr>
          <p:cNvPr id="14" name="Answer highlight"/>
          <p:cNvSpPr/>
          <p:nvPr/>
        </p:nvSpPr>
        <p:spPr>
          <a:xfrm>
            <a:off x="6236208" y="1371600"/>
            <a:ext cx="2583180" cy="914400"/>
          </a:xfrm>
          <a:prstGeom prst="roundRect">
            <a:avLst>
              <a:gd name="adj" fmla="val 12000"/>
            </a:avLst>
          </a:prstGeom>
          <a:solidFill>
            <a:srgbClr val="F3672A"/>
          </a:solidFill>
          <a:ln w="1270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swer highlight text"/>
          <p:cNvSpPr/>
          <p:nvPr/>
        </p:nvSpPr>
        <p:spPr>
          <a:xfrm>
            <a:off x="6236208" y="1371600"/>
            <a:ext cx="25831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  <a:p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</a:p>
        </p:txBody>
      </p:sp>
      <p:sp>
        <p:nvSpPr>
          <p:cNvPr id="16" name="Legend 1"/>
          <p:cNvSpPr/>
          <p:nvPr/>
        </p:nvSpPr>
        <p:spPr>
          <a:xfrm>
            <a:off x="822960" y="2569464"/>
            <a:ext cx="237744" cy="18288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egend 1 text"/>
          <p:cNvSpPr/>
          <p:nvPr/>
        </p:nvSpPr>
        <p:spPr>
          <a:xfrm>
            <a:off x="1115568" y="2487168"/>
            <a:ext cx="237744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Projected share of the vote</a:t>
            </a:r>
          </a:p>
        </p:txBody>
      </p:sp>
      <p:sp>
        <p:nvSpPr>
          <p:cNvPr id="18" name="Legend 2"/>
          <p:cNvSpPr/>
          <p:nvPr/>
        </p:nvSpPr>
        <p:spPr>
          <a:xfrm>
            <a:off x="3675888" y="2569464"/>
            <a:ext cx="237744" cy="18288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gend 2 text"/>
          <p:cNvSpPr/>
          <p:nvPr/>
        </p:nvSpPr>
        <p:spPr>
          <a:xfrm>
            <a:off x="3968496" y="2487168"/>
            <a:ext cx="402336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Projected seats (bar: share of the 650 seats)</a:t>
            </a:r>
          </a:p>
        </p:txBody>
      </p:sp>
      <p:sp>
        <p:nvSpPr>
          <p:cNvPr id="20" name="Labour votes bar"/>
          <p:cNvSpPr/>
          <p:nvPr/>
        </p:nvSpPr>
        <p:spPr>
          <a:xfrm>
            <a:off x="947928" y="3854730"/>
            <a:ext cx="566928" cy="126591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abour votes value"/>
          <p:cNvSpPr/>
          <p:nvPr/>
        </p:nvSpPr>
        <p:spPr>
          <a:xfrm>
            <a:off x="673608" y="3552978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26%</a:t>
            </a:r>
          </a:p>
        </p:txBody>
      </p:sp>
      <p:sp>
        <p:nvSpPr>
          <p:cNvPr id="22" name="Labour seats bar"/>
          <p:cNvSpPr/>
          <p:nvPr/>
        </p:nvSpPr>
        <p:spPr>
          <a:xfrm>
            <a:off x="1578864" y="3246120"/>
            <a:ext cx="566928" cy="187452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abour seats value"/>
          <p:cNvSpPr/>
          <p:nvPr/>
        </p:nvSpPr>
        <p:spPr>
          <a:xfrm>
            <a:off x="1304544" y="2944368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250</a:t>
            </a:r>
          </a:p>
        </p:txBody>
      </p:sp>
      <p:sp>
        <p:nvSpPr>
          <p:cNvPr id="24" name="Labour label"/>
          <p:cNvSpPr/>
          <p:nvPr/>
        </p:nvSpPr>
        <p:spPr>
          <a:xfrm>
            <a:off x="64008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Labour</a:t>
            </a:r>
          </a:p>
        </p:txBody>
      </p:sp>
      <p:sp>
        <p:nvSpPr>
          <p:cNvPr id="25" name="Reform UK votes bar"/>
          <p:cNvSpPr/>
          <p:nvPr/>
        </p:nvSpPr>
        <p:spPr>
          <a:xfrm>
            <a:off x="2761488" y="3952108"/>
            <a:ext cx="566928" cy="1168532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form UK votes value"/>
          <p:cNvSpPr/>
          <p:nvPr/>
        </p:nvSpPr>
        <p:spPr>
          <a:xfrm>
            <a:off x="2487168" y="3650356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24%</a:t>
            </a:r>
          </a:p>
        </p:txBody>
      </p:sp>
      <p:sp>
        <p:nvSpPr>
          <p:cNvPr id="27" name="Reform UK seats bar"/>
          <p:cNvSpPr/>
          <p:nvPr/>
        </p:nvSpPr>
        <p:spPr>
          <a:xfrm>
            <a:off x="3392424" y="4020272"/>
            <a:ext cx="566928" cy="1100368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form UK seats value"/>
          <p:cNvSpPr/>
          <p:nvPr/>
        </p:nvSpPr>
        <p:spPr>
          <a:xfrm>
            <a:off x="3118104" y="3718520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147</a:t>
            </a:r>
          </a:p>
        </p:txBody>
      </p:sp>
      <p:sp>
        <p:nvSpPr>
          <p:cNvPr id="29" name="Reform UK label"/>
          <p:cNvSpPr/>
          <p:nvPr/>
        </p:nvSpPr>
        <p:spPr>
          <a:xfrm>
            <a:off x="245364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Reform UK</a:t>
            </a:r>
          </a:p>
        </p:txBody>
      </p:sp>
      <p:sp>
        <p:nvSpPr>
          <p:cNvPr id="30" name="Conservatives votes bar"/>
          <p:cNvSpPr/>
          <p:nvPr/>
        </p:nvSpPr>
        <p:spPr>
          <a:xfrm>
            <a:off x="4575048" y="4049486"/>
            <a:ext cx="566928" cy="1071154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onservatives votes value"/>
          <p:cNvSpPr/>
          <p:nvPr/>
        </p:nvSpPr>
        <p:spPr>
          <a:xfrm>
            <a:off x="4300728" y="3747734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22%</a:t>
            </a:r>
          </a:p>
        </p:txBody>
      </p:sp>
      <p:sp>
        <p:nvSpPr>
          <p:cNvPr id="32" name="Conservatives seats bar"/>
          <p:cNvSpPr/>
          <p:nvPr/>
        </p:nvSpPr>
        <p:spPr>
          <a:xfrm>
            <a:off x="5205984" y="4185814"/>
            <a:ext cx="566928" cy="934826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onservatives seats value"/>
          <p:cNvSpPr/>
          <p:nvPr/>
        </p:nvSpPr>
        <p:spPr>
          <a:xfrm>
            <a:off x="4931664" y="3884062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125</a:t>
            </a:r>
          </a:p>
        </p:txBody>
      </p:sp>
      <p:sp>
        <p:nvSpPr>
          <p:cNvPr id="34" name="Conservatives label"/>
          <p:cNvSpPr/>
          <p:nvPr/>
        </p:nvSpPr>
        <p:spPr>
          <a:xfrm>
            <a:off x="426720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Conservatives</a:t>
            </a:r>
          </a:p>
        </p:txBody>
      </p:sp>
      <p:sp>
        <p:nvSpPr>
          <p:cNvPr id="35" name="Liberal Democrats votes bar"/>
          <p:cNvSpPr/>
          <p:nvPr/>
        </p:nvSpPr>
        <p:spPr>
          <a:xfrm>
            <a:off x="6388608" y="4585063"/>
            <a:ext cx="566928" cy="535577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Liberal Democrats votes value"/>
          <p:cNvSpPr/>
          <p:nvPr/>
        </p:nvSpPr>
        <p:spPr>
          <a:xfrm>
            <a:off x="6114288" y="4283311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11%</a:t>
            </a:r>
          </a:p>
        </p:txBody>
      </p:sp>
      <p:sp>
        <p:nvSpPr>
          <p:cNvPr id="37" name="Liberal Democrats seats bar"/>
          <p:cNvSpPr/>
          <p:nvPr/>
        </p:nvSpPr>
        <p:spPr>
          <a:xfrm>
            <a:off x="7019544" y="4648358"/>
            <a:ext cx="566928" cy="472282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Liberal Democrats seats value"/>
          <p:cNvSpPr/>
          <p:nvPr/>
        </p:nvSpPr>
        <p:spPr>
          <a:xfrm>
            <a:off x="6745224" y="4346606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63</a:t>
            </a:r>
          </a:p>
        </p:txBody>
      </p:sp>
      <p:sp>
        <p:nvSpPr>
          <p:cNvPr id="39" name="Liberal Democrats label"/>
          <p:cNvSpPr/>
          <p:nvPr/>
        </p:nvSpPr>
        <p:spPr>
          <a:xfrm>
            <a:off x="608076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Liberal Democrats</a:t>
            </a:r>
          </a:p>
        </p:txBody>
      </p:sp>
      <p:sp>
        <p:nvSpPr>
          <p:cNvPr id="40" name="Greens votes bar"/>
          <p:cNvSpPr/>
          <p:nvPr/>
        </p:nvSpPr>
        <p:spPr>
          <a:xfrm>
            <a:off x="8202168" y="4731129"/>
            <a:ext cx="566928" cy="389511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Greens votes value"/>
          <p:cNvSpPr/>
          <p:nvPr/>
        </p:nvSpPr>
        <p:spPr>
          <a:xfrm>
            <a:off x="7927848" y="4429377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8%</a:t>
            </a:r>
          </a:p>
        </p:txBody>
      </p:sp>
      <p:sp>
        <p:nvSpPr>
          <p:cNvPr id="42" name="Greens seats bar"/>
          <p:cNvSpPr/>
          <p:nvPr/>
        </p:nvSpPr>
        <p:spPr>
          <a:xfrm>
            <a:off x="8833104" y="5093208"/>
            <a:ext cx="566928" cy="27432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Greens seats value"/>
          <p:cNvSpPr/>
          <p:nvPr/>
        </p:nvSpPr>
        <p:spPr>
          <a:xfrm>
            <a:off x="8558784" y="4791456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4" name="Greens label"/>
          <p:cNvSpPr/>
          <p:nvPr/>
        </p:nvSpPr>
        <p:spPr>
          <a:xfrm>
            <a:off x="789432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Greens</a:t>
            </a:r>
          </a:p>
        </p:txBody>
      </p:sp>
      <p:sp>
        <p:nvSpPr>
          <p:cNvPr id="45" name="Scottish National Party votes bar"/>
          <p:cNvSpPr/>
          <p:nvPr/>
        </p:nvSpPr>
        <p:spPr>
          <a:xfrm>
            <a:off x="10015728" y="5023262"/>
            <a:ext cx="566928" cy="97378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Scottish National Party votes value"/>
          <p:cNvSpPr/>
          <p:nvPr/>
        </p:nvSpPr>
        <p:spPr>
          <a:xfrm>
            <a:off x="9741408" y="4721510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2%</a:t>
            </a:r>
          </a:p>
        </p:txBody>
      </p:sp>
      <p:sp>
        <p:nvSpPr>
          <p:cNvPr id="47" name="Scottish National Party seats bar"/>
          <p:cNvSpPr/>
          <p:nvPr/>
        </p:nvSpPr>
        <p:spPr>
          <a:xfrm>
            <a:off x="10646664" y="4916147"/>
            <a:ext cx="566928" cy="204493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Scottish National Party seats value"/>
          <p:cNvSpPr/>
          <p:nvPr/>
        </p:nvSpPr>
        <p:spPr>
          <a:xfrm>
            <a:off x="10372344" y="4614395"/>
            <a:ext cx="111556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27</a:t>
            </a:r>
          </a:p>
        </p:txBody>
      </p:sp>
      <p:sp>
        <p:nvSpPr>
          <p:cNvPr id="49" name="Scottish National Party label"/>
          <p:cNvSpPr/>
          <p:nvPr/>
        </p:nvSpPr>
        <p:spPr>
          <a:xfrm>
            <a:off x="9707880" y="5166360"/>
            <a:ext cx="18135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Scottish National Party</a:t>
            </a:r>
          </a:p>
        </p:txBody>
      </p:sp>
      <p:cxnSp>
        <p:nvCxnSpPr>
          <p:cNvPr id="50" name="Baseline"/>
          <p:cNvCxnSpPr/>
          <p:nvPr/>
        </p:nvCxnSpPr>
        <p:spPr>
          <a:xfrm>
            <a:off x="640080" y="5120640"/>
            <a:ext cx="10881360" cy="0"/>
          </a:xfrm>
          <a:prstGeom prst="line">
            <a:avLst/>
          </a:prstGeom>
          <a:ln w="19050">
            <a:solidFill>
              <a:srgbClr val="32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ootnote"/>
          <p:cNvSpPr/>
          <p:nvPr/>
        </p:nvSpPr>
        <p:spPr>
          <a:xfrm>
            <a:off x="457200" y="5596128"/>
            <a:ext cx="11274552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0" i="1" dirty="0">
                <a:solidFill>
                  <a:srgbClr val="5C5C5C"/>
                </a:solidFill>
                <a:latin typeface="Calibri"/>
                <a:cs typeface="Calibri"/>
              </a:rPr>
              <a:t>Key point:</a:t>
            </a:r>
            <a:r>
              <a:rPr lang="en-US" sz="1300" i="1" dirty="0">
                <a:solidFill>
                  <a:srgbClr val="5C5C5C"/>
                </a:solidFill>
                <a:latin typeface="Calibri"/>
                <a:cs typeface="Calibri"/>
              </a:rPr>
              <a:t> </a:t>
            </a:r>
            <a:r>
              <a:rPr sz="1300" b="0" i="1" dirty="0">
                <a:solidFill>
                  <a:srgbClr val="5C5C5C"/>
                </a:solidFill>
                <a:latin typeface="Calibri"/>
                <a:cs typeface="Calibri"/>
              </a:rPr>
              <a:t>The SNP runs only in Scotland’s 57 districts.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Disproportionality in Winner-Take-All Elections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Disproportionality in winner-take-all elections</a:t>
            </a:r>
          </a:p>
        </p:txBody>
      </p:sp>
      <p:sp>
        <p:nvSpPr>
          <p:cNvPr id="5" name="Header 1"/>
          <p:cNvSpPr/>
          <p:nvPr/>
        </p:nvSpPr>
        <p:spPr>
          <a:xfrm>
            <a:off x="3520440" y="12344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ader 1 text"/>
          <p:cNvSpPr/>
          <p:nvPr/>
        </p:nvSpPr>
        <p:spPr>
          <a:xfrm>
            <a:off x="3520440" y="123444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VOTES</a:t>
            </a:r>
          </a:p>
        </p:txBody>
      </p:sp>
      <p:sp>
        <p:nvSpPr>
          <p:cNvPr id="7" name="Header 2"/>
          <p:cNvSpPr/>
          <p:nvPr/>
        </p:nvSpPr>
        <p:spPr>
          <a:xfrm>
            <a:off x="4983480" y="12344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ader 2 text"/>
          <p:cNvSpPr/>
          <p:nvPr/>
        </p:nvSpPr>
        <p:spPr>
          <a:xfrm>
            <a:off x="4983480" y="123444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SEATS</a:t>
            </a:r>
          </a:p>
        </p:txBody>
      </p:sp>
      <p:sp>
        <p:nvSpPr>
          <p:cNvPr id="9" name="Header 3"/>
          <p:cNvSpPr/>
          <p:nvPr/>
        </p:nvSpPr>
        <p:spPr>
          <a:xfrm>
            <a:off x="6446520" y="1234440"/>
            <a:ext cx="3154680" cy="457200"/>
          </a:xfrm>
          <a:prstGeom prst="roundRect">
            <a:avLst>
              <a:gd name="adj" fmla="val 18000"/>
            </a:avLst>
          </a:prstGeom>
          <a:solidFill>
            <a:srgbClr val="5B4468"/>
          </a:solidFill>
          <a:ln w="31750">
            <a:solidFill>
              <a:srgbClr val="5B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3 text"/>
          <p:cNvSpPr/>
          <p:nvPr/>
        </p:nvSpPr>
        <p:spPr>
          <a:xfrm>
            <a:off x="6446520" y="1234440"/>
            <a:ext cx="31546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WHY?</a:t>
            </a:r>
            <a:endParaRPr sz="14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Row band 1"/>
          <p:cNvSpPr/>
          <p:nvPr/>
        </p:nvSpPr>
        <p:spPr>
          <a:xfrm>
            <a:off x="457200" y="1783080"/>
            <a:ext cx="9144000" cy="731520"/>
          </a:xfrm>
          <a:prstGeom prst="rect">
            <a:avLst/>
          </a:prstGeom>
          <a:solidFill>
            <a:srgbClr val="FF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1 label"/>
          <p:cNvSpPr/>
          <p:nvPr/>
        </p:nvSpPr>
        <p:spPr>
          <a:xfrm>
            <a:off x="457200" y="1783080"/>
            <a:ext cx="2971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>
            <a:normAutofit/>
          </a:bodyPr>
          <a:lstStyle/>
          <a:p>
            <a:pPr marL="0" indent="0" algn="l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France 2002: the center-right UMP</a:t>
            </a:r>
          </a:p>
        </p:txBody>
      </p:sp>
      <p:sp>
        <p:nvSpPr>
          <p:cNvPr id="13" name="Row 1 col 1"/>
          <p:cNvSpPr/>
          <p:nvPr/>
        </p:nvSpPr>
        <p:spPr>
          <a:xfrm>
            <a:off x="3520440" y="178308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33%</a:t>
            </a:r>
          </a:p>
        </p:txBody>
      </p:sp>
      <p:sp>
        <p:nvSpPr>
          <p:cNvPr id="14" name="Row 1 col 2"/>
          <p:cNvSpPr/>
          <p:nvPr/>
        </p:nvSpPr>
        <p:spPr>
          <a:xfrm>
            <a:off x="4983480" y="178308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62%</a:t>
            </a:r>
          </a:p>
        </p:txBody>
      </p:sp>
      <p:sp>
        <p:nvSpPr>
          <p:cNvPr id="15" name="Row 1 col 3"/>
          <p:cNvSpPr/>
          <p:nvPr/>
        </p:nvSpPr>
        <p:spPr>
          <a:xfrm>
            <a:off x="6446520" y="1783080"/>
            <a:ext cx="31546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l">
              <a:buNone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The largest party wins most of the runoffs</a:t>
            </a:r>
          </a:p>
        </p:txBody>
      </p:sp>
      <p:sp>
        <p:nvSpPr>
          <p:cNvPr id="16" name="Row 2 label"/>
          <p:cNvSpPr/>
          <p:nvPr/>
        </p:nvSpPr>
        <p:spPr>
          <a:xfrm>
            <a:off x="457200" y="2514600"/>
            <a:ext cx="2971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>
            <a:normAutofit/>
          </a:bodyPr>
          <a:lstStyle/>
          <a:p>
            <a:pPr marL="0" indent="0" algn="l">
              <a:buNone/>
            </a:pPr>
            <a:r>
              <a:rPr sz="1550" b="1" i="0" dirty="0">
                <a:solidFill>
                  <a:srgbClr val="321744"/>
                </a:solidFill>
                <a:latin typeface="Calibri"/>
                <a:cs typeface="Calibri"/>
              </a:rPr>
              <a:t>Britain 2005: Labour</a:t>
            </a:r>
            <a:r>
              <a:rPr lang="en-US" sz="1550" b="1" dirty="0">
                <a:solidFill>
                  <a:srgbClr val="321744"/>
                </a:solidFill>
                <a:latin typeface="Calibri"/>
                <a:cs typeface="Calibri"/>
              </a:rPr>
              <a:t> v </a:t>
            </a:r>
            <a:r>
              <a:rPr sz="1550" b="1" i="0" dirty="0">
                <a:solidFill>
                  <a:srgbClr val="321744"/>
                </a:solidFill>
                <a:latin typeface="Calibri"/>
                <a:cs typeface="Calibri"/>
              </a:rPr>
              <a:t>Conservatives</a:t>
            </a:r>
          </a:p>
        </p:txBody>
      </p:sp>
      <p:sp>
        <p:nvSpPr>
          <p:cNvPr id="17" name="Row 2 col 1"/>
          <p:cNvSpPr/>
          <p:nvPr/>
        </p:nvSpPr>
        <p:spPr>
          <a:xfrm>
            <a:off x="3520440" y="251460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35.2%, 32.4%</a:t>
            </a:r>
          </a:p>
        </p:txBody>
      </p:sp>
      <p:sp>
        <p:nvSpPr>
          <p:cNvPr id="18" name="Row 2 col 2"/>
          <p:cNvSpPr/>
          <p:nvPr/>
        </p:nvSpPr>
        <p:spPr>
          <a:xfrm>
            <a:off x="4983480" y="251460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355, 198</a:t>
            </a:r>
          </a:p>
        </p:txBody>
      </p:sp>
      <p:sp>
        <p:nvSpPr>
          <p:cNvPr id="19" name="Row 2 col 3"/>
          <p:cNvSpPr/>
          <p:nvPr/>
        </p:nvSpPr>
        <p:spPr>
          <a:xfrm>
            <a:off x="6446520" y="2514600"/>
            <a:ext cx="31546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l">
              <a:buNone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Efficient votes: narrow wins in many districts</a:t>
            </a:r>
          </a:p>
        </p:txBody>
      </p:sp>
      <p:sp>
        <p:nvSpPr>
          <p:cNvPr id="20" name="Row band 3"/>
          <p:cNvSpPr/>
          <p:nvPr/>
        </p:nvSpPr>
        <p:spPr>
          <a:xfrm>
            <a:off x="457200" y="3246120"/>
            <a:ext cx="9144000" cy="731520"/>
          </a:xfrm>
          <a:prstGeom prst="rect">
            <a:avLst/>
          </a:prstGeom>
          <a:solidFill>
            <a:srgbClr val="FF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w 3 label"/>
          <p:cNvSpPr/>
          <p:nvPr/>
        </p:nvSpPr>
        <p:spPr>
          <a:xfrm>
            <a:off x="457200" y="3246120"/>
            <a:ext cx="2971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>
            <a:normAutofit/>
          </a:bodyPr>
          <a:lstStyle/>
          <a:p>
            <a:pPr marL="0" indent="0" algn="l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Britain 2010: Liberal Democrats</a:t>
            </a:r>
          </a:p>
        </p:txBody>
      </p:sp>
      <p:sp>
        <p:nvSpPr>
          <p:cNvPr id="22" name="Row 3 col 1"/>
          <p:cNvSpPr/>
          <p:nvPr/>
        </p:nvSpPr>
        <p:spPr>
          <a:xfrm>
            <a:off x="3520440" y="324612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23%</a:t>
            </a:r>
          </a:p>
        </p:txBody>
      </p:sp>
      <p:sp>
        <p:nvSpPr>
          <p:cNvPr id="23" name="Row 3 col 2"/>
          <p:cNvSpPr/>
          <p:nvPr/>
        </p:nvSpPr>
        <p:spPr>
          <a:xfrm>
            <a:off x="4983480" y="324612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9%</a:t>
            </a:r>
          </a:p>
        </p:txBody>
      </p:sp>
      <p:sp>
        <p:nvSpPr>
          <p:cNvPr id="24" name="Row 3 col 3"/>
          <p:cNvSpPr/>
          <p:nvPr/>
        </p:nvSpPr>
        <p:spPr>
          <a:xfrm>
            <a:off x="6446520" y="3246120"/>
            <a:ext cx="31546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l">
              <a:buNone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Small parties are punished</a:t>
            </a:r>
          </a:p>
        </p:txBody>
      </p:sp>
      <p:sp>
        <p:nvSpPr>
          <p:cNvPr id="25" name="Row 4 label"/>
          <p:cNvSpPr/>
          <p:nvPr/>
        </p:nvSpPr>
        <p:spPr>
          <a:xfrm>
            <a:off x="457200" y="3977640"/>
            <a:ext cx="2971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>
            <a:normAutofit/>
          </a:bodyPr>
          <a:lstStyle/>
          <a:p>
            <a:pPr marL="0" indent="0" algn="l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Britain 2024: Reform UK</a:t>
            </a:r>
          </a:p>
        </p:txBody>
      </p:sp>
      <p:sp>
        <p:nvSpPr>
          <p:cNvPr id="26" name="Row 4 col 1"/>
          <p:cNvSpPr/>
          <p:nvPr/>
        </p:nvSpPr>
        <p:spPr>
          <a:xfrm>
            <a:off x="3520440" y="397764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14.3%</a:t>
            </a:r>
          </a:p>
        </p:txBody>
      </p:sp>
      <p:sp>
        <p:nvSpPr>
          <p:cNvPr id="27" name="Row 4 col 2"/>
          <p:cNvSpPr/>
          <p:nvPr/>
        </p:nvSpPr>
        <p:spPr>
          <a:xfrm>
            <a:off x="4983480" y="397764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5 of 650</a:t>
            </a:r>
          </a:p>
        </p:txBody>
      </p:sp>
      <p:sp>
        <p:nvSpPr>
          <p:cNvPr id="28" name="Row 4 col 3"/>
          <p:cNvSpPr/>
          <p:nvPr/>
        </p:nvSpPr>
        <p:spPr>
          <a:xfrm>
            <a:off x="6446520" y="3977640"/>
            <a:ext cx="31546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l">
              <a:buNone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So are votes spread evenly across the country</a:t>
            </a:r>
          </a:p>
        </p:txBody>
      </p:sp>
      <p:sp>
        <p:nvSpPr>
          <p:cNvPr id="29" name="Row band 5"/>
          <p:cNvSpPr/>
          <p:nvPr/>
        </p:nvSpPr>
        <p:spPr>
          <a:xfrm>
            <a:off x="457200" y="4709160"/>
            <a:ext cx="9144000" cy="731520"/>
          </a:xfrm>
          <a:prstGeom prst="rect">
            <a:avLst/>
          </a:prstGeom>
          <a:solidFill>
            <a:srgbClr val="FF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w 5 label"/>
          <p:cNvSpPr/>
          <p:nvPr/>
        </p:nvSpPr>
        <p:spPr>
          <a:xfrm>
            <a:off x="457200" y="4709160"/>
            <a:ext cx="2971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>
            <a:normAutofit/>
          </a:bodyPr>
          <a:lstStyle/>
          <a:p>
            <a:pPr marL="0" indent="0" algn="l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Britain 2024: Plaid Cymru, in Wales</a:t>
            </a:r>
          </a:p>
        </p:txBody>
      </p:sp>
      <p:sp>
        <p:nvSpPr>
          <p:cNvPr id="31" name="Row 5 col 1"/>
          <p:cNvSpPr/>
          <p:nvPr/>
        </p:nvSpPr>
        <p:spPr>
          <a:xfrm>
            <a:off x="3520440" y="470916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0.7%</a:t>
            </a:r>
          </a:p>
        </p:txBody>
      </p:sp>
      <p:sp>
        <p:nvSpPr>
          <p:cNvPr id="32" name="Row 5 col 2"/>
          <p:cNvSpPr/>
          <p:nvPr/>
        </p:nvSpPr>
        <p:spPr>
          <a:xfrm>
            <a:off x="4983480" y="470916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ctr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4 of 650</a:t>
            </a:r>
          </a:p>
        </p:txBody>
      </p:sp>
      <p:sp>
        <p:nvSpPr>
          <p:cNvPr id="33" name="Row 5 col 3"/>
          <p:cNvSpPr/>
          <p:nvPr/>
        </p:nvSpPr>
        <p:spPr>
          <a:xfrm>
            <a:off x="6446520" y="4709160"/>
            <a:ext cx="31546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>
            <a:normAutofit/>
          </a:bodyPr>
          <a:lstStyle/>
          <a:p>
            <a:pPr marL="0" indent="0" algn="l">
              <a:buNone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Regionally concentrated parties are rewarded</a:t>
            </a:r>
          </a:p>
        </p:txBody>
      </p:sp>
      <p:pic>
        <p:nvPicPr>
          <p:cNvPr id="34" name="Photo (Lecture 21.pptx, slide 8, picture 1)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46920" y="1341034"/>
            <a:ext cx="2148840" cy="1341292"/>
          </a:xfrm>
          <a:prstGeom prst="rect">
            <a:avLst/>
          </a:prstGeom>
          <a:ln w="19050">
            <a:solidFill>
              <a:srgbClr val="BFBFBF"/>
            </a:solidFill>
          </a:ln>
        </p:spPr>
      </p:pic>
      <p:sp>
        <p:nvSpPr>
          <p:cNvPr id="35" name="Photo caption"/>
          <p:cNvSpPr/>
          <p:nvPr/>
        </p:nvSpPr>
        <p:spPr>
          <a:xfrm>
            <a:off x="9601200" y="2737190"/>
            <a:ext cx="224028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buNone/>
            </a:pPr>
            <a:r>
              <a:rPr sz="1250" b="0" i="1">
                <a:solidFill>
                  <a:srgbClr val="321744"/>
                </a:solidFill>
                <a:latin typeface="Calibri"/>
                <a:cs typeface="Calibri"/>
              </a:rPr>
              <a:t>Nigel Farage, leader of Reform UK and a member of Britain’s Parliament since 2024</a:t>
            </a:r>
          </a:p>
        </p:txBody>
      </p:sp>
      <p:sp>
        <p:nvSpPr>
          <p:cNvPr id="36" name="Footnote"/>
          <p:cNvSpPr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sz="1350" b="0" i="1" dirty="0">
                <a:solidFill>
                  <a:srgbClr val="5C5C5C"/>
                </a:solidFill>
                <a:latin typeface="Calibri"/>
                <a:cs typeface="Calibri"/>
              </a:rPr>
              <a:t>France’s Socialists in 2012: 29% of the vote, nearly half the seats.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Trade-Off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"/>
          <p:cNvSpPr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F3672A"/>
                </a:solidFill>
                <a:latin typeface="Calibri"/>
                <a:cs typeface="Calibri"/>
              </a:rPr>
              <a:t>HANDS UP</a:t>
            </a:r>
          </a:p>
        </p:txBody>
      </p:sp>
      <p:sp>
        <p:nvSpPr>
          <p:cNvPr id="5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Which matters more to you?</a:t>
            </a:r>
          </a:p>
        </p:txBody>
      </p:sp>
      <p:sp>
        <p:nvSpPr>
          <p:cNvPr id="6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Gallagher and Mitchell</a:t>
            </a:r>
          </a:p>
        </p:txBody>
      </p:sp>
      <p:sp>
        <p:nvSpPr>
          <p:cNvPr id="7" name="Districts card"/>
          <p:cNvSpPr/>
          <p:nvPr/>
        </p:nvSpPr>
        <p:spPr>
          <a:xfrm>
            <a:off x="457200" y="1188720"/>
            <a:ext cx="5550408" cy="342900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istricts card header"/>
          <p:cNvSpPr/>
          <p:nvPr/>
        </p:nvSpPr>
        <p:spPr>
          <a:xfrm>
            <a:off x="457200" y="1188720"/>
            <a:ext cx="5550408" cy="438912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istricts card header text"/>
          <p:cNvSpPr/>
          <p:nvPr/>
        </p:nvSpPr>
        <p:spPr>
          <a:xfrm>
            <a:off x="457200" y="1188720"/>
            <a:ext cx="55504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A LOCAL MEMBER AND A CLEAR WINNER</a:t>
            </a:r>
          </a:p>
        </p:txBody>
      </p:sp>
      <p:sp>
        <p:nvSpPr>
          <p:cNvPr id="10" name="Districts card text"/>
          <p:cNvSpPr/>
          <p:nvPr/>
        </p:nvSpPr>
        <p:spPr>
          <a:xfrm>
            <a:off x="630936" y="1719072"/>
            <a:ext cx="5202936" cy="2788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2000" b="1" i="0" dirty="0">
                <a:solidFill>
                  <a:srgbClr val="321744"/>
                </a:solidFill>
                <a:latin typeface="Calibri"/>
                <a:cs typeface="Calibri"/>
              </a:rPr>
              <a:t>Single-member districts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800" b="0" i="0" dirty="0">
                <a:solidFill>
                  <a:srgbClr val="321744"/>
                </a:solidFill>
                <a:latin typeface="Calibri"/>
                <a:cs typeface="Calibri"/>
              </a:rPr>
              <a:t>One representative for your district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800" b="0" i="0" dirty="0">
                <a:solidFill>
                  <a:srgbClr val="321744"/>
                </a:solidFill>
                <a:latin typeface="Calibri"/>
                <a:cs typeface="Calibri"/>
              </a:rPr>
              <a:t>One party usually governs alone, so voters know whom to hold accountable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800" b="0" i="0" dirty="0">
                <a:solidFill>
                  <a:srgbClr val="321744"/>
                </a:solidFill>
                <a:latin typeface="Calibri"/>
                <a:cs typeface="Calibri"/>
              </a:rPr>
              <a:t>The price: </a:t>
            </a:r>
            <a:r>
              <a:rPr lang="en-US" sz="1800" b="0" i="0" dirty="0">
                <a:solidFill>
                  <a:srgbClr val="321744"/>
                </a:solidFill>
                <a:latin typeface="Calibri"/>
                <a:cs typeface="Calibri"/>
              </a:rPr>
              <a:t>Parties can win Majorities with even 1/3 of the votes</a:t>
            </a:r>
            <a:endParaRPr sz="1800" b="0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11" name="Proportional card"/>
          <p:cNvSpPr/>
          <p:nvPr/>
        </p:nvSpPr>
        <p:spPr>
          <a:xfrm>
            <a:off x="6190488" y="1188720"/>
            <a:ext cx="5550408" cy="342900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oportional card header"/>
          <p:cNvSpPr/>
          <p:nvPr/>
        </p:nvSpPr>
        <p:spPr>
          <a:xfrm>
            <a:off x="6190488" y="1188720"/>
            <a:ext cx="5550408" cy="438912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oportional card header text"/>
          <p:cNvSpPr/>
          <p:nvPr/>
        </p:nvSpPr>
        <p:spPr>
          <a:xfrm>
            <a:off x="6190488" y="1188720"/>
            <a:ext cx="55504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SEATS THAT MATCH VOTES</a:t>
            </a:r>
          </a:p>
        </p:txBody>
      </p:sp>
      <p:sp>
        <p:nvSpPr>
          <p:cNvPr id="14" name="Proportional card text"/>
          <p:cNvSpPr/>
          <p:nvPr/>
        </p:nvSpPr>
        <p:spPr>
          <a:xfrm>
            <a:off x="6364224" y="1719072"/>
            <a:ext cx="5202936" cy="2788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2000" b="1" i="0">
                <a:solidFill>
                  <a:srgbClr val="321744"/>
                </a:solidFill>
                <a:latin typeface="Calibri"/>
                <a:cs typeface="Calibri"/>
              </a:rPr>
              <a:t>Proportional representation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321744"/>
                </a:solidFill>
                <a:latin typeface="Calibri"/>
                <a:cs typeface="Calibri"/>
              </a:rPr>
              <a:t>Each party’s share of seats is close to its share of votes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321744"/>
                </a:solidFill>
                <a:latin typeface="Calibri"/>
                <a:cs typeface="Calibri"/>
              </a:rPr>
              <a:t>More parties in parliament, and a wider range of views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321744"/>
                </a:solidFill>
                <a:latin typeface="Calibri"/>
                <a:cs typeface="Calibri"/>
              </a:rPr>
              <a:t>The price: “a coalition government is nearly inevitable,” and it forms after the vote</a:t>
            </a:r>
          </a:p>
        </p:txBody>
      </p:sp>
      <p:sp>
        <p:nvSpPr>
          <p:cNvPr id="15" name="Trade-off quote"/>
          <p:cNvSpPr/>
          <p:nvPr/>
        </p:nvSpPr>
        <p:spPr>
          <a:xfrm>
            <a:off x="457200" y="4800600"/>
            <a:ext cx="11274552" cy="960120"/>
          </a:xfrm>
          <a:prstGeom prst="roundRect">
            <a:avLst>
              <a:gd name="adj" fmla="val 12000"/>
            </a:avLst>
          </a:prstGeom>
          <a:solidFill>
            <a:srgbClr val="FFF6F0"/>
          </a:solidFill>
          <a:ln w="190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>
            <a:normAutofit/>
          </a:bodyPr>
          <a:lstStyle/>
          <a:p>
            <a:pPr marL="0" indent="0" algn="ctr">
              <a:buNone/>
            </a:pPr>
            <a:r>
              <a:rPr sz="1800" b="1" i="1">
                <a:solidFill>
                  <a:srgbClr val="321744"/>
                </a:solidFill>
                <a:latin typeface="Calibri"/>
                <a:cs typeface="Calibri"/>
              </a:rPr>
              <a:t>“With only one level of seat allocation, we are forced to sacrifice a bit of one desirable property in order to get more of the other.”</a:t>
            </a:r>
          </a:p>
        </p:txBody>
      </p:sp>
      <p:sp>
        <p:nvSpPr>
          <p:cNvPr id="16" name="Footnote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endParaRPr sz="1350" b="0" i="1" dirty="0">
              <a:solidFill>
                <a:srgbClr val="5C5C5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05" y="384048"/>
            <a:ext cx="10515600" cy="1188720"/>
          </a:xfrm>
        </p:spPr>
        <p:txBody>
          <a:bodyPr/>
          <a:lstStyle/>
          <a:p>
            <a:r>
              <a:t>France: Majority Elections with Runoffs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91640"/>
            <a:ext cx="5806440" cy="4023360"/>
          </a:xfrm>
        </p:spPr>
        <p:txBody>
          <a:bodyPr/>
          <a:lstStyle/>
          <a:p>
            <a:r>
              <a:rPr sz="2000"/>
              <a:t>Single-member districts, as in Britain and the United States</a:t>
            </a:r>
          </a:p>
          <a:p>
            <a:r>
              <a:rPr sz="2000"/>
              <a:t>First round: a candidate with a majority wins the seat</a:t>
            </a:r>
          </a:p>
          <a:p>
            <a:r>
              <a:rPr sz="2000"/>
              <a:t>No majority: the top two, and anyone over 12.5% of registered voters, advance</a:t>
            </a:r>
          </a:p>
          <a:p>
            <a:r>
              <a:rPr sz="2000"/>
              <a:t>Second round: the most votes wins</a:t>
            </a:r>
          </a:p>
          <a:p>
            <a:r>
              <a:rPr sz="2000"/>
              <a:t>Third-placed candidates often stand aside</a:t>
            </a:r>
          </a:p>
          <a:p>
            <a:r>
              <a:rPr sz="2000"/>
              <a:t>“Vote with your heart in the first round, vote with your head in the second”</a:t>
            </a:r>
          </a:p>
        </p:txBody>
      </p:sp>
      <p:pic>
        <p:nvPicPr>
          <p:cNvPr id="4" name="Photo (Intro Slides.pptx, slide 7, picture 5)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75120" y="1807592"/>
            <a:ext cx="5074920" cy="3379976"/>
          </a:xfrm>
          <a:prstGeom prst="rect">
            <a:avLst/>
          </a:prstGeom>
        </p:spPr>
      </p:pic>
      <p:sp>
        <p:nvSpPr>
          <p:cNvPr id="5" name="Photo caption"/>
          <p:cNvSpPr/>
          <p:nvPr/>
        </p:nvSpPr>
        <p:spPr>
          <a:xfrm>
            <a:off x="6675120" y="5242432"/>
            <a:ext cx="5074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>
            <a:normAutofit/>
          </a:bodyPr>
          <a:lstStyle/>
          <a:p>
            <a:pPr marL="0" indent="0" algn="ctr">
              <a:buNone/>
            </a:pPr>
            <a:r>
              <a:rPr sz="1150" b="0" i="1">
                <a:solidFill>
                  <a:srgbClr val="321744"/>
                </a:solidFill>
                <a:latin typeface="Calibri"/>
                <a:cs typeface="Calibri"/>
              </a:rPr>
              <a:t>Marine Le Pen of the National Rally, a candidate for president of France in 2027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2024: First in Votes, Third in Seats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France 2024: votes in the first round, seats after the second</a:t>
            </a:r>
          </a:p>
        </p:txBody>
      </p:sp>
      <p:sp>
        <p:nvSpPr>
          <p:cNvPr id="5" name="Legend 1"/>
          <p:cNvSpPr/>
          <p:nvPr/>
        </p:nvSpPr>
        <p:spPr>
          <a:xfrm>
            <a:off x="640080" y="1225296"/>
            <a:ext cx="237744" cy="18288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egend 1 text"/>
          <p:cNvSpPr/>
          <p:nvPr/>
        </p:nvSpPr>
        <p:spPr>
          <a:xfrm>
            <a:off x="932688" y="1143000"/>
            <a:ext cx="251460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Share of the first-round vote</a:t>
            </a:r>
          </a:p>
        </p:txBody>
      </p:sp>
      <p:sp>
        <p:nvSpPr>
          <p:cNvPr id="7" name="Legend 2"/>
          <p:cNvSpPr/>
          <p:nvPr/>
        </p:nvSpPr>
        <p:spPr>
          <a:xfrm>
            <a:off x="3630168" y="1225296"/>
            <a:ext cx="237744" cy="18288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egend 2 text"/>
          <p:cNvSpPr/>
          <p:nvPr/>
        </p:nvSpPr>
        <p:spPr>
          <a:xfrm>
            <a:off x="3922776" y="1143000"/>
            <a:ext cx="320040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Seats (bar: share of the 577 seats)</a:t>
            </a:r>
          </a:p>
        </p:txBody>
      </p:sp>
      <p:sp>
        <p:nvSpPr>
          <p:cNvPr id="9" name="National Rally and allies votes bar"/>
          <p:cNvSpPr/>
          <p:nvPr/>
        </p:nvSpPr>
        <p:spPr>
          <a:xfrm>
            <a:off x="713232" y="2416487"/>
            <a:ext cx="658368" cy="2338393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National Rally and allies votes value"/>
          <p:cNvSpPr/>
          <p:nvPr/>
        </p:nvSpPr>
        <p:spPr>
          <a:xfrm>
            <a:off x="438912" y="2114735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33.2%</a:t>
            </a:r>
          </a:p>
        </p:txBody>
      </p:sp>
      <p:sp>
        <p:nvSpPr>
          <p:cNvPr id="11" name="National Rally and allies seats bar"/>
          <p:cNvSpPr/>
          <p:nvPr/>
        </p:nvSpPr>
        <p:spPr>
          <a:xfrm>
            <a:off x="1463040" y="3022216"/>
            <a:ext cx="658368" cy="1732664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ational Rally and allies seats value"/>
          <p:cNvSpPr/>
          <p:nvPr/>
        </p:nvSpPr>
        <p:spPr>
          <a:xfrm>
            <a:off x="1188720" y="2720464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142</a:t>
            </a:r>
          </a:p>
        </p:txBody>
      </p:sp>
      <p:sp>
        <p:nvSpPr>
          <p:cNvPr id="13" name="National Rally and allies label"/>
          <p:cNvSpPr/>
          <p:nvPr/>
        </p:nvSpPr>
        <p:spPr>
          <a:xfrm>
            <a:off x="457200" y="4800600"/>
            <a:ext cx="192024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National Rally and allies</a:t>
            </a:r>
          </a:p>
          <a:p>
            <a:pPr marL="0" indent="0" algn="ctr">
              <a:buNone/>
            </a:pPr>
            <a:r>
              <a:rPr sz="1150" b="0" i="0">
                <a:solidFill>
                  <a:srgbClr val="5C5C5C"/>
                </a:solidFill>
                <a:latin typeface="Calibri"/>
                <a:cs typeface="Calibri"/>
              </a:rPr>
              <a:t>radical right</a:t>
            </a:r>
          </a:p>
        </p:txBody>
      </p:sp>
      <p:sp>
        <p:nvSpPr>
          <p:cNvPr id="14" name="New Popular Front votes bar"/>
          <p:cNvSpPr/>
          <p:nvPr/>
        </p:nvSpPr>
        <p:spPr>
          <a:xfrm>
            <a:off x="2633472" y="2768655"/>
            <a:ext cx="658368" cy="1986225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ew Popular Front votes value"/>
          <p:cNvSpPr/>
          <p:nvPr/>
        </p:nvSpPr>
        <p:spPr>
          <a:xfrm>
            <a:off x="2359152" y="2466903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28.2%</a:t>
            </a:r>
          </a:p>
        </p:txBody>
      </p:sp>
      <p:sp>
        <p:nvSpPr>
          <p:cNvPr id="16" name="New Popular Front seats bar"/>
          <p:cNvSpPr/>
          <p:nvPr/>
        </p:nvSpPr>
        <p:spPr>
          <a:xfrm>
            <a:off x="3383280" y="2557354"/>
            <a:ext cx="658368" cy="2197526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ew Popular Front seats value"/>
          <p:cNvSpPr/>
          <p:nvPr/>
        </p:nvSpPr>
        <p:spPr>
          <a:xfrm>
            <a:off x="3108960" y="2255602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180</a:t>
            </a:r>
          </a:p>
        </p:txBody>
      </p:sp>
      <p:sp>
        <p:nvSpPr>
          <p:cNvPr id="18" name="New Popular Front label"/>
          <p:cNvSpPr/>
          <p:nvPr/>
        </p:nvSpPr>
        <p:spPr>
          <a:xfrm>
            <a:off x="2377440" y="4800600"/>
            <a:ext cx="192024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New Popular Front</a:t>
            </a:r>
          </a:p>
          <a:p>
            <a:pPr marL="0" indent="0" algn="ctr">
              <a:buNone/>
            </a:pPr>
            <a:r>
              <a:rPr sz="1150" b="0" i="0">
                <a:solidFill>
                  <a:srgbClr val="5C5C5C"/>
                </a:solidFill>
                <a:latin typeface="Calibri"/>
                <a:cs typeface="Calibri"/>
              </a:rPr>
              <a:t>the alliance of the left</a:t>
            </a:r>
          </a:p>
        </p:txBody>
      </p:sp>
      <p:sp>
        <p:nvSpPr>
          <p:cNvPr id="19" name="Ensemble votes bar"/>
          <p:cNvSpPr/>
          <p:nvPr/>
        </p:nvSpPr>
        <p:spPr>
          <a:xfrm>
            <a:off x="4553712" y="3254646"/>
            <a:ext cx="658368" cy="1500234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nsemble votes value"/>
          <p:cNvSpPr/>
          <p:nvPr/>
        </p:nvSpPr>
        <p:spPr>
          <a:xfrm>
            <a:off x="4279392" y="2952894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21.3%</a:t>
            </a:r>
          </a:p>
        </p:txBody>
      </p:sp>
      <p:sp>
        <p:nvSpPr>
          <p:cNvPr id="21" name="Ensemble seats bar"/>
          <p:cNvSpPr/>
          <p:nvPr/>
        </p:nvSpPr>
        <p:spPr>
          <a:xfrm>
            <a:off x="5303520" y="2810915"/>
            <a:ext cx="658368" cy="1943965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nsemble seats value"/>
          <p:cNvSpPr/>
          <p:nvPr/>
        </p:nvSpPr>
        <p:spPr>
          <a:xfrm>
            <a:off x="5029200" y="2509163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159</a:t>
            </a:r>
          </a:p>
        </p:txBody>
      </p:sp>
      <p:sp>
        <p:nvSpPr>
          <p:cNvPr id="23" name="Ensemble label"/>
          <p:cNvSpPr/>
          <p:nvPr/>
        </p:nvSpPr>
        <p:spPr>
          <a:xfrm>
            <a:off x="4297680" y="4800600"/>
            <a:ext cx="192024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Ensemble</a:t>
            </a:r>
          </a:p>
          <a:p>
            <a:pPr marL="0" indent="0" algn="ctr">
              <a:buNone/>
            </a:pPr>
            <a:r>
              <a:rPr sz="1150" b="0" i="0">
                <a:solidFill>
                  <a:srgbClr val="5C5C5C"/>
                </a:solidFill>
                <a:latin typeface="Calibri"/>
                <a:cs typeface="Calibri"/>
              </a:rPr>
              <a:t>President Emmanuel Macron’s alliance</a:t>
            </a:r>
          </a:p>
        </p:txBody>
      </p:sp>
      <p:sp>
        <p:nvSpPr>
          <p:cNvPr id="24" name="Republicans votes bar"/>
          <p:cNvSpPr/>
          <p:nvPr/>
        </p:nvSpPr>
        <p:spPr>
          <a:xfrm>
            <a:off x="6473952" y="4290019"/>
            <a:ext cx="658368" cy="464861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publicans votes value"/>
          <p:cNvSpPr/>
          <p:nvPr/>
        </p:nvSpPr>
        <p:spPr>
          <a:xfrm>
            <a:off x="6199632" y="3988267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6.6%</a:t>
            </a:r>
          </a:p>
        </p:txBody>
      </p:sp>
      <p:sp>
        <p:nvSpPr>
          <p:cNvPr id="26" name="Republicans seats bar"/>
          <p:cNvSpPr/>
          <p:nvPr/>
        </p:nvSpPr>
        <p:spPr>
          <a:xfrm>
            <a:off x="7223760" y="4275932"/>
            <a:ext cx="658368" cy="478948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publicans seats value"/>
          <p:cNvSpPr/>
          <p:nvPr/>
        </p:nvSpPr>
        <p:spPr>
          <a:xfrm>
            <a:off x="6949440" y="3974180"/>
            <a:ext cx="120700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321744"/>
                </a:solidFill>
                <a:latin typeface="Calibri"/>
                <a:cs typeface="Calibri"/>
              </a:rPr>
              <a:t>39</a:t>
            </a:r>
          </a:p>
        </p:txBody>
      </p:sp>
      <p:sp>
        <p:nvSpPr>
          <p:cNvPr id="28" name="Republicans label"/>
          <p:cNvSpPr/>
          <p:nvPr/>
        </p:nvSpPr>
        <p:spPr>
          <a:xfrm>
            <a:off x="6217920" y="4800600"/>
            <a:ext cx="192024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Republicans</a:t>
            </a:r>
          </a:p>
          <a:p>
            <a:pPr marL="0" indent="0" algn="ctr">
              <a:buNone/>
            </a:pPr>
            <a:r>
              <a:rPr sz="1150" b="0" i="0">
                <a:solidFill>
                  <a:srgbClr val="5C5C5C"/>
                </a:solidFill>
                <a:latin typeface="Calibri"/>
                <a:cs typeface="Calibri"/>
              </a:rPr>
              <a:t>center-right</a:t>
            </a:r>
          </a:p>
        </p:txBody>
      </p:sp>
      <p:cxnSp>
        <p:nvCxnSpPr>
          <p:cNvPr id="29" name="Baseline"/>
          <p:cNvCxnSpPr/>
          <p:nvPr/>
        </p:nvCxnSpPr>
        <p:spPr>
          <a:xfrm>
            <a:off x="457200" y="4754880"/>
            <a:ext cx="7680960" cy="0"/>
          </a:xfrm>
          <a:prstGeom prst="line">
            <a:avLst/>
          </a:prstGeom>
          <a:ln w="19050">
            <a:solidFill>
              <a:srgbClr val="32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Withdrawals card"/>
          <p:cNvSpPr/>
          <p:nvPr/>
        </p:nvSpPr>
        <p:spPr>
          <a:xfrm>
            <a:off x="8412480" y="1600200"/>
            <a:ext cx="3337560" cy="37033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ithdrawals card header"/>
          <p:cNvSpPr/>
          <p:nvPr/>
        </p:nvSpPr>
        <p:spPr>
          <a:xfrm>
            <a:off x="8412480" y="1600200"/>
            <a:ext cx="3337560" cy="438912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ithdrawals card header text"/>
          <p:cNvSpPr/>
          <p:nvPr/>
        </p:nvSpPr>
        <p:spPr>
          <a:xfrm>
            <a:off x="8412480" y="1600200"/>
            <a:ext cx="333756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BETWEEN THE ROUNDS</a:t>
            </a:r>
          </a:p>
        </p:txBody>
      </p:sp>
      <p:sp>
        <p:nvSpPr>
          <p:cNvPr id="33" name="Withdrawals card text"/>
          <p:cNvSpPr/>
          <p:nvPr/>
        </p:nvSpPr>
        <p:spPr>
          <a:xfrm>
            <a:off x="8586216" y="2148840"/>
            <a:ext cx="2990088" cy="3044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21744"/>
                </a:solidFill>
                <a:latin typeface="Calibri"/>
                <a:cs typeface="Calibri"/>
              </a:rPr>
              <a:t>Three or more candidates qualified in 311 districts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21744"/>
                </a:solidFill>
                <a:latin typeface="Calibri"/>
                <a:cs typeface="Calibri"/>
              </a:rPr>
              <a:t>216 candidates of the left and center withdrew, to unite against the National Rally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21744"/>
                </a:solidFill>
                <a:latin typeface="Calibri"/>
                <a:cs typeface="Calibri"/>
              </a:rPr>
              <a:t>Only 91 districts still had more than two candidates</a:t>
            </a:r>
          </a:p>
        </p:txBody>
      </p:sp>
      <p:sp>
        <p:nvSpPr>
          <p:cNvPr id="34" name="Footnote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sz="1350" b="0" i="1">
                <a:solidFill>
                  <a:srgbClr val="5C5C5C"/>
                </a:solidFill>
                <a:latin typeface="Calibri"/>
                <a:cs typeface="Calibri"/>
              </a:rPr>
              <a:t>577 seats, 289 for a majority: no bloc has one. The party that came first in votes came third in seats.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Proportional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100"/>
              <a:t>Most European countries use proportional representation (PR)</a:t>
            </a:r>
          </a:p>
          <a:p>
            <a:r>
              <a:rPr sz="2100"/>
              <a:t>The share of seats roughly equals the share of votes</a:t>
            </a:r>
          </a:p>
          <a:p>
            <a:pPr lvl="1"/>
            <a:r>
              <a:rPr sz="1800"/>
              <a:t>How closely depends on the size of the districts and on thresholds</a:t>
            </a:r>
          </a:p>
          <a:p>
            <a:r>
              <a:rPr sz="2100"/>
              <a:t>Several parties in parliament, and a wider range of views</a:t>
            </a:r>
          </a:p>
          <a:p>
            <a:r>
              <a:rPr sz="2100"/>
              <a:t>Easier for new parties to form and win seats</a:t>
            </a:r>
          </a:p>
          <a:p>
            <a:r>
              <a:rPr sz="2100"/>
              <a:t>Frequent coalition governments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05" y="384048"/>
            <a:ext cx="10058400" cy="1188720"/>
          </a:xfrm>
        </p:spPr>
        <p:txBody>
          <a:bodyPr/>
          <a:lstStyle/>
          <a:p>
            <a:r>
              <a:t>Open List or Closed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9320" y="1691640"/>
            <a:ext cx="5806440" cy="4023360"/>
          </a:xfrm>
        </p:spPr>
        <p:txBody>
          <a:bodyPr/>
          <a:lstStyle/>
          <a:p>
            <a:r>
              <a:rPr sz="2000"/>
              <a:t>Closed lists (Spain, Portugal): the party sets the order</a:t>
            </a:r>
          </a:p>
          <a:p>
            <a:pPr lvl="1"/>
            <a:r>
              <a:rPr sz="1700"/>
              <a:t>Wins 15 seats: the first 15 names are elected</a:t>
            </a:r>
          </a:p>
          <a:p>
            <a:r>
              <a:rPr sz="2000"/>
              <a:t>Open lists (Finland, Poland): voters’ preference votes decide who is elected</a:t>
            </a:r>
          </a:p>
          <a:p>
            <a:r>
              <a:rPr sz="2000"/>
              <a:t>Flexible lists (Sweden, the Netherlands): the party ranks, but a candidate with enough personal votes moves up</a:t>
            </a:r>
          </a:p>
          <a:p>
            <a:r>
              <a:rPr sz="2000"/>
              <a:t>Hands up: who should rank a party’s candidates, the party or its voters?</a:t>
            </a:r>
          </a:p>
        </p:txBody>
      </p:sp>
      <p:pic>
        <p:nvPicPr>
          <p:cNvPr id="4" name="Photo (Lecture 19.pptx, slide 18, picture 1)" descr="image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3217" y="1737360"/>
            <a:ext cx="4765766" cy="3520440"/>
          </a:xfrm>
          <a:prstGeom prst="rect">
            <a:avLst/>
          </a:prstGeom>
        </p:spPr>
      </p:pic>
      <p:sp>
        <p:nvSpPr>
          <p:cNvPr id="5" name="Photo caption"/>
          <p:cNvSpPr/>
          <p:nvPr/>
        </p:nvSpPr>
        <p:spPr>
          <a:xfrm>
            <a:off x="457200" y="5312664"/>
            <a:ext cx="5257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>
            <a:normAutofit/>
          </a:bodyPr>
          <a:lstStyle/>
          <a:p>
            <a:pPr marL="0" indent="0" algn="ctr">
              <a:buNone/>
            </a:pPr>
            <a:r>
              <a:rPr sz="1150" b="0" i="1">
                <a:solidFill>
                  <a:srgbClr val="321744"/>
                </a:solidFill>
                <a:latin typeface="Calibri"/>
                <a:cs typeface="Calibri"/>
              </a:rPr>
              <a:t>A Social Democratic ballot for a Swedish municipal council: “You may mark only one of these candidates”</a:t>
            </a:r>
          </a:p>
        </p:txBody>
      </p:sp>
      <p:sp>
        <p:nvSpPr>
          <p:cNvPr id="6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FFFFFF"/>
                </a:solidFill>
                <a:latin typeface="Calibri"/>
              </a:rPr>
              <a:t>From today’s reading: Gallagher and Mitchell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or Not?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Kicker"/>
          <p:cNvSpPr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F3672A"/>
                </a:solidFill>
                <a:latin typeface="Calibri"/>
                <a:cs typeface="Calibri"/>
              </a:rPr>
              <a:t>ACTIVITY</a:t>
            </a:r>
          </a:p>
        </p:txBody>
      </p:sp>
      <p:sp>
        <p:nvSpPr>
          <p:cNvPr id="5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321744"/>
                </a:solidFill>
                <a:latin typeface="Calibri"/>
                <a:cs typeface="Calibri"/>
              </a:rPr>
              <a:t>Threshold or not? </a:t>
            </a:r>
          </a:p>
        </p:txBody>
      </p:sp>
      <p:sp>
        <p:nvSpPr>
          <p:cNvPr id="6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Gallagher and Mitchell</a:t>
            </a:r>
          </a:p>
        </p:txBody>
      </p:sp>
      <p:sp>
        <p:nvSpPr>
          <p:cNvPr id="7" name="Case for"/>
          <p:cNvSpPr/>
          <p:nvPr/>
        </p:nvSpPr>
        <p:spPr>
          <a:xfrm>
            <a:off x="457200" y="987552"/>
            <a:ext cx="1127455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1450" b="0" i="1">
                <a:solidFill>
                  <a:srgbClr val="5C5C5C"/>
                </a:solidFill>
                <a:latin typeface="Calibri"/>
                <a:cs typeface="Calibri"/>
              </a:rPr>
              <a:t>The case for a threshold: “preventing excessive fragmentation and thereby making it easier to form stable governments.”</a:t>
            </a:r>
          </a:p>
        </p:txBody>
      </p:sp>
      <p:sp>
        <p:nvSpPr>
          <p:cNvPr id="8" name="Threshold case 1"/>
          <p:cNvSpPr/>
          <p:nvPr/>
        </p:nvSpPr>
        <p:spPr>
          <a:xfrm>
            <a:off x="457200" y="1389888"/>
            <a:ext cx="3703320" cy="30175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hreshold case 1 header"/>
          <p:cNvSpPr/>
          <p:nvPr/>
        </p:nvSpPr>
        <p:spPr>
          <a:xfrm>
            <a:off x="457200" y="1389888"/>
            <a:ext cx="3703320" cy="411480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hreshold case 1 header text"/>
          <p:cNvSpPr/>
          <p:nvPr/>
        </p:nvSpPr>
        <p:spPr>
          <a:xfrm>
            <a:off x="457200" y="1389888"/>
            <a:ext cx="37033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THE NETHERLANDS: NO THRESHOLD</a:t>
            </a:r>
          </a:p>
        </p:txBody>
      </p:sp>
      <p:sp>
        <p:nvSpPr>
          <p:cNvPr id="11" name="Threshold case 1 text"/>
          <p:cNvSpPr/>
          <p:nvPr/>
        </p:nvSpPr>
        <p:spPr>
          <a:xfrm>
            <a:off x="630936" y="1856232"/>
            <a:ext cx="3355848" cy="2441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750" b="1" i="0">
                <a:solidFill>
                  <a:srgbClr val="321744"/>
                </a:solidFill>
                <a:latin typeface="Calibri"/>
                <a:cs typeface="Calibri"/>
              </a:rPr>
              <a:t>0.67% of the vote wins a seat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15 parties won seats in 2025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The largest has 26 of 150 seats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Forming a government took 117 days</a:t>
            </a:r>
          </a:p>
        </p:txBody>
      </p:sp>
      <p:sp>
        <p:nvSpPr>
          <p:cNvPr id="12" name="Threshold case 2"/>
          <p:cNvSpPr/>
          <p:nvPr/>
        </p:nvSpPr>
        <p:spPr>
          <a:xfrm>
            <a:off x="4288536" y="1389888"/>
            <a:ext cx="3703320" cy="30175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hreshold case 2 header"/>
          <p:cNvSpPr/>
          <p:nvPr/>
        </p:nvSpPr>
        <p:spPr>
          <a:xfrm>
            <a:off x="4288536" y="1389888"/>
            <a:ext cx="3703320" cy="411480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hreshold case 2 header text"/>
          <p:cNvSpPr/>
          <p:nvPr/>
        </p:nvSpPr>
        <p:spPr>
          <a:xfrm>
            <a:off x="4288536" y="1389888"/>
            <a:ext cx="37033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GERMANY: 5%</a:t>
            </a:r>
          </a:p>
        </p:txBody>
      </p:sp>
      <p:sp>
        <p:nvSpPr>
          <p:cNvPr id="15" name="Threshold case 2 text"/>
          <p:cNvSpPr/>
          <p:nvPr/>
        </p:nvSpPr>
        <p:spPr>
          <a:xfrm>
            <a:off x="4462272" y="1856232"/>
            <a:ext cx="3355848" cy="2441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750" b="1" i="0" dirty="0">
                <a:solidFill>
                  <a:srgbClr val="321744"/>
                </a:solidFill>
                <a:latin typeface="Calibri"/>
                <a:cs typeface="Calibri"/>
              </a:rPr>
              <a:t>Or win three districts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 dirty="0">
                <a:solidFill>
                  <a:srgbClr val="321744"/>
                </a:solidFill>
                <a:latin typeface="Calibri"/>
                <a:cs typeface="Calibri"/>
              </a:rPr>
              <a:t>2025: the BSW won 4.98% and no seats. It was 9,529 votes short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 dirty="0">
                <a:solidFill>
                  <a:srgbClr val="321744"/>
                </a:solidFill>
                <a:latin typeface="Calibri"/>
                <a:cs typeface="Calibri"/>
              </a:rPr>
              <a:t>13.9% of voters chose a party that won </a:t>
            </a:r>
            <a:r>
              <a:rPr lang="en-US" sz="1550" b="0" i="0" dirty="0">
                <a:solidFill>
                  <a:srgbClr val="321744"/>
                </a:solidFill>
                <a:latin typeface="Calibri"/>
                <a:cs typeface="Calibri"/>
              </a:rPr>
              <a:t>no seats</a:t>
            </a:r>
            <a:endParaRPr sz="1550" b="0" i="0" dirty="0">
              <a:solidFill>
                <a:srgbClr val="321744"/>
              </a:solidFill>
              <a:latin typeface="Calibri"/>
              <a:cs typeface="Calibri"/>
            </a:endParaRP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 dirty="0">
                <a:solidFill>
                  <a:srgbClr val="321744"/>
                </a:solidFill>
                <a:latin typeface="Calibri"/>
                <a:cs typeface="Calibri"/>
              </a:rPr>
              <a:t>With the BSW in, today’s two-party government would have no majority</a:t>
            </a:r>
          </a:p>
        </p:txBody>
      </p:sp>
      <p:sp>
        <p:nvSpPr>
          <p:cNvPr id="16" name="Threshold case 3"/>
          <p:cNvSpPr/>
          <p:nvPr/>
        </p:nvSpPr>
        <p:spPr>
          <a:xfrm>
            <a:off x="8119872" y="1389888"/>
            <a:ext cx="3703320" cy="30175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5B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hreshold case 3 header"/>
          <p:cNvSpPr/>
          <p:nvPr/>
        </p:nvSpPr>
        <p:spPr>
          <a:xfrm>
            <a:off x="8119872" y="1389888"/>
            <a:ext cx="3703320" cy="411480"/>
          </a:xfrm>
          <a:prstGeom prst="roundRect">
            <a:avLst>
              <a:gd name="adj" fmla="val 18000"/>
            </a:avLst>
          </a:prstGeom>
          <a:solidFill>
            <a:srgbClr val="5B4468"/>
          </a:solidFill>
          <a:ln w="31750">
            <a:solidFill>
              <a:srgbClr val="5B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hreshold case 3 header text"/>
          <p:cNvSpPr/>
          <p:nvPr/>
        </p:nvSpPr>
        <p:spPr>
          <a:xfrm>
            <a:off x="8119872" y="1389888"/>
            <a:ext cx="37033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TURKEY, 2002: 10%</a:t>
            </a:r>
          </a:p>
        </p:txBody>
      </p:sp>
      <p:sp>
        <p:nvSpPr>
          <p:cNvPr id="19" name="Threshold case 3 text"/>
          <p:cNvSpPr/>
          <p:nvPr/>
        </p:nvSpPr>
        <p:spPr>
          <a:xfrm>
            <a:off x="8293608" y="1856232"/>
            <a:ext cx="3355848" cy="2441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750" b="1" i="0" dirty="0">
                <a:solidFill>
                  <a:srgbClr val="321744"/>
                </a:solidFill>
                <a:latin typeface="Calibri"/>
                <a:cs typeface="Calibri"/>
              </a:rPr>
              <a:t>Two parties cleared 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 dirty="0">
                <a:solidFill>
                  <a:srgbClr val="321744"/>
                </a:solidFill>
                <a:latin typeface="Calibri"/>
                <a:cs typeface="Calibri"/>
              </a:rPr>
              <a:t>46% of votes went to parties that won no seats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 dirty="0">
                <a:solidFill>
                  <a:srgbClr val="321744"/>
                </a:solidFill>
                <a:latin typeface="Calibri"/>
                <a:cs typeface="Calibri"/>
              </a:rPr>
              <a:t>The winner, the AKP, took 66% of the seats with 34% of the vote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sz="1550" b="0" i="0" dirty="0">
                <a:solidFill>
                  <a:srgbClr val="321744"/>
                </a:solidFill>
                <a:latin typeface="Calibri"/>
                <a:cs typeface="Calibri"/>
              </a:rPr>
              <a:t>The threshold has been 7% since 2022</a:t>
            </a:r>
          </a:p>
        </p:txBody>
      </p:sp>
      <p:sp>
        <p:nvSpPr>
          <p:cNvPr id="21" name="Vote question"/>
          <p:cNvSpPr/>
          <p:nvPr/>
        </p:nvSpPr>
        <p:spPr>
          <a:xfrm>
            <a:off x="640080" y="4544568"/>
            <a:ext cx="576072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800" b="1" i="0" dirty="0">
                <a:solidFill>
                  <a:srgbClr val="FFFFFF"/>
                </a:solidFill>
                <a:latin typeface="Calibri"/>
                <a:cs typeface="Calibri"/>
              </a:rPr>
              <a:t>What threshold should tonight’s election have?</a:t>
            </a:r>
          </a:p>
        </p:txBody>
      </p:sp>
      <p:sp>
        <p:nvSpPr>
          <p:cNvPr id="22" name="Vote option 1"/>
          <p:cNvSpPr/>
          <p:nvPr/>
        </p:nvSpPr>
        <p:spPr>
          <a:xfrm>
            <a:off x="6537960" y="4700016"/>
            <a:ext cx="11430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rmAutofit/>
          </a:bodyPr>
          <a:lstStyle/>
          <a:p>
            <a:pPr marL="0" indent="0" algn="ctr">
              <a:buNone/>
            </a:pPr>
            <a:endParaRPr sz="1800" b="1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23" name="Vote option 2"/>
          <p:cNvSpPr/>
          <p:nvPr/>
        </p:nvSpPr>
        <p:spPr>
          <a:xfrm>
            <a:off x="7109460" y="4720564"/>
            <a:ext cx="11430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rmAutofit/>
          </a:bodyPr>
          <a:lstStyle/>
          <a:p>
            <a:pPr marL="0" indent="0" algn="ctr">
              <a:buNone/>
            </a:pPr>
            <a:endParaRPr sz="1800" b="1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24" name="Vote option 3"/>
          <p:cNvSpPr/>
          <p:nvPr/>
        </p:nvSpPr>
        <p:spPr>
          <a:xfrm>
            <a:off x="9098280" y="4700016"/>
            <a:ext cx="11430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rmAutofit/>
          </a:bodyPr>
          <a:lstStyle/>
          <a:p>
            <a:pPr marL="0" indent="0" algn="ctr">
              <a:buNone/>
            </a:pPr>
            <a:endParaRPr sz="1800" b="1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25" name="Vote option 4"/>
          <p:cNvSpPr/>
          <p:nvPr/>
        </p:nvSpPr>
        <p:spPr>
          <a:xfrm>
            <a:off x="10378440" y="4700016"/>
            <a:ext cx="11430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rmAutofit/>
          </a:bodyPr>
          <a:lstStyle/>
          <a:p>
            <a:pPr marL="0" indent="0" algn="ctr">
              <a:buNone/>
            </a:pPr>
            <a:endParaRPr sz="1800" b="1" i="0" dirty="0">
              <a:solidFill>
                <a:srgbClr val="321744"/>
              </a:solidFill>
              <a:latin typeface="Calibri"/>
              <a:cs typeface="Calibri"/>
            </a:endParaRPr>
          </a:p>
        </p:txBody>
      </p:sp>
      <p:sp>
        <p:nvSpPr>
          <p:cNvPr id="26" name="Footnote"/>
          <p:cNvSpPr/>
          <p:nvPr/>
        </p:nvSpPr>
        <p:spPr>
          <a:xfrm>
            <a:off x="457200" y="5504688"/>
            <a:ext cx="1127455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sz="1400" b="0" i="1" dirty="0">
                <a:solidFill>
                  <a:srgbClr val="5C5C5C"/>
                </a:solidFill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Spain’s Hidden Threshold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Spain’s hidden threshold</a:t>
            </a:r>
          </a:p>
        </p:txBody>
      </p:sp>
      <p:sp>
        <p:nvSpPr>
          <p:cNvPr id="5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Gallagher and Mitchell</a:t>
            </a:r>
          </a:p>
        </p:txBody>
      </p:sp>
      <p:pic>
        <p:nvPicPr>
          <p:cNvPr id="6" name="Photo (Lecture 14.pptx, slide 13, picture 1)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2405" y="1143000"/>
            <a:ext cx="6358990" cy="4617720"/>
          </a:xfrm>
          <a:prstGeom prst="rect">
            <a:avLst/>
          </a:prstGeom>
        </p:spPr>
      </p:pic>
      <p:sp>
        <p:nvSpPr>
          <p:cNvPr id="7" name="Map caption"/>
          <p:cNvSpPr/>
          <p:nvPr/>
        </p:nvSpPr>
        <p:spPr>
          <a:xfrm>
            <a:off x="365760" y="5788152"/>
            <a:ext cx="6812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buNone/>
            </a:pPr>
            <a:r>
              <a:rPr sz="1300" b="0" i="1">
                <a:solidFill>
                  <a:srgbClr val="321744"/>
                </a:solidFill>
                <a:latin typeface="Calibri"/>
                <a:cs typeface="Calibri"/>
              </a:rPr>
              <a:t>Spain implicitly has a threshold by splitting into 52 electoral constituencies</a:t>
            </a:r>
          </a:p>
        </p:txBody>
      </p:sp>
      <p:sp>
        <p:nvSpPr>
          <p:cNvPr id="8" name="Spain stat"/>
          <p:cNvSpPr/>
          <p:nvPr/>
        </p:nvSpPr>
        <p:spPr>
          <a:xfrm>
            <a:off x="7452360" y="1188720"/>
            <a:ext cx="4297680" cy="1005840"/>
          </a:xfrm>
          <a:prstGeom prst="roundRect">
            <a:avLst>
              <a:gd name="adj" fmla="val 12000"/>
            </a:avLst>
          </a:prstGeom>
          <a:solidFill>
            <a:srgbClr val="FFF6F0"/>
          </a:solidFill>
          <a:ln w="190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2300" b="1" i="0">
                <a:solidFill>
                  <a:srgbClr val="321744"/>
                </a:solidFill>
                <a:latin typeface="Calibri"/>
                <a:cs typeface="Calibri"/>
              </a:rPr>
              <a:t>350 seats in 52 districts</a:t>
            </a:r>
          </a:p>
          <a:p>
            <a:pPr marL="0" indent="0" algn="ctr">
              <a:buNone/>
            </a:pPr>
            <a:r>
              <a:rPr sz="1500" b="0" i="0">
                <a:solidFill>
                  <a:srgbClr val="321744"/>
                </a:solidFill>
                <a:latin typeface="Calibri"/>
                <a:cs typeface="Calibri"/>
              </a:rPr>
              <a:t>6.7 seats per district on average</a:t>
            </a:r>
          </a:p>
        </p:txBody>
      </p:sp>
      <p:sp>
        <p:nvSpPr>
          <p:cNvPr id="9" name="Threshold card"/>
          <p:cNvSpPr/>
          <p:nvPr/>
        </p:nvSpPr>
        <p:spPr>
          <a:xfrm>
            <a:off x="7452360" y="2331720"/>
            <a:ext cx="4297680" cy="237744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hreshold card header"/>
          <p:cNvSpPr/>
          <p:nvPr/>
        </p:nvSpPr>
        <p:spPr>
          <a:xfrm>
            <a:off x="7452360" y="2331720"/>
            <a:ext cx="4297680" cy="411480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hreshold card header text"/>
          <p:cNvSpPr/>
          <p:nvPr/>
        </p:nvSpPr>
        <p:spPr>
          <a:xfrm>
            <a:off x="7452360" y="2331720"/>
            <a:ext cx="42976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THE EFFECTIVE THRESHOLD</a:t>
            </a:r>
          </a:p>
        </p:txBody>
      </p:sp>
      <p:sp>
        <p:nvSpPr>
          <p:cNvPr id="12" name="Threshold card text"/>
          <p:cNvSpPr/>
          <p:nvPr/>
        </p:nvSpPr>
        <p:spPr>
          <a:xfrm>
            <a:off x="7626096" y="2798064"/>
            <a:ext cx="3950208" cy="1801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800" b="1" i="0">
                <a:solidFill>
                  <a:srgbClr val="321744"/>
                </a:solidFill>
                <a:latin typeface="Calibri"/>
                <a:cs typeface="Calibri"/>
              </a:rPr>
              <a:t>About 75 ÷ (seats + 1)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600" b="0" i="0">
                <a:solidFill>
                  <a:srgbClr val="321744"/>
                </a:solidFill>
                <a:latin typeface="Calibri"/>
                <a:cs typeface="Calibri"/>
              </a:rPr>
              <a:t>2 seats: 25% of the vote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600" b="0" i="0">
                <a:solidFill>
                  <a:srgbClr val="321744"/>
                </a:solidFill>
                <a:latin typeface="Calibri"/>
                <a:cs typeface="Calibri"/>
              </a:rPr>
              <a:t>5 seats: 12.5%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600" b="0" i="0">
                <a:solidFill>
                  <a:srgbClr val="321744"/>
                </a:solidFill>
                <a:latin typeface="Calibri"/>
                <a:cs typeface="Calibri"/>
              </a:rPr>
              <a:t>10 seats: 6.8%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600" b="0" i="0">
                <a:solidFill>
                  <a:srgbClr val="321744"/>
                </a:solidFill>
                <a:latin typeface="Calibri"/>
                <a:cs typeface="Calibri"/>
              </a:rPr>
              <a:t>37 seats (Madrid): 2%</a:t>
            </a:r>
          </a:p>
        </p:txBody>
      </p:sp>
      <p:sp>
        <p:nvSpPr>
          <p:cNvPr id="13" name="Spain result"/>
          <p:cNvSpPr/>
          <p:nvPr/>
        </p:nvSpPr>
        <p:spPr>
          <a:xfrm>
            <a:off x="7452360" y="4846320"/>
            <a:ext cx="4297680" cy="1234440"/>
          </a:xfrm>
          <a:prstGeom prst="roundRect">
            <a:avLst>
              <a:gd name="adj" fmla="val 12000"/>
            </a:avLst>
          </a:prstGeom>
          <a:solidFill>
            <a:srgbClr val="F9C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>
            <a:norm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1200" b="1" i="0">
                <a:solidFill>
                  <a:srgbClr val="5C5C5C"/>
                </a:solidFill>
                <a:latin typeface="Calibri"/>
                <a:cs typeface="Calibri"/>
              </a:rPr>
              <a:t>2023</a:t>
            </a:r>
          </a:p>
          <a:p>
            <a:pPr marL="0" indent="0" algn="l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The People’s Party: 33.1% of the vote, 39.1% of the seats. Vox: 12.4% of the vote, 9.4% of the seats.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MMP Explainer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Mixed-member proportional representation: two votes</a:t>
            </a:r>
          </a:p>
        </p:txBody>
      </p:sp>
      <p:sp>
        <p:nvSpPr>
          <p:cNvPr id="5" name="MMP video card">
            <a:hlinkClick r:id="rId2"/>
          </p:cNvPr>
          <p:cNvSpPr/>
          <p:nvPr/>
        </p:nvSpPr>
        <p:spPr>
          <a:xfrm>
            <a:off x="457200" y="1234440"/>
            <a:ext cx="6583680" cy="4297680"/>
          </a:xfrm>
          <a:prstGeom prst="roundRect">
            <a:avLst>
              <a:gd name="adj" fmla="val 4000"/>
            </a:avLst>
          </a:prstGeom>
          <a:solidFill>
            <a:srgbClr val="301A41"/>
          </a:solidFill>
          <a:ln w="1270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MMP video poster frame (Lecture 14.pptx, slide 14, picture 1)" descr="image.jpg">
            <a:hlinkClick r:id="rId2"/>
          </p:cNvPr>
          <p:cNvPicPr>
            <a:picLocks noChangeAspect="1"/>
          </p:cNvPicPr>
          <p:nvPr/>
        </p:nvPicPr>
        <p:blipFill>
          <a:blip r:embed="rId3"/>
          <a:srcRect t="4985" b="4985"/>
          <a:stretch>
            <a:fillRect/>
          </a:stretch>
        </p:blipFill>
        <p:spPr>
          <a:xfrm>
            <a:off x="585216" y="1362456"/>
            <a:ext cx="6327648" cy="3218688"/>
          </a:xfrm>
          <a:prstGeom prst="rect">
            <a:avLst/>
          </a:prstGeom>
        </p:spPr>
      </p:pic>
      <p:sp>
        <p:nvSpPr>
          <p:cNvPr id="7" name="MMP video play circle">
            <a:hlinkClick r:id="rId2"/>
          </p:cNvPr>
          <p:cNvSpPr/>
          <p:nvPr/>
        </p:nvSpPr>
        <p:spPr>
          <a:xfrm>
            <a:off x="3200400" y="2423160"/>
            <a:ext cx="1097280" cy="1097280"/>
          </a:xfrm>
          <a:prstGeom prst="ellipse">
            <a:avLst/>
          </a:prstGeom>
          <a:solidFill>
            <a:srgbClr val="F3672A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MP video play triangle">
            <a:hlinkClick r:id="rId2"/>
          </p:cNvPr>
          <p:cNvSpPr/>
          <p:nvPr/>
        </p:nvSpPr>
        <p:spPr>
          <a:xfrm rot="5400000">
            <a:off x="3566160" y="2724912"/>
            <a:ext cx="420624" cy="493776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MP video card text">
            <a:hlinkClick r:id="rId2"/>
          </p:cNvPr>
          <p:cNvSpPr/>
          <p:nvPr/>
        </p:nvSpPr>
        <p:spPr>
          <a:xfrm>
            <a:off x="640080" y="4654296"/>
            <a:ext cx="6217920" cy="804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sz="1900" b="1" i="0" dirty="0">
                <a:solidFill>
                  <a:srgbClr val="FFFFFF"/>
                </a:solidFill>
                <a:latin typeface="Calibri"/>
                <a:cs typeface="Calibri"/>
              </a:rPr>
              <a:t>Mixed-Member Proportional Representation Explained</a:t>
            </a:r>
          </a:p>
          <a:p>
            <a:pPr marL="0" indent="0" algn="ctr">
              <a:buNone/>
            </a:pPr>
            <a:r>
              <a:rPr sz="1450" b="0" i="0" dirty="0">
                <a:solidFill>
                  <a:srgbClr val="FFFFFF"/>
                </a:solidFill>
                <a:latin typeface="Calibri"/>
                <a:cs typeface="Calibri"/>
              </a:rPr>
              <a:t>CGP Grey · ▶ Plays in full</a:t>
            </a:r>
          </a:p>
        </p:txBody>
      </p:sp>
      <p:sp>
        <p:nvSpPr>
          <p:cNvPr id="10" name="MMP video fallback"/>
          <p:cNvSpPr/>
          <p:nvPr/>
        </p:nvSpPr>
        <p:spPr>
          <a:xfrm>
            <a:off x="457200" y="5568696"/>
            <a:ext cx="6583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100" b="0" i="0" dirty="0">
                <a:solidFill>
                  <a:srgbClr val="5C5C5C"/>
                </a:solidFill>
                <a:latin typeface="Calibri"/>
                <a:cs typeface="Calibri"/>
              </a:rPr>
              <a:t>Click the card to play · fallback: </a:t>
            </a:r>
            <a:r>
              <a:rPr sz="1100" b="0" i="0" dirty="0" err="1">
                <a:solidFill>
                  <a:srgbClr val="5C5C5C"/>
                </a:solidFill>
                <a:latin typeface="Calibri"/>
                <a:cs typeface="Calibri"/>
              </a:rPr>
              <a:t>youtube.com</a:t>
            </a:r>
            <a:r>
              <a:rPr sz="1100" b="0" i="0" dirty="0">
                <a:solidFill>
                  <a:srgbClr val="5C5C5C"/>
                </a:solidFill>
                <a:latin typeface="Calibri"/>
                <a:cs typeface="Calibri"/>
              </a:rPr>
              <a:t>/</a:t>
            </a:r>
            <a:r>
              <a:rPr sz="1100" b="0" i="0" dirty="0" err="1">
                <a:solidFill>
                  <a:srgbClr val="5C5C5C"/>
                </a:solidFill>
                <a:latin typeface="Calibri"/>
                <a:cs typeface="Calibri"/>
              </a:rPr>
              <a:t>watch?v</a:t>
            </a:r>
            <a:r>
              <a:rPr sz="1100" b="0" i="0" dirty="0">
                <a:solidFill>
                  <a:srgbClr val="5C5C5C"/>
                </a:solidFill>
                <a:latin typeface="Calibri"/>
                <a:cs typeface="Calibri"/>
              </a:rPr>
              <a:t>=QT0I-sdoSXU</a:t>
            </a:r>
          </a:p>
        </p:txBody>
      </p:sp>
      <p:pic>
        <p:nvPicPr>
          <p:cNvPr id="11" name="Photo (Lecture 14.pptx, slide 15, picture 1)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60920" y="1301039"/>
            <a:ext cx="2103120" cy="3021482"/>
          </a:xfrm>
          <a:prstGeom prst="rect">
            <a:avLst/>
          </a:prstGeom>
          <a:ln w="19050">
            <a:solidFill>
              <a:srgbClr val="BFBFBF"/>
            </a:solidFill>
          </a:ln>
        </p:spPr>
      </p:pic>
      <p:pic>
        <p:nvPicPr>
          <p:cNvPr id="12" name="Photo (Lecture 14.pptx, slide 15, picture 2)" descr="image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46920" y="1246344"/>
            <a:ext cx="2103120" cy="3130871"/>
          </a:xfrm>
          <a:prstGeom prst="rect">
            <a:avLst/>
          </a:prstGeom>
          <a:ln w="19050">
            <a:solidFill>
              <a:srgbClr val="BFBFBF"/>
            </a:solidFill>
          </a:ln>
        </p:spPr>
      </p:pic>
      <p:sp>
        <p:nvSpPr>
          <p:cNvPr id="13" name="Ballot caption 1"/>
          <p:cNvSpPr/>
          <p:nvPr/>
        </p:nvSpPr>
        <p:spPr>
          <a:xfrm>
            <a:off x="7269480" y="4368241"/>
            <a:ext cx="228600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buNone/>
            </a:pPr>
            <a:r>
              <a:rPr sz="1200" b="0" i="1">
                <a:solidFill>
                  <a:srgbClr val="321744"/>
                </a:solidFill>
                <a:latin typeface="Calibri"/>
                <a:cs typeface="Calibri"/>
              </a:rPr>
              <a:t>Germany, 2005: the first vote is for a district candidate, the second for a party</a:t>
            </a:r>
          </a:p>
        </p:txBody>
      </p:sp>
      <p:sp>
        <p:nvSpPr>
          <p:cNvPr id="14" name="Ballot caption 2"/>
          <p:cNvSpPr/>
          <p:nvPr/>
        </p:nvSpPr>
        <p:spPr>
          <a:xfrm>
            <a:off x="9555480" y="4422936"/>
            <a:ext cx="228600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buNone/>
            </a:pPr>
            <a:r>
              <a:rPr sz="1200" b="0" i="1">
                <a:solidFill>
                  <a:srgbClr val="321744"/>
                </a:solidFill>
                <a:latin typeface="Calibri"/>
                <a:cs typeface="Calibri"/>
              </a:rPr>
              <a:t>New Zealand: a party vote and an electorate vote</a:t>
            </a:r>
          </a:p>
        </p:txBody>
      </p:sp>
      <p:sp>
        <p:nvSpPr>
          <p:cNvPr id="15" name="Ballot note"/>
          <p:cNvSpPr/>
          <p:nvPr/>
        </p:nvSpPr>
        <p:spPr>
          <a:xfrm>
            <a:off x="7269480" y="5257800"/>
            <a:ext cx="4526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321744"/>
                </a:solidFill>
                <a:latin typeface="Calibri"/>
                <a:cs typeface="Calibri"/>
              </a:rPr>
              <a:t>Both ballots begin with the same words: “You have 2 votes.”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05" y="384048"/>
            <a:ext cx="10058400" cy="1188720"/>
          </a:xfrm>
        </p:spPr>
        <p:txBody>
          <a:bodyPr>
            <a:normAutofit fontScale="90000"/>
          </a:bodyPr>
          <a:lstStyle/>
          <a:p>
            <a:r>
              <a:t>Mixed-Member Systems: The Best of Both Worlds?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9320" y="1691640"/>
            <a:ext cx="5806440" cy="4023360"/>
          </a:xfrm>
        </p:spPr>
        <p:txBody>
          <a:bodyPr/>
          <a:lstStyle/>
          <a:p>
            <a:r>
              <a:rPr sz="2000" dirty="0"/>
              <a:t>You get a local member from your first vote</a:t>
            </a:r>
          </a:p>
          <a:p>
            <a:r>
              <a:rPr sz="2000" dirty="0"/>
              <a:t>List seats bring each party up to its share of the party vote</a:t>
            </a:r>
          </a:p>
          <a:p>
            <a:r>
              <a:rPr lang="en-US" sz="2000" dirty="0"/>
              <a:t>Gallagher and Mitchell</a:t>
            </a:r>
            <a:r>
              <a:rPr sz="2000" dirty="0"/>
              <a:t>: a way to “have our cake and eat it”</a:t>
            </a:r>
          </a:p>
          <a:p>
            <a:r>
              <a:rPr sz="2000" dirty="0"/>
              <a:t>Germany since 2023: 630 seats, shared out by the party vote alone</a:t>
            </a:r>
          </a:p>
          <a:p>
            <a:pPr lvl="1"/>
            <a:r>
              <a:rPr sz="1700" dirty="0"/>
              <a:t>In 2025, 23 district winners got no seat</a:t>
            </a:r>
          </a:p>
          <a:p>
            <a:r>
              <a:rPr lang="en-US" sz="2000" dirty="0"/>
              <a:t>How important is local representation?</a:t>
            </a:r>
            <a:endParaRPr sz="2000" dirty="0"/>
          </a:p>
        </p:txBody>
      </p:sp>
      <p:pic>
        <p:nvPicPr>
          <p:cNvPr id="4" name="Photo (Lecture 11.pptx, slide 10, picture 1)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1918141"/>
            <a:ext cx="5257800" cy="3158878"/>
          </a:xfrm>
          <a:prstGeom prst="rect">
            <a:avLst/>
          </a:prstGeom>
        </p:spPr>
      </p:pic>
      <p:sp>
        <p:nvSpPr>
          <p:cNvPr id="5" name="Photo caption"/>
          <p:cNvSpPr/>
          <p:nvPr/>
        </p:nvSpPr>
        <p:spPr>
          <a:xfrm>
            <a:off x="457200" y="5131883"/>
            <a:ext cx="5257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>
            <a:normAutofit/>
          </a:bodyPr>
          <a:lstStyle/>
          <a:p>
            <a:pPr marL="0" indent="0" algn="ctr">
              <a:buNone/>
            </a:pPr>
            <a:r>
              <a:rPr sz="1150" b="0" i="1">
                <a:solidFill>
                  <a:srgbClr val="321744"/>
                </a:solidFill>
                <a:latin typeface="Calibri"/>
                <a:cs typeface="Calibri"/>
              </a:rPr>
              <a:t>Friedrich Merz (CDU), chancellor of Germany. Fifteen CDU district winners got no seat in 2025</a:t>
            </a:r>
          </a:p>
        </p:txBody>
      </p:sp>
      <p:sp>
        <p:nvSpPr>
          <p:cNvPr id="6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FFFFFF"/>
                </a:solidFill>
                <a:latin typeface="Calibri"/>
              </a:rPr>
              <a:t>From today’s reading: Gallagher and Mitchell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Votes, Three Parliaments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"/>
          <p:cNvSpPr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F3672A"/>
                </a:solidFill>
                <a:latin typeface="Calibri"/>
                <a:cs typeface="Calibri"/>
              </a:rPr>
              <a:t>ACTIVITY</a:t>
            </a:r>
          </a:p>
        </p:txBody>
      </p:sp>
      <p:sp>
        <p:nvSpPr>
          <p:cNvPr id="5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Same votes, three parliaments: Britain, 2024</a:t>
            </a:r>
          </a:p>
        </p:txBody>
      </p:sp>
      <p:sp>
        <p:nvSpPr>
          <p:cNvPr id="6" name="Task"/>
          <p:cNvSpPr/>
          <p:nvPr/>
        </p:nvSpPr>
        <p:spPr>
          <a:xfrm>
            <a:off x="457200" y="987552"/>
            <a:ext cx="1127455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500" b="1" i="0">
                <a:solidFill>
                  <a:srgbClr val="321744"/>
                </a:solidFill>
                <a:latin typeface="Calibri"/>
                <a:cs typeface="Calibri"/>
              </a:rPr>
              <a:t>In pairs, before the click: 650 seats. Labour won 33.7% of the vote and Reform UK 14.3%. How many seats each, if seats matched votes?</a:t>
            </a:r>
          </a:p>
        </p:txBody>
      </p:sp>
      <p:sp>
        <p:nvSpPr>
          <p:cNvPr id="7" name="Legend 1"/>
          <p:cNvSpPr/>
          <p:nvPr/>
        </p:nvSpPr>
        <p:spPr>
          <a:xfrm>
            <a:off x="548640" y="1453896"/>
            <a:ext cx="237744" cy="18288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egend 1 text"/>
          <p:cNvSpPr/>
          <p:nvPr/>
        </p:nvSpPr>
        <p:spPr>
          <a:xfrm>
            <a:off x="841248" y="1371600"/>
            <a:ext cx="3154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First past the post: the real result</a:t>
            </a:r>
          </a:p>
        </p:txBody>
      </p:sp>
      <p:sp>
        <p:nvSpPr>
          <p:cNvPr id="9" name="Legend 2"/>
          <p:cNvSpPr/>
          <p:nvPr/>
        </p:nvSpPr>
        <p:spPr>
          <a:xfrm>
            <a:off x="4178808" y="1453896"/>
            <a:ext cx="237744" cy="18288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egend 2 text"/>
          <p:cNvSpPr/>
          <p:nvPr/>
        </p:nvSpPr>
        <p:spPr>
          <a:xfrm>
            <a:off x="4471416" y="1371600"/>
            <a:ext cx="32461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Seats in proportion to the votes cast</a:t>
            </a:r>
          </a:p>
        </p:txBody>
      </p:sp>
      <p:sp>
        <p:nvSpPr>
          <p:cNvPr id="11" name="Legend 3"/>
          <p:cNvSpPr/>
          <p:nvPr/>
        </p:nvSpPr>
        <p:spPr>
          <a:xfrm>
            <a:off x="7900416" y="1453896"/>
            <a:ext cx="237744" cy="182880"/>
          </a:xfrm>
          <a:prstGeom prst="rect">
            <a:avLst/>
          </a:prstGeom>
          <a:solidFill>
            <a:srgbClr val="B9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egend 3 text"/>
          <p:cNvSpPr/>
          <p:nvPr/>
        </p:nvSpPr>
        <p:spPr>
          <a:xfrm>
            <a:off x="8193024" y="1371600"/>
            <a:ext cx="329184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321744"/>
                </a:solidFill>
                <a:latin typeface="Calibri"/>
                <a:cs typeface="Calibri"/>
              </a:rPr>
              <a:t>A mixed system like Germany’s (a model)</a:t>
            </a:r>
          </a:p>
        </p:txBody>
      </p:sp>
      <p:sp>
        <p:nvSpPr>
          <p:cNvPr id="13" name="Labour system 1 bar"/>
          <p:cNvSpPr/>
          <p:nvPr/>
        </p:nvSpPr>
        <p:spPr>
          <a:xfrm>
            <a:off x="659130" y="2377440"/>
            <a:ext cx="512064" cy="274320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bour system 1 value"/>
          <p:cNvSpPr/>
          <p:nvPr/>
        </p:nvSpPr>
        <p:spPr>
          <a:xfrm>
            <a:off x="476250" y="2093976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411</a:t>
            </a:r>
          </a:p>
        </p:txBody>
      </p:sp>
      <p:sp>
        <p:nvSpPr>
          <p:cNvPr id="15" name="Labour system 2 bar"/>
          <p:cNvSpPr/>
          <p:nvPr/>
        </p:nvSpPr>
        <p:spPr>
          <a:xfrm>
            <a:off x="1216914" y="3658935"/>
            <a:ext cx="512064" cy="1461705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abour system 2 value"/>
          <p:cNvSpPr/>
          <p:nvPr/>
        </p:nvSpPr>
        <p:spPr>
          <a:xfrm>
            <a:off x="1034034" y="3375471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219</a:t>
            </a:r>
          </a:p>
        </p:txBody>
      </p:sp>
      <p:sp>
        <p:nvSpPr>
          <p:cNvPr id="17" name="Labour system 3 bar"/>
          <p:cNvSpPr/>
          <p:nvPr/>
        </p:nvSpPr>
        <p:spPr>
          <a:xfrm>
            <a:off x="1774698" y="3598865"/>
            <a:ext cx="512064" cy="1521775"/>
          </a:xfrm>
          <a:prstGeom prst="rect">
            <a:avLst/>
          </a:prstGeom>
          <a:solidFill>
            <a:srgbClr val="B9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bour system 3 value"/>
          <p:cNvSpPr/>
          <p:nvPr/>
        </p:nvSpPr>
        <p:spPr>
          <a:xfrm>
            <a:off x="1591818" y="3315401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228</a:t>
            </a:r>
          </a:p>
        </p:txBody>
      </p:sp>
      <p:sp>
        <p:nvSpPr>
          <p:cNvPr id="19" name="Labour label"/>
          <p:cNvSpPr/>
          <p:nvPr/>
        </p:nvSpPr>
        <p:spPr>
          <a:xfrm>
            <a:off x="548640" y="5166360"/>
            <a:ext cx="184861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Labour</a:t>
            </a:r>
          </a:p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33.7% of the vote</a:t>
            </a:r>
          </a:p>
        </p:txBody>
      </p:sp>
      <p:sp>
        <p:nvSpPr>
          <p:cNvPr id="20" name="Conservatives system 1 bar"/>
          <p:cNvSpPr/>
          <p:nvPr/>
        </p:nvSpPr>
        <p:spPr>
          <a:xfrm>
            <a:off x="2507742" y="4313031"/>
            <a:ext cx="512064" cy="807609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nservatives system 1 value"/>
          <p:cNvSpPr/>
          <p:nvPr/>
        </p:nvSpPr>
        <p:spPr>
          <a:xfrm>
            <a:off x="2324862" y="4029567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121</a:t>
            </a:r>
          </a:p>
        </p:txBody>
      </p:sp>
      <p:sp>
        <p:nvSpPr>
          <p:cNvPr id="22" name="Conservatives system 2 bar"/>
          <p:cNvSpPr/>
          <p:nvPr/>
        </p:nvSpPr>
        <p:spPr>
          <a:xfrm>
            <a:off x="3065526" y="4092774"/>
            <a:ext cx="512064" cy="1027866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onservatives system 2 value"/>
          <p:cNvSpPr/>
          <p:nvPr/>
        </p:nvSpPr>
        <p:spPr>
          <a:xfrm>
            <a:off x="2882646" y="3809310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154</a:t>
            </a:r>
          </a:p>
        </p:txBody>
      </p:sp>
      <p:sp>
        <p:nvSpPr>
          <p:cNvPr id="24" name="Conservatives system 3 bar"/>
          <p:cNvSpPr/>
          <p:nvPr/>
        </p:nvSpPr>
        <p:spPr>
          <a:xfrm>
            <a:off x="3623310" y="4192891"/>
            <a:ext cx="512064" cy="927749"/>
          </a:xfrm>
          <a:prstGeom prst="rect">
            <a:avLst/>
          </a:prstGeom>
          <a:solidFill>
            <a:srgbClr val="B9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nservatives system 3 value"/>
          <p:cNvSpPr/>
          <p:nvPr/>
        </p:nvSpPr>
        <p:spPr>
          <a:xfrm>
            <a:off x="3440430" y="3909427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139</a:t>
            </a:r>
          </a:p>
        </p:txBody>
      </p:sp>
      <p:sp>
        <p:nvSpPr>
          <p:cNvPr id="26" name="Conservatives label"/>
          <p:cNvSpPr/>
          <p:nvPr/>
        </p:nvSpPr>
        <p:spPr>
          <a:xfrm>
            <a:off x="2397252" y="5166360"/>
            <a:ext cx="184861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Conservatives</a:t>
            </a:r>
          </a:p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23.7%</a:t>
            </a:r>
          </a:p>
        </p:txBody>
      </p:sp>
      <p:sp>
        <p:nvSpPr>
          <p:cNvPr id="27" name="Reform UK system 1 bar"/>
          <p:cNvSpPr/>
          <p:nvPr/>
        </p:nvSpPr>
        <p:spPr>
          <a:xfrm>
            <a:off x="4356354" y="5087268"/>
            <a:ext cx="512064" cy="33372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form UK system 1 value"/>
          <p:cNvSpPr/>
          <p:nvPr/>
        </p:nvSpPr>
        <p:spPr>
          <a:xfrm>
            <a:off x="4173474" y="4803804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9" name="Reform UK system 2 bar"/>
          <p:cNvSpPr/>
          <p:nvPr/>
        </p:nvSpPr>
        <p:spPr>
          <a:xfrm>
            <a:off x="4914138" y="4499916"/>
            <a:ext cx="512064" cy="620724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form UK system 2 value"/>
          <p:cNvSpPr/>
          <p:nvPr/>
        </p:nvSpPr>
        <p:spPr>
          <a:xfrm>
            <a:off x="4731258" y="4216452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93</a:t>
            </a:r>
          </a:p>
        </p:txBody>
      </p:sp>
      <p:sp>
        <p:nvSpPr>
          <p:cNvPr id="31" name="Reform UK system 3 bar"/>
          <p:cNvSpPr/>
          <p:nvPr/>
        </p:nvSpPr>
        <p:spPr>
          <a:xfrm>
            <a:off x="5471922" y="4453195"/>
            <a:ext cx="512064" cy="667445"/>
          </a:xfrm>
          <a:prstGeom prst="rect">
            <a:avLst/>
          </a:prstGeom>
          <a:solidFill>
            <a:srgbClr val="B9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form UK system 3 value"/>
          <p:cNvSpPr/>
          <p:nvPr/>
        </p:nvSpPr>
        <p:spPr>
          <a:xfrm>
            <a:off x="5289042" y="4169731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100</a:t>
            </a:r>
          </a:p>
        </p:txBody>
      </p:sp>
      <p:sp>
        <p:nvSpPr>
          <p:cNvPr id="33" name="Reform UK label"/>
          <p:cNvSpPr/>
          <p:nvPr/>
        </p:nvSpPr>
        <p:spPr>
          <a:xfrm>
            <a:off x="4245864" y="5166360"/>
            <a:ext cx="184861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Reform UK</a:t>
            </a:r>
          </a:p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14.3%</a:t>
            </a:r>
          </a:p>
        </p:txBody>
      </p:sp>
      <p:sp>
        <p:nvSpPr>
          <p:cNvPr id="34" name="Liberal Democrats system 1 bar"/>
          <p:cNvSpPr/>
          <p:nvPr/>
        </p:nvSpPr>
        <p:spPr>
          <a:xfrm>
            <a:off x="6204966" y="4640079"/>
            <a:ext cx="512064" cy="480561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Liberal Democrats system 1 value"/>
          <p:cNvSpPr/>
          <p:nvPr/>
        </p:nvSpPr>
        <p:spPr>
          <a:xfrm>
            <a:off x="6022086" y="4356615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72</a:t>
            </a:r>
          </a:p>
        </p:txBody>
      </p:sp>
      <p:sp>
        <p:nvSpPr>
          <p:cNvPr id="36" name="Liberal Democrats system 2 bar"/>
          <p:cNvSpPr/>
          <p:nvPr/>
        </p:nvSpPr>
        <p:spPr>
          <a:xfrm>
            <a:off x="6762750" y="4593358"/>
            <a:ext cx="512064" cy="527282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iberal Democrats system 2 value"/>
          <p:cNvSpPr/>
          <p:nvPr/>
        </p:nvSpPr>
        <p:spPr>
          <a:xfrm>
            <a:off x="6579870" y="4309894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79</a:t>
            </a:r>
          </a:p>
        </p:txBody>
      </p:sp>
      <p:sp>
        <p:nvSpPr>
          <p:cNvPr id="38" name="Liberal Democrats system 3 bar"/>
          <p:cNvSpPr/>
          <p:nvPr/>
        </p:nvSpPr>
        <p:spPr>
          <a:xfrm>
            <a:off x="7320534" y="4633405"/>
            <a:ext cx="512064" cy="487235"/>
          </a:xfrm>
          <a:prstGeom prst="rect">
            <a:avLst/>
          </a:prstGeom>
          <a:solidFill>
            <a:srgbClr val="B9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Liberal Democrats system 3 value"/>
          <p:cNvSpPr/>
          <p:nvPr/>
        </p:nvSpPr>
        <p:spPr>
          <a:xfrm>
            <a:off x="7137654" y="4349941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73</a:t>
            </a:r>
          </a:p>
        </p:txBody>
      </p:sp>
      <p:sp>
        <p:nvSpPr>
          <p:cNvPr id="40" name="Liberal Democrats label"/>
          <p:cNvSpPr/>
          <p:nvPr/>
        </p:nvSpPr>
        <p:spPr>
          <a:xfrm>
            <a:off x="6094476" y="5166360"/>
            <a:ext cx="184861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Liberal Democrats</a:t>
            </a:r>
          </a:p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12.2%</a:t>
            </a:r>
          </a:p>
        </p:txBody>
      </p:sp>
      <p:sp>
        <p:nvSpPr>
          <p:cNvPr id="41" name="Greens system 1 bar"/>
          <p:cNvSpPr/>
          <p:nvPr/>
        </p:nvSpPr>
        <p:spPr>
          <a:xfrm>
            <a:off x="8053578" y="5093208"/>
            <a:ext cx="512064" cy="27432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Greens system 1 value"/>
          <p:cNvSpPr/>
          <p:nvPr/>
        </p:nvSpPr>
        <p:spPr>
          <a:xfrm>
            <a:off x="7870698" y="4809744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43" name="Greens system 2 bar"/>
          <p:cNvSpPr/>
          <p:nvPr/>
        </p:nvSpPr>
        <p:spPr>
          <a:xfrm>
            <a:off x="8611362" y="4826964"/>
            <a:ext cx="512064" cy="293676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Greens system 2 value"/>
          <p:cNvSpPr/>
          <p:nvPr/>
        </p:nvSpPr>
        <p:spPr>
          <a:xfrm>
            <a:off x="8428482" y="4543500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44</a:t>
            </a:r>
          </a:p>
        </p:txBody>
      </p:sp>
      <p:sp>
        <p:nvSpPr>
          <p:cNvPr id="45" name="Greens system 3 bar"/>
          <p:cNvSpPr/>
          <p:nvPr/>
        </p:nvSpPr>
        <p:spPr>
          <a:xfrm>
            <a:off x="9169146" y="4646754"/>
            <a:ext cx="512064" cy="473886"/>
          </a:xfrm>
          <a:prstGeom prst="rect">
            <a:avLst/>
          </a:prstGeom>
          <a:solidFill>
            <a:srgbClr val="B9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Greens system 3 value"/>
          <p:cNvSpPr/>
          <p:nvPr/>
        </p:nvSpPr>
        <p:spPr>
          <a:xfrm>
            <a:off x="8986266" y="4363290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71</a:t>
            </a:r>
          </a:p>
        </p:txBody>
      </p:sp>
      <p:sp>
        <p:nvSpPr>
          <p:cNvPr id="47" name="Greens label"/>
          <p:cNvSpPr/>
          <p:nvPr/>
        </p:nvSpPr>
        <p:spPr>
          <a:xfrm>
            <a:off x="7943088" y="5166360"/>
            <a:ext cx="184861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Greens</a:t>
            </a:r>
          </a:p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6.7%</a:t>
            </a:r>
          </a:p>
        </p:txBody>
      </p:sp>
      <p:sp>
        <p:nvSpPr>
          <p:cNvPr id="48" name="Scottish National Party system 1 bar"/>
          <p:cNvSpPr/>
          <p:nvPr/>
        </p:nvSpPr>
        <p:spPr>
          <a:xfrm>
            <a:off x="9902190" y="5060570"/>
            <a:ext cx="512064" cy="6007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Scottish National Party system 1 value"/>
          <p:cNvSpPr/>
          <p:nvPr/>
        </p:nvSpPr>
        <p:spPr>
          <a:xfrm>
            <a:off x="9719310" y="4777106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50" name="Scottish National Party system 2 bar"/>
          <p:cNvSpPr/>
          <p:nvPr/>
        </p:nvSpPr>
        <p:spPr>
          <a:xfrm>
            <a:off x="10459974" y="5013849"/>
            <a:ext cx="512064" cy="106791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cottish National Party system 2 value"/>
          <p:cNvSpPr/>
          <p:nvPr/>
        </p:nvSpPr>
        <p:spPr>
          <a:xfrm>
            <a:off x="10277094" y="4730385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52" name="Scottish National Party system 3 bar"/>
          <p:cNvSpPr/>
          <p:nvPr/>
        </p:nvSpPr>
        <p:spPr>
          <a:xfrm>
            <a:off x="11017758" y="5013849"/>
            <a:ext cx="512064" cy="106791"/>
          </a:xfrm>
          <a:prstGeom prst="rect">
            <a:avLst/>
          </a:prstGeom>
          <a:solidFill>
            <a:srgbClr val="B9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Scottish National Party system 3 value"/>
          <p:cNvSpPr/>
          <p:nvPr/>
        </p:nvSpPr>
        <p:spPr>
          <a:xfrm>
            <a:off x="10834878" y="4730385"/>
            <a:ext cx="87782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54" name="Scottish National Party label"/>
          <p:cNvSpPr/>
          <p:nvPr/>
        </p:nvSpPr>
        <p:spPr>
          <a:xfrm>
            <a:off x="9791700" y="5166360"/>
            <a:ext cx="184861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50" b="1" i="0">
                <a:solidFill>
                  <a:srgbClr val="321744"/>
                </a:solidFill>
                <a:latin typeface="Calibri"/>
                <a:cs typeface="Calibri"/>
              </a:rPr>
              <a:t>Scottish National Party</a:t>
            </a:r>
          </a:p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2.5%</a:t>
            </a:r>
          </a:p>
        </p:txBody>
      </p:sp>
      <p:cxnSp>
        <p:nvCxnSpPr>
          <p:cNvPr id="55" name="Baseline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19050">
            <a:solidFill>
              <a:srgbClr val="32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Majority line"/>
          <p:cNvCxnSpPr/>
          <p:nvPr/>
        </p:nvCxnSpPr>
        <p:spPr>
          <a:xfrm>
            <a:off x="2468880" y="2944768"/>
            <a:ext cx="9171432" cy="0"/>
          </a:xfrm>
          <a:prstGeom prst="line">
            <a:avLst/>
          </a:prstGeom>
          <a:ln w="15875">
            <a:solidFill>
              <a:srgbClr val="5C5C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Majority label"/>
          <p:cNvSpPr/>
          <p:nvPr/>
        </p:nvSpPr>
        <p:spPr>
          <a:xfrm>
            <a:off x="9262872" y="2643016"/>
            <a:ext cx="23774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sz="1250" b="0" i="1">
                <a:solidFill>
                  <a:srgbClr val="5C5C5C"/>
                </a:solidFill>
                <a:latin typeface="Calibri"/>
                <a:cs typeface="Calibri"/>
              </a:rPr>
              <a:t>326 seats: a majority</a:t>
            </a:r>
          </a:p>
        </p:txBody>
      </p:sp>
      <p:sp>
        <p:nvSpPr>
          <p:cNvPr id="58" name="Footnote"/>
          <p:cNvSpPr/>
          <p:nvPr/>
        </p:nvSpPr>
        <p:spPr>
          <a:xfrm>
            <a:off x="457200" y="5742432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sz="1300" b="0" i="1">
                <a:solidFill>
                  <a:srgbClr val="5C5C5C"/>
                </a:solidFill>
                <a:latin typeface="Calibri"/>
                <a:cs typeface="Calibri"/>
              </a:rPr>
              <a:t>The mixed-system column is the Electoral Reform Society’s model, built from a survey of how people would vote under those rules. 28% said they had voted tactically in 2024.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America’s Two-Party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1900"/>
              <a:t>“In any other country, Joe Biden and I would not be in the same party.”</a:t>
            </a:r>
          </a:p>
          <a:p>
            <a:pPr lvl="1"/>
            <a:r>
              <a:rPr sz="1550"/>
              <a:t>Alexandria Ocasio-Cortez, Democratic representative from New York, in 2020, when Biden was running for president</a:t>
            </a:r>
          </a:p>
          <a:p>
            <a:r>
              <a:rPr sz="1900"/>
              <a:t>In 2024, fewer than 10% of U.S. House races were competitive</a:t>
            </a:r>
          </a:p>
          <a:p>
            <a:r>
              <a:rPr sz="1900"/>
              <a:t>A proposal: bigger districts that elect several members each, in proportion to the vote</a:t>
            </a:r>
          </a:p>
        </p:txBody>
      </p:sp>
      <p:pic>
        <p:nvPicPr>
          <p:cNvPr id="4" name="Photo (Lecture 14.pptx, slide 19, picture 1)" descr="image.jpg"/>
          <p:cNvPicPr>
            <a:picLocks noChangeAspect="1"/>
          </p:cNvPicPr>
          <p:nvPr/>
        </p:nvPicPr>
        <p:blipFill>
          <a:blip r:embed="rId2"/>
          <a:srcRect l="24029" r="24029"/>
          <a:stretch>
            <a:fillRect/>
          </a:stretch>
        </p:blipFill>
        <p:spPr>
          <a:xfrm>
            <a:off x="6226150" y="0"/>
            <a:ext cx="5965546" cy="6858000"/>
          </a:xfrm>
          <a:prstGeom prst="rect">
            <a:avLst/>
          </a:prstGeom>
        </p:spPr>
      </p:pic>
      <p:sp>
        <p:nvSpPr>
          <p:cNvPr id="5" name="Caption strip"/>
          <p:cNvSpPr/>
          <p:nvPr/>
        </p:nvSpPr>
        <p:spPr>
          <a:xfrm>
            <a:off x="6226150" y="6355080"/>
            <a:ext cx="5965546" cy="50292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hoto caption"/>
          <p:cNvSpPr/>
          <p:nvPr/>
        </p:nvSpPr>
        <p:spPr>
          <a:xfrm>
            <a:off x="6226150" y="6355080"/>
            <a:ext cx="5965546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>
            <a:normAutofit/>
          </a:bodyPr>
          <a:lstStyle/>
          <a:p>
            <a:pPr marL="0" indent="0" algn="ctr">
              <a:buNone/>
            </a:pPr>
            <a:r>
              <a:rPr sz="1200" b="0" i="1">
                <a:solidFill>
                  <a:srgbClr val="FFFFFF"/>
                </a:solidFill>
                <a:latin typeface="Calibri"/>
                <a:cs typeface="Calibri"/>
              </a:rPr>
              <a:t>The New York Times, January 14,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Georgia: 14 Seats, Two Ways to Fill Them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Georgia: 14 seats, two ways to fill them</a:t>
            </a:r>
          </a:p>
        </p:txBody>
      </p:sp>
      <p:sp>
        <p:nvSpPr>
          <p:cNvPr id="5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Horne and Oldham</a:t>
            </a:r>
          </a:p>
        </p:txBody>
      </p:sp>
      <p:sp>
        <p:nvSpPr>
          <p:cNvPr id="6" name="Today card"/>
          <p:cNvSpPr/>
          <p:nvPr/>
        </p:nvSpPr>
        <p:spPr>
          <a:xfrm>
            <a:off x="457200" y="1188720"/>
            <a:ext cx="5550408" cy="32461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oday card header"/>
          <p:cNvSpPr/>
          <p:nvPr/>
        </p:nvSpPr>
        <p:spPr>
          <a:xfrm>
            <a:off x="457200" y="1188720"/>
            <a:ext cx="5550408" cy="438912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oday card header text"/>
          <p:cNvSpPr/>
          <p:nvPr/>
        </p:nvSpPr>
        <p:spPr>
          <a:xfrm>
            <a:off x="457200" y="1188720"/>
            <a:ext cx="55504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TODAY: 14 SINGLE-MEMBER DISTRICTS</a:t>
            </a:r>
          </a:p>
        </p:txBody>
      </p:sp>
      <p:sp>
        <p:nvSpPr>
          <p:cNvPr id="9" name="Today card text"/>
          <p:cNvSpPr/>
          <p:nvPr/>
        </p:nvSpPr>
        <p:spPr>
          <a:xfrm>
            <a:off x="630936" y="1810512"/>
            <a:ext cx="5202936" cy="2514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10" name="Today seat 1"/>
          <p:cNvSpPr/>
          <p:nvPr/>
        </p:nvSpPr>
        <p:spPr>
          <a:xfrm>
            <a:off x="841248" y="1828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1" name="Today seat 2"/>
          <p:cNvSpPr/>
          <p:nvPr/>
        </p:nvSpPr>
        <p:spPr>
          <a:xfrm>
            <a:off x="1536192" y="1828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2" name="Today seat 3"/>
          <p:cNvSpPr/>
          <p:nvPr/>
        </p:nvSpPr>
        <p:spPr>
          <a:xfrm>
            <a:off x="2231136" y="1828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3" name="Today seat 4"/>
          <p:cNvSpPr/>
          <p:nvPr/>
        </p:nvSpPr>
        <p:spPr>
          <a:xfrm>
            <a:off x="2926080" y="1828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4" name="Today seat 5"/>
          <p:cNvSpPr/>
          <p:nvPr/>
        </p:nvSpPr>
        <p:spPr>
          <a:xfrm>
            <a:off x="3621024" y="1828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5" name="Today seat 6"/>
          <p:cNvSpPr/>
          <p:nvPr/>
        </p:nvSpPr>
        <p:spPr>
          <a:xfrm>
            <a:off x="4315968" y="1828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6" name="Today seat 7"/>
          <p:cNvSpPr/>
          <p:nvPr/>
        </p:nvSpPr>
        <p:spPr>
          <a:xfrm>
            <a:off x="5010912" y="1828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7" name="Today seat 8"/>
          <p:cNvSpPr/>
          <p:nvPr/>
        </p:nvSpPr>
        <p:spPr>
          <a:xfrm>
            <a:off x="841248" y="252374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8" name="Today seat 9"/>
          <p:cNvSpPr/>
          <p:nvPr/>
        </p:nvSpPr>
        <p:spPr>
          <a:xfrm>
            <a:off x="1536192" y="252374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19" name="Today seat 10"/>
          <p:cNvSpPr/>
          <p:nvPr/>
        </p:nvSpPr>
        <p:spPr>
          <a:xfrm>
            <a:off x="2231136" y="252374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20" name="Today seat 11"/>
          <p:cNvSpPr/>
          <p:nvPr/>
        </p:nvSpPr>
        <p:spPr>
          <a:xfrm>
            <a:off x="2926080" y="252374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21" name="Today seat 12"/>
          <p:cNvSpPr/>
          <p:nvPr/>
        </p:nvSpPr>
        <p:spPr>
          <a:xfrm>
            <a:off x="3621024" y="252374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22" name="Today seat 13"/>
          <p:cNvSpPr/>
          <p:nvPr/>
        </p:nvSpPr>
        <p:spPr>
          <a:xfrm>
            <a:off x="4315968" y="252374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23" name="Today seat 14"/>
          <p:cNvSpPr/>
          <p:nvPr/>
        </p:nvSpPr>
        <p:spPr>
          <a:xfrm>
            <a:off x="5010912" y="252374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24" name="Today text"/>
          <p:cNvSpPr/>
          <p:nvPr/>
        </p:nvSpPr>
        <p:spPr>
          <a:xfrm>
            <a:off x="640080" y="3291840"/>
            <a:ext cx="5184648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sz="2000" b="1" i="0">
                <a:solidFill>
                  <a:srgbClr val="321744"/>
                </a:solidFill>
                <a:latin typeface="Calibri"/>
                <a:cs typeface="Calibri"/>
              </a:rPr>
              <a:t>9 Republicans, 5 Democrats</a:t>
            </a:r>
          </a:p>
          <a:p>
            <a:pPr marL="0" indent="0" algn="ctr">
              <a:buNone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in a state that votes about 50–50. Competitive seats: zero.</a:t>
            </a:r>
          </a:p>
        </p:txBody>
      </p:sp>
      <p:sp>
        <p:nvSpPr>
          <p:cNvPr id="25" name="Proposal card"/>
          <p:cNvSpPr/>
          <p:nvPr/>
        </p:nvSpPr>
        <p:spPr>
          <a:xfrm>
            <a:off x="6190488" y="1188720"/>
            <a:ext cx="5550408" cy="324612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roposal card header"/>
          <p:cNvSpPr/>
          <p:nvPr/>
        </p:nvSpPr>
        <p:spPr>
          <a:xfrm>
            <a:off x="6190488" y="1188720"/>
            <a:ext cx="5550408" cy="438912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roposal card header text"/>
          <p:cNvSpPr/>
          <p:nvPr/>
        </p:nvSpPr>
        <p:spPr>
          <a:xfrm>
            <a:off x="6190488" y="1188720"/>
            <a:ext cx="55504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THE PROPOSAL: PROPORTIONAL DISTRICTS</a:t>
            </a:r>
          </a:p>
        </p:txBody>
      </p:sp>
      <p:sp>
        <p:nvSpPr>
          <p:cNvPr id="28" name="Proposal card text"/>
          <p:cNvSpPr/>
          <p:nvPr/>
        </p:nvSpPr>
        <p:spPr>
          <a:xfrm>
            <a:off x="6364224" y="1810512"/>
            <a:ext cx="5202936" cy="2514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29" name="District 1 box"/>
          <p:cNvSpPr/>
          <p:nvPr/>
        </p:nvSpPr>
        <p:spPr>
          <a:xfrm>
            <a:off x="6382512" y="1783080"/>
            <a:ext cx="1261872" cy="1261872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istrict 1 seat 1"/>
          <p:cNvSpPr/>
          <p:nvPr/>
        </p:nvSpPr>
        <p:spPr>
          <a:xfrm>
            <a:off x="6492240" y="189280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istrict 1 seat 2"/>
          <p:cNvSpPr/>
          <p:nvPr/>
        </p:nvSpPr>
        <p:spPr>
          <a:xfrm>
            <a:off x="7040880" y="189280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istrict 1 seat 3"/>
          <p:cNvSpPr/>
          <p:nvPr/>
        </p:nvSpPr>
        <p:spPr>
          <a:xfrm>
            <a:off x="6492240" y="244144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istrict 1 seat 4"/>
          <p:cNvSpPr/>
          <p:nvPr/>
        </p:nvSpPr>
        <p:spPr>
          <a:xfrm>
            <a:off x="7040880" y="244144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District 1 label"/>
          <p:cNvSpPr/>
          <p:nvPr/>
        </p:nvSpPr>
        <p:spPr>
          <a:xfrm>
            <a:off x="6318504" y="3044952"/>
            <a:ext cx="138988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4 seats</a:t>
            </a:r>
          </a:p>
        </p:txBody>
      </p:sp>
      <p:sp>
        <p:nvSpPr>
          <p:cNvPr id="35" name="District 2 box"/>
          <p:cNvSpPr/>
          <p:nvPr/>
        </p:nvSpPr>
        <p:spPr>
          <a:xfrm>
            <a:off x="7772400" y="1783080"/>
            <a:ext cx="1261872" cy="1261872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istrict 2 seat 1"/>
          <p:cNvSpPr/>
          <p:nvPr/>
        </p:nvSpPr>
        <p:spPr>
          <a:xfrm>
            <a:off x="7882128" y="189280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istrict 2 seat 2"/>
          <p:cNvSpPr/>
          <p:nvPr/>
        </p:nvSpPr>
        <p:spPr>
          <a:xfrm>
            <a:off x="8430768" y="189280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istrict 2 seat 3"/>
          <p:cNvSpPr/>
          <p:nvPr/>
        </p:nvSpPr>
        <p:spPr>
          <a:xfrm>
            <a:off x="7882128" y="244144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istrict 2 seat 4"/>
          <p:cNvSpPr/>
          <p:nvPr/>
        </p:nvSpPr>
        <p:spPr>
          <a:xfrm>
            <a:off x="8430768" y="244144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District 2 label"/>
          <p:cNvSpPr/>
          <p:nvPr/>
        </p:nvSpPr>
        <p:spPr>
          <a:xfrm>
            <a:off x="7708392" y="3044952"/>
            <a:ext cx="138988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4 seats</a:t>
            </a:r>
          </a:p>
        </p:txBody>
      </p:sp>
      <p:sp>
        <p:nvSpPr>
          <p:cNvPr id="41" name="District 3 box"/>
          <p:cNvSpPr/>
          <p:nvPr/>
        </p:nvSpPr>
        <p:spPr>
          <a:xfrm>
            <a:off x="9162288" y="1783080"/>
            <a:ext cx="1261872" cy="1261872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District 3 seat 1"/>
          <p:cNvSpPr/>
          <p:nvPr/>
        </p:nvSpPr>
        <p:spPr>
          <a:xfrm>
            <a:off x="9272016" y="189280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istrict 3 seat 2"/>
          <p:cNvSpPr/>
          <p:nvPr/>
        </p:nvSpPr>
        <p:spPr>
          <a:xfrm>
            <a:off x="9820656" y="189280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strict 3 seat 3"/>
          <p:cNvSpPr/>
          <p:nvPr/>
        </p:nvSpPr>
        <p:spPr>
          <a:xfrm>
            <a:off x="9272016" y="244144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District 3 seat 4"/>
          <p:cNvSpPr/>
          <p:nvPr/>
        </p:nvSpPr>
        <p:spPr>
          <a:xfrm>
            <a:off x="9820656" y="2441448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District 3 label"/>
          <p:cNvSpPr/>
          <p:nvPr/>
        </p:nvSpPr>
        <p:spPr>
          <a:xfrm>
            <a:off x="9098280" y="3044952"/>
            <a:ext cx="138988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4 seats</a:t>
            </a:r>
          </a:p>
        </p:txBody>
      </p:sp>
      <p:sp>
        <p:nvSpPr>
          <p:cNvPr id="47" name="Plus"/>
          <p:cNvSpPr/>
          <p:nvPr/>
        </p:nvSpPr>
        <p:spPr>
          <a:xfrm>
            <a:off x="10497312" y="2130552"/>
            <a:ext cx="27432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 i="0">
                <a:solidFill>
                  <a:srgbClr val="5C5C5C"/>
                </a:solidFill>
                <a:latin typeface="Calibri"/>
                <a:cs typeface="Calibri"/>
              </a:rPr>
              <a:t>+</a:t>
            </a:r>
          </a:p>
        </p:txBody>
      </p:sp>
      <p:sp>
        <p:nvSpPr>
          <p:cNvPr id="48" name="Top-up seat 1"/>
          <p:cNvSpPr/>
          <p:nvPr/>
        </p:nvSpPr>
        <p:spPr>
          <a:xfrm>
            <a:off x="10789920" y="21671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op-up seat 2"/>
          <p:cNvSpPr/>
          <p:nvPr/>
        </p:nvSpPr>
        <p:spPr>
          <a:xfrm>
            <a:off x="11219688" y="21671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op-up label"/>
          <p:cNvSpPr/>
          <p:nvPr/>
        </p:nvSpPr>
        <p:spPr>
          <a:xfrm>
            <a:off x="10497312" y="2587752"/>
            <a:ext cx="12344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200" b="0" i="0">
                <a:solidFill>
                  <a:srgbClr val="5C5C5C"/>
                </a:solidFill>
                <a:latin typeface="Calibri"/>
                <a:cs typeface="Calibri"/>
              </a:rPr>
              <a:t>2 statewide top-up seats</a:t>
            </a:r>
          </a:p>
        </p:txBody>
      </p:sp>
      <p:sp>
        <p:nvSpPr>
          <p:cNvPr id="51" name="Proposal text"/>
          <p:cNvSpPr/>
          <p:nvPr/>
        </p:nvSpPr>
        <p:spPr>
          <a:xfrm>
            <a:off x="6373368" y="3291840"/>
            <a:ext cx="5184648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sz="2000" b="1" i="0">
                <a:solidFill>
                  <a:srgbClr val="321744"/>
                </a:solidFill>
                <a:latin typeface="Calibri"/>
                <a:cs typeface="Calibri"/>
              </a:rPr>
              <a:t>7 Republicans, 7 Democrats</a:t>
            </a:r>
          </a:p>
          <a:p>
            <a:pPr marL="0" indent="0" algn="ctr">
              <a:buNone/>
            </a:pPr>
            <a:r>
              <a:rPr sz="1550" b="0" i="0">
                <a:solidFill>
                  <a:srgbClr val="321744"/>
                </a:solidFill>
                <a:latin typeface="Calibri"/>
                <a:cs typeface="Calibri"/>
              </a:rPr>
              <a:t>on every simulated map: the same as the state’s vote.</a:t>
            </a:r>
          </a:p>
        </p:txBody>
      </p:sp>
      <p:sp>
        <p:nvSpPr>
          <p:cNvPr id="52" name="Point 1"/>
          <p:cNvSpPr/>
          <p:nvPr/>
        </p:nvSpPr>
        <p:spPr>
          <a:xfrm>
            <a:off x="457200" y="459028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Point 1 header"/>
          <p:cNvSpPr/>
          <p:nvPr/>
        </p:nvSpPr>
        <p:spPr>
          <a:xfrm>
            <a:off x="457200" y="4590288"/>
            <a:ext cx="3675888" cy="365760"/>
          </a:xfrm>
          <a:prstGeom prst="roundRect">
            <a:avLst>
              <a:gd name="adj" fmla="val 18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oint 1 header text"/>
          <p:cNvSpPr/>
          <p:nvPr/>
        </p:nvSpPr>
        <p:spPr>
          <a:xfrm>
            <a:off x="457200" y="4590288"/>
            <a:ext cx="367588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HARDER TO GERRYMANDER</a:t>
            </a:r>
          </a:p>
        </p:txBody>
      </p:sp>
      <p:sp>
        <p:nvSpPr>
          <p:cNvPr id="55" name="Point 1 text"/>
          <p:cNvSpPr/>
          <p:nvPr/>
        </p:nvSpPr>
        <p:spPr>
          <a:xfrm>
            <a:off x="630936" y="4992624"/>
            <a:ext cx="3328416" cy="9509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650" b="0" i="0">
                <a:solidFill>
                  <a:srgbClr val="321744"/>
                </a:solidFill>
                <a:latin typeface="Calibri"/>
                <a:cs typeface="Calibri"/>
              </a:rPr>
              <a:t>Moving voters from one district to another no longer moves seats</a:t>
            </a:r>
          </a:p>
        </p:txBody>
      </p:sp>
      <p:sp>
        <p:nvSpPr>
          <p:cNvPr id="56" name="Point 2"/>
          <p:cNvSpPr/>
          <p:nvPr/>
        </p:nvSpPr>
        <p:spPr>
          <a:xfrm>
            <a:off x="4261104" y="459028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5B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Point 2 header"/>
          <p:cNvSpPr/>
          <p:nvPr/>
        </p:nvSpPr>
        <p:spPr>
          <a:xfrm>
            <a:off x="4261104" y="4590288"/>
            <a:ext cx="3675888" cy="365760"/>
          </a:xfrm>
          <a:prstGeom prst="roundRect">
            <a:avLst>
              <a:gd name="adj" fmla="val 18000"/>
            </a:avLst>
          </a:prstGeom>
          <a:solidFill>
            <a:srgbClr val="5B4468"/>
          </a:solidFill>
          <a:ln w="31750">
            <a:solidFill>
              <a:srgbClr val="5B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Point 2 header text"/>
          <p:cNvSpPr/>
          <p:nvPr/>
        </p:nvSpPr>
        <p:spPr>
          <a:xfrm>
            <a:off x="4261104" y="4590288"/>
            <a:ext cx="367588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MINORITY VOTERS</a:t>
            </a:r>
          </a:p>
        </p:txBody>
      </p:sp>
      <p:sp>
        <p:nvSpPr>
          <p:cNvPr id="59" name="Point 2 text"/>
          <p:cNvSpPr/>
          <p:nvPr/>
        </p:nvSpPr>
        <p:spPr>
          <a:xfrm>
            <a:off x="4434840" y="4992624"/>
            <a:ext cx="3328416" cy="9509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650" b="0" i="0">
                <a:solidFill>
                  <a:srgbClr val="321744"/>
                </a:solidFill>
                <a:latin typeface="Calibri"/>
                <a:cs typeface="Calibri"/>
              </a:rPr>
              <a:t>A group with 20% of a district’s voters, voting together, can elect a candidate</a:t>
            </a:r>
          </a:p>
        </p:txBody>
      </p:sp>
      <p:sp>
        <p:nvSpPr>
          <p:cNvPr id="60" name="Point 3"/>
          <p:cNvSpPr/>
          <p:nvPr/>
        </p:nvSpPr>
        <p:spPr>
          <a:xfrm>
            <a:off x="8065008" y="459028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Point 3 header"/>
          <p:cNvSpPr/>
          <p:nvPr/>
        </p:nvSpPr>
        <p:spPr>
          <a:xfrm>
            <a:off x="8065008" y="4590288"/>
            <a:ext cx="3675888" cy="365760"/>
          </a:xfrm>
          <a:prstGeom prst="roundRect">
            <a:avLst>
              <a:gd name="adj" fmla="val 18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Point 3 header text"/>
          <p:cNvSpPr/>
          <p:nvPr/>
        </p:nvSpPr>
        <p:spPr>
          <a:xfrm>
            <a:off x="8065008" y="4590288"/>
            <a:ext cx="367588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THE OBSTACLE</a:t>
            </a:r>
          </a:p>
        </p:txBody>
      </p:sp>
      <p:sp>
        <p:nvSpPr>
          <p:cNvPr id="63" name="Point 3 text"/>
          <p:cNvSpPr/>
          <p:nvPr/>
        </p:nvSpPr>
        <p:spPr>
          <a:xfrm>
            <a:off x="8238744" y="4992624"/>
            <a:ext cx="3328416" cy="9509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t">
            <a:norm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650" b="0" i="0">
                <a:solidFill>
                  <a:srgbClr val="321744"/>
                </a:solidFill>
                <a:latin typeface="Calibri"/>
                <a:cs typeface="Calibri"/>
              </a:rPr>
              <a:t>A 1967 federal law requires single-member districts for the U.S. House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 the Districts</a:t>
            </a:r>
          </a:p>
        </p:txBody>
      </p:sp>
      <p:sp>
        <p:nvSpPr>
          <p:cNvPr id="3" name="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"/>
          <p:cNvSpPr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F3672A"/>
                </a:solidFill>
                <a:latin typeface="Calibri"/>
                <a:cs typeface="Calibri"/>
              </a:rPr>
              <a:t>ACTIVITY</a:t>
            </a:r>
          </a:p>
        </p:txBody>
      </p:sp>
      <p:sp>
        <p:nvSpPr>
          <p:cNvPr id="5" name="Heading"/>
          <p:cNvSpPr/>
          <p:nvPr/>
        </p:nvSpPr>
        <p:spPr>
          <a:xfrm>
            <a:off x="457200" y="335310"/>
            <a:ext cx="11274552" cy="700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321744"/>
                </a:solidFill>
                <a:latin typeface="Calibri"/>
                <a:cs typeface="Calibri"/>
              </a:rPr>
              <a:t>Draw the districts: 25 voters, 5 districts of 5</a:t>
            </a:r>
          </a:p>
        </p:txBody>
      </p:sp>
      <p:sp>
        <p:nvSpPr>
          <p:cNvPr id="6" name="Reading tag"/>
          <p:cNvSpPr txBox="1"/>
          <p:nvPr/>
        </p:nvSpPr>
        <p:spPr>
          <a:xfrm>
            <a:off x="7635240" y="1097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C5C5C"/>
                </a:solidFill>
                <a:latin typeface="Calibri"/>
              </a:rPr>
              <a:t>From today’s reading: Horne and Oldham</a:t>
            </a:r>
          </a:p>
        </p:txBody>
      </p:sp>
      <p:sp>
        <p:nvSpPr>
          <p:cNvPr id="7" name="Task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l">
              <a:buNone/>
            </a:pPr>
            <a:r>
              <a:rPr sz="1550" b="1" i="0">
                <a:solidFill>
                  <a:srgbClr val="321744"/>
                </a:solidFill>
                <a:latin typeface="Calibri"/>
                <a:cs typeface="Calibri"/>
              </a:rPr>
              <a:t>Purple has 10 voters and Orange has 15. In pairs: draw five districts of five neighboring voters each, so that Purple wins the most districts.</a:t>
            </a:r>
          </a:p>
        </p:txBody>
      </p:sp>
      <p:grpSp>
        <p:nvGrpSpPr>
          <p:cNvPr id="8" name="Map 1 cells"/>
          <p:cNvGrpSpPr/>
          <p:nvPr/>
        </p:nvGrpSpPr>
        <p:grpSpPr>
          <a:xfrm>
            <a:off x="685800" y="1783080"/>
            <a:ext cx="2286000" cy="2286000"/>
            <a:chOff x="685800" y="1783080"/>
            <a:chExt cx="2286000" cy="2286000"/>
          </a:xfrm>
        </p:grpSpPr>
        <p:sp>
          <p:nvSpPr>
            <p:cNvPr id="9" name="Rectangle 8"/>
            <p:cNvSpPr/>
            <p:nvPr/>
          </p:nvSpPr>
          <p:spPr>
            <a:xfrm>
              <a:off x="68580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0020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5740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51460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4300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60020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05740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1460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580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4300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60020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5740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51460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8580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4300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60020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05740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51460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8580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4300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60020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05740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51460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" name="Map 1 tints"/>
          <p:cNvGrpSpPr/>
          <p:nvPr/>
        </p:nvGrpSpPr>
        <p:grpSpPr>
          <a:xfrm>
            <a:off x="685800" y="1783080"/>
            <a:ext cx="2286000" cy="2286000"/>
            <a:chOff x="685800" y="1783080"/>
            <a:chExt cx="2286000" cy="2286000"/>
          </a:xfrm>
        </p:grpSpPr>
        <p:sp>
          <p:nvSpPr>
            <p:cNvPr id="35" name="Rectangle 34"/>
            <p:cNvSpPr/>
            <p:nvPr/>
          </p:nvSpPr>
          <p:spPr>
            <a:xfrm>
              <a:off x="685800" y="17830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43000" y="17830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00200" y="17830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057400" y="17830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14600" y="17830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85800" y="22402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43000" y="22402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600200" y="22402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057400" y="22402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514600" y="2240280"/>
              <a:ext cx="457200" cy="457200"/>
            </a:xfrm>
            <a:prstGeom prst="rect">
              <a:avLst/>
            </a:prstGeom>
            <a:solidFill>
              <a:srgbClr val="B9ACC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8580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14300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60020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05740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8580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14300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60020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05740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460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8580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14300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60020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05740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51460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0" name="Map 1 voters"/>
          <p:cNvGrpSpPr/>
          <p:nvPr/>
        </p:nvGrpSpPr>
        <p:grpSpPr>
          <a:xfrm>
            <a:off x="800100" y="1897380"/>
            <a:ext cx="2057400" cy="2057400"/>
            <a:chOff x="800100" y="1897380"/>
            <a:chExt cx="2057400" cy="2057400"/>
          </a:xfrm>
        </p:grpSpPr>
        <p:sp>
          <p:nvSpPr>
            <p:cNvPr id="61" name="Oval 60"/>
            <p:cNvSpPr/>
            <p:nvPr/>
          </p:nvSpPr>
          <p:spPr>
            <a:xfrm>
              <a:off x="80010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Oval 61"/>
            <p:cNvSpPr/>
            <p:nvPr/>
          </p:nvSpPr>
          <p:spPr>
            <a:xfrm>
              <a:off x="125730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Oval 62"/>
            <p:cNvSpPr/>
            <p:nvPr/>
          </p:nvSpPr>
          <p:spPr>
            <a:xfrm>
              <a:off x="171450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Oval 63"/>
            <p:cNvSpPr/>
            <p:nvPr/>
          </p:nvSpPr>
          <p:spPr>
            <a:xfrm>
              <a:off x="217170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Oval 64"/>
            <p:cNvSpPr/>
            <p:nvPr/>
          </p:nvSpPr>
          <p:spPr>
            <a:xfrm>
              <a:off x="262890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Oval 65"/>
            <p:cNvSpPr/>
            <p:nvPr/>
          </p:nvSpPr>
          <p:spPr>
            <a:xfrm>
              <a:off x="80010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Oval 66"/>
            <p:cNvSpPr/>
            <p:nvPr/>
          </p:nvSpPr>
          <p:spPr>
            <a:xfrm>
              <a:off x="125730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Oval 67"/>
            <p:cNvSpPr/>
            <p:nvPr/>
          </p:nvSpPr>
          <p:spPr>
            <a:xfrm>
              <a:off x="171450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Oval 68"/>
            <p:cNvSpPr/>
            <p:nvPr/>
          </p:nvSpPr>
          <p:spPr>
            <a:xfrm>
              <a:off x="217170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Oval 69"/>
            <p:cNvSpPr/>
            <p:nvPr/>
          </p:nvSpPr>
          <p:spPr>
            <a:xfrm>
              <a:off x="262890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Oval 70"/>
            <p:cNvSpPr/>
            <p:nvPr/>
          </p:nvSpPr>
          <p:spPr>
            <a:xfrm>
              <a:off x="80010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Oval 71"/>
            <p:cNvSpPr/>
            <p:nvPr/>
          </p:nvSpPr>
          <p:spPr>
            <a:xfrm>
              <a:off x="125730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Oval 72"/>
            <p:cNvSpPr/>
            <p:nvPr/>
          </p:nvSpPr>
          <p:spPr>
            <a:xfrm>
              <a:off x="171450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Oval 73"/>
            <p:cNvSpPr/>
            <p:nvPr/>
          </p:nvSpPr>
          <p:spPr>
            <a:xfrm>
              <a:off x="217170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Oval 74"/>
            <p:cNvSpPr/>
            <p:nvPr/>
          </p:nvSpPr>
          <p:spPr>
            <a:xfrm>
              <a:off x="262890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Oval 75"/>
            <p:cNvSpPr/>
            <p:nvPr/>
          </p:nvSpPr>
          <p:spPr>
            <a:xfrm>
              <a:off x="80010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Oval 76"/>
            <p:cNvSpPr/>
            <p:nvPr/>
          </p:nvSpPr>
          <p:spPr>
            <a:xfrm>
              <a:off x="125730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Oval 77"/>
            <p:cNvSpPr/>
            <p:nvPr/>
          </p:nvSpPr>
          <p:spPr>
            <a:xfrm>
              <a:off x="171450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Oval 78"/>
            <p:cNvSpPr/>
            <p:nvPr/>
          </p:nvSpPr>
          <p:spPr>
            <a:xfrm>
              <a:off x="217170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Oval 79"/>
            <p:cNvSpPr/>
            <p:nvPr/>
          </p:nvSpPr>
          <p:spPr>
            <a:xfrm>
              <a:off x="262890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Oval 80"/>
            <p:cNvSpPr/>
            <p:nvPr/>
          </p:nvSpPr>
          <p:spPr>
            <a:xfrm>
              <a:off x="80010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Oval 81"/>
            <p:cNvSpPr/>
            <p:nvPr/>
          </p:nvSpPr>
          <p:spPr>
            <a:xfrm>
              <a:off x="125730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Oval 82"/>
            <p:cNvSpPr/>
            <p:nvPr/>
          </p:nvSpPr>
          <p:spPr>
            <a:xfrm>
              <a:off x="171450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Oval 83"/>
            <p:cNvSpPr/>
            <p:nvPr/>
          </p:nvSpPr>
          <p:spPr>
            <a:xfrm>
              <a:off x="217170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Oval 84"/>
            <p:cNvSpPr/>
            <p:nvPr/>
          </p:nvSpPr>
          <p:spPr>
            <a:xfrm>
              <a:off x="262890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6" name="Map 1 lines"/>
          <p:cNvGrpSpPr/>
          <p:nvPr/>
        </p:nvGrpSpPr>
        <p:grpSpPr>
          <a:xfrm>
            <a:off x="685800" y="1783080"/>
            <a:ext cx="2286000" cy="2286000"/>
            <a:chOff x="685800" y="1783080"/>
            <a:chExt cx="2286000" cy="2286000"/>
          </a:xfrm>
        </p:grpSpPr>
        <p:cxnSp>
          <p:nvCxnSpPr>
            <p:cNvPr id="87" name="Connector 86"/>
            <p:cNvCxnSpPr/>
            <p:nvPr/>
          </p:nvCxnSpPr>
          <p:spPr>
            <a:xfrm>
              <a:off x="685800" y="22402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1143000" y="22402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600200" y="22402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2057400" y="22402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2514600" y="22402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685800" y="26974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143000" y="26974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600200" y="26974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2057400" y="26974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2514600" y="26974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685800" y="31546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1143000" y="31546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1600200" y="31546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2057400" y="31546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2514600" y="31546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>
              <a:off x="685800" y="36118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>
              <a:off x="1143000" y="36118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>
              <a:off x="1600200" y="36118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>
              <a:off x="2057400" y="36118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>
              <a:off x="2514600" y="3611880"/>
              <a:ext cx="457200" cy="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/>
            <p:cNvSpPr/>
            <p:nvPr/>
          </p:nvSpPr>
          <p:spPr>
            <a:xfrm>
              <a:off x="685800" y="1783080"/>
              <a:ext cx="2286000" cy="2286000"/>
            </a:xfrm>
            <a:prstGeom prst="rect">
              <a:avLst/>
            </a:prstGeom>
            <a:noFill/>
            <a:ln w="44450">
              <a:solidFill>
                <a:srgbClr val="3217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8" name="Map 1 result"/>
          <p:cNvSpPr/>
          <p:nvPr/>
        </p:nvSpPr>
        <p:spPr>
          <a:xfrm>
            <a:off x="411480" y="4142232"/>
            <a:ext cx="283464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400" b="0" i="0">
                <a:solidFill>
                  <a:srgbClr val="5C5C5C"/>
                </a:solidFill>
                <a:latin typeface="Calibri"/>
                <a:cs typeface="Calibri"/>
              </a:rPr>
              <a:t>By row</a:t>
            </a:r>
          </a:p>
          <a:p>
            <a:pPr marL="0" indent="0" algn="ctr">
              <a:buNone/>
            </a:pPr>
            <a:r>
              <a:rPr sz="1900" b="1" i="0">
                <a:solidFill>
                  <a:srgbClr val="F3672A"/>
                </a:solidFill>
                <a:latin typeface="Calibri"/>
                <a:cs typeface="Calibri"/>
              </a:rPr>
              <a:t>Orange 3</a:t>
            </a:r>
            <a:r>
              <a:rPr sz="1900" b="1" i="0">
                <a:solidFill>
                  <a:srgbClr val="321744"/>
                </a:solidFill>
                <a:latin typeface="Calibri"/>
                <a:cs typeface="Calibri"/>
              </a:rPr>
              <a:t>  ·  </a:t>
            </a:r>
            <a:r>
              <a:rPr sz="1900" b="1" i="0">
                <a:solidFill>
                  <a:srgbClr val="301A41"/>
                </a:solidFill>
                <a:latin typeface="Calibri"/>
                <a:cs typeface="Calibri"/>
              </a:rPr>
              <a:t>Purple 2</a:t>
            </a:r>
          </a:p>
        </p:txBody>
      </p:sp>
      <p:grpSp>
        <p:nvGrpSpPr>
          <p:cNvPr id="109" name="Map 2 cells"/>
          <p:cNvGrpSpPr/>
          <p:nvPr/>
        </p:nvGrpSpPr>
        <p:grpSpPr>
          <a:xfrm>
            <a:off x="3749040" y="1783080"/>
            <a:ext cx="2286000" cy="2286000"/>
            <a:chOff x="3749040" y="1783080"/>
            <a:chExt cx="2286000" cy="2286000"/>
          </a:xfrm>
        </p:grpSpPr>
        <p:sp>
          <p:nvSpPr>
            <p:cNvPr id="110" name="Rectangle 109"/>
            <p:cNvSpPr/>
            <p:nvPr/>
          </p:nvSpPr>
          <p:spPr>
            <a:xfrm>
              <a:off x="374904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20624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66344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12064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57784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374904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20624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66344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512064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557784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374904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20624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466344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512064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557784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374904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20624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66344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512064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557784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74904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420624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466344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512064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557784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5" name="Map 2 tints"/>
          <p:cNvGrpSpPr/>
          <p:nvPr/>
        </p:nvGrpSpPr>
        <p:grpSpPr>
          <a:xfrm>
            <a:off x="3749040" y="1783080"/>
            <a:ext cx="2286000" cy="2286000"/>
            <a:chOff x="3749040" y="1783080"/>
            <a:chExt cx="2286000" cy="2286000"/>
          </a:xfrm>
        </p:grpSpPr>
        <p:sp>
          <p:nvSpPr>
            <p:cNvPr id="136" name="Rectangle 135"/>
            <p:cNvSpPr/>
            <p:nvPr/>
          </p:nvSpPr>
          <p:spPr>
            <a:xfrm>
              <a:off x="3749040" y="17830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4206240" y="17830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4663440" y="17830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5120640" y="17830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5577840" y="17830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749040" y="22402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206240" y="22402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4663440" y="22402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120640" y="22402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5577840" y="22402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74904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420624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466344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512064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577840" y="26974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374904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420624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466344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512064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5577840" y="31546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374904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420624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466344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512064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5577840" y="3611880"/>
              <a:ext cx="457200" cy="457200"/>
            </a:xfrm>
            <a:prstGeom prst="rect">
              <a:avLst/>
            </a:prstGeom>
            <a:solidFill>
              <a:srgbClr val="F9C3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1" name="Map 2 voters"/>
          <p:cNvGrpSpPr/>
          <p:nvPr/>
        </p:nvGrpSpPr>
        <p:grpSpPr>
          <a:xfrm>
            <a:off x="3863340" y="1897380"/>
            <a:ext cx="2057400" cy="2057400"/>
            <a:chOff x="3863340" y="1897380"/>
            <a:chExt cx="2057400" cy="2057400"/>
          </a:xfrm>
        </p:grpSpPr>
        <p:sp>
          <p:nvSpPr>
            <p:cNvPr id="162" name="Oval 161"/>
            <p:cNvSpPr/>
            <p:nvPr/>
          </p:nvSpPr>
          <p:spPr>
            <a:xfrm>
              <a:off x="386334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Oval 162"/>
            <p:cNvSpPr/>
            <p:nvPr/>
          </p:nvSpPr>
          <p:spPr>
            <a:xfrm>
              <a:off x="432054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4" name="Oval 163"/>
            <p:cNvSpPr/>
            <p:nvPr/>
          </p:nvSpPr>
          <p:spPr>
            <a:xfrm>
              <a:off x="477774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5" name="Oval 164"/>
            <p:cNvSpPr/>
            <p:nvPr/>
          </p:nvSpPr>
          <p:spPr>
            <a:xfrm>
              <a:off x="523494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6" name="Oval 165"/>
            <p:cNvSpPr/>
            <p:nvPr/>
          </p:nvSpPr>
          <p:spPr>
            <a:xfrm>
              <a:off x="5692140" y="18973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7" name="Oval 166"/>
            <p:cNvSpPr/>
            <p:nvPr/>
          </p:nvSpPr>
          <p:spPr>
            <a:xfrm>
              <a:off x="386334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8" name="Oval 167"/>
            <p:cNvSpPr/>
            <p:nvPr/>
          </p:nvSpPr>
          <p:spPr>
            <a:xfrm>
              <a:off x="432054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9" name="Oval 168"/>
            <p:cNvSpPr/>
            <p:nvPr/>
          </p:nvSpPr>
          <p:spPr>
            <a:xfrm>
              <a:off x="477774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0" name="Oval 169"/>
            <p:cNvSpPr/>
            <p:nvPr/>
          </p:nvSpPr>
          <p:spPr>
            <a:xfrm>
              <a:off x="523494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1" name="Oval 170"/>
            <p:cNvSpPr/>
            <p:nvPr/>
          </p:nvSpPr>
          <p:spPr>
            <a:xfrm>
              <a:off x="5692140" y="2354580"/>
              <a:ext cx="228600" cy="228600"/>
            </a:xfrm>
            <a:prstGeom prst="ellipse">
              <a:avLst/>
            </a:prstGeom>
            <a:solidFill>
              <a:srgbClr val="301A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2" name="Oval 171"/>
            <p:cNvSpPr/>
            <p:nvPr/>
          </p:nvSpPr>
          <p:spPr>
            <a:xfrm>
              <a:off x="386334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3" name="Oval 172"/>
            <p:cNvSpPr/>
            <p:nvPr/>
          </p:nvSpPr>
          <p:spPr>
            <a:xfrm>
              <a:off x="432054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" name="Oval 173"/>
            <p:cNvSpPr/>
            <p:nvPr/>
          </p:nvSpPr>
          <p:spPr>
            <a:xfrm>
              <a:off x="477774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" name="Oval 174"/>
            <p:cNvSpPr/>
            <p:nvPr/>
          </p:nvSpPr>
          <p:spPr>
            <a:xfrm>
              <a:off x="523494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6" name="Oval 175"/>
            <p:cNvSpPr/>
            <p:nvPr/>
          </p:nvSpPr>
          <p:spPr>
            <a:xfrm>
              <a:off x="5692140" y="28117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" name="Oval 176"/>
            <p:cNvSpPr/>
            <p:nvPr/>
          </p:nvSpPr>
          <p:spPr>
            <a:xfrm>
              <a:off x="386334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Oval 177"/>
            <p:cNvSpPr/>
            <p:nvPr/>
          </p:nvSpPr>
          <p:spPr>
            <a:xfrm>
              <a:off x="432054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9" name="Oval 178"/>
            <p:cNvSpPr/>
            <p:nvPr/>
          </p:nvSpPr>
          <p:spPr>
            <a:xfrm>
              <a:off x="477774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0" name="Oval 179"/>
            <p:cNvSpPr/>
            <p:nvPr/>
          </p:nvSpPr>
          <p:spPr>
            <a:xfrm>
              <a:off x="523494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1" name="Oval 180"/>
            <p:cNvSpPr/>
            <p:nvPr/>
          </p:nvSpPr>
          <p:spPr>
            <a:xfrm>
              <a:off x="5692140" y="32689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Oval 181"/>
            <p:cNvSpPr/>
            <p:nvPr/>
          </p:nvSpPr>
          <p:spPr>
            <a:xfrm>
              <a:off x="386334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3" name="Oval 182"/>
            <p:cNvSpPr/>
            <p:nvPr/>
          </p:nvSpPr>
          <p:spPr>
            <a:xfrm>
              <a:off x="432054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4" name="Oval 183"/>
            <p:cNvSpPr/>
            <p:nvPr/>
          </p:nvSpPr>
          <p:spPr>
            <a:xfrm>
              <a:off x="477774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Oval 184"/>
            <p:cNvSpPr/>
            <p:nvPr/>
          </p:nvSpPr>
          <p:spPr>
            <a:xfrm>
              <a:off x="523494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Oval 185"/>
            <p:cNvSpPr/>
            <p:nvPr/>
          </p:nvSpPr>
          <p:spPr>
            <a:xfrm>
              <a:off x="5692140" y="3726180"/>
              <a:ext cx="228600" cy="228600"/>
            </a:xfrm>
            <a:prstGeom prst="ellipse">
              <a:avLst/>
            </a:prstGeom>
            <a:solidFill>
              <a:srgbClr val="F36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87" name="Map 2 lines"/>
          <p:cNvGrpSpPr/>
          <p:nvPr/>
        </p:nvGrpSpPr>
        <p:grpSpPr>
          <a:xfrm>
            <a:off x="3749040" y="1783080"/>
            <a:ext cx="2286000" cy="2286000"/>
            <a:chOff x="3749040" y="1783080"/>
            <a:chExt cx="2286000" cy="2286000"/>
          </a:xfrm>
        </p:grpSpPr>
        <p:cxnSp>
          <p:nvCxnSpPr>
            <p:cNvPr id="188" name="Connector 187"/>
            <p:cNvCxnSpPr/>
            <p:nvPr/>
          </p:nvCxnSpPr>
          <p:spPr>
            <a:xfrm>
              <a:off x="4206240" y="17830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>
              <a:off x="4663440" y="17830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>
              <a:off x="5120640" y="17830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>
              <a:off x="5577840" y="17830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>
              <a:off x="4206240" y="22402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ctor 192"/>
            <p:cNvCxnSpPr/>
            <p:nvPr/>
          </p:nvCxnSpPr>
          <p:spPr>
            <a:xfrm>
              <a:off x="4663440" y="22402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or 193"/>
            <p:cNvCxnSpPr/>
            <p:nvPr/>
          </p:nvCxnSpPr>
          <p:spPr>
            <a:xfrm>
              <a:off x="5120640" y="22402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ctor 194"/>
            <p:cNvCxnSpPr/>
            <p:nvPr/>
          </p:nvCxnSpPr>
          <p:spPr>
            <a:xfrm>
              <a:off x="5577840" y="22402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5"/>
            <p:cNvCxnSpPr/>
            <p:nvPr/>
          </p:nvCxnSpPr>
          <p:spPr>
            <a:xfrm>
              <a:off x="4206240" y="26974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196"/>
            <p:cNvCxnSpPr/>
            <p:nvPr/>
          </p:nvCxnSpPr>
          <p:spPr>
            <a:xfrm>
              <a:off x="4663440" y="26974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ctor 197"/>
            <p:cNvCxnSpPr/>
            <p:nvPr/>
          </p:nvCxnSpPr>
          <p:spPr>
            <a:xfrm>
              <a:off x="5120640" y="26974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98"/>
            <p:cNvCxnSpPr/>
            <p:nvPr/>
          </p:nvCxnSpPr>
          <p:spPr>
            <a:xfrm>
              <a:off x="5577840" y="26974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99"/>
            <p:cNvCxnSpPr/>
            <p:nvPr/>
          </p:nvCxnSpPr>
          <p:spPr>
            <a:xfrm>
              <a:off x="4206240" y="31546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200"/>
            <p:cNvCxnSpPr/>
            <p:nvPr/>
          </p:nvCxnSpPr>
          <p:spPr>
            <a:xfrm>
              <a:off x="4663440" y="31546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201"/>
            <p:cNvCxnSpPr/>
            <p:nvPr/>
          </p:nvCxnSpPr>
          <p:spPr>
            <a:xfrm>
              <a:off x="5120640" y="31546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or 202"/>
            <p:cNvCxnSpPr/>
            <p:nvPr/>
          </p:nvCxnSpPr>
          <p:spPr>
            <a:xfrm>
              <a:off x="5577840" y="31546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 203"/>
            <p:cNvCxnSpPr/>
            <p:nvPr/>
          </p:nvCxnSpPr>
          <p:spPr>
            <a:xfrm>
              <a:off x="4206240" y="36118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ctor 204"/>
            <p:cNvCxnSpPr/>
            <p:nvPr/>
          </p:nvCxnSpPr>
          <p:spPr>
            <a:xfrm>
              <a:off x="4663440" y="36118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or 205"/>
            <p:cNvCxnSpPr/>
            <p:nvPr/>
          </p:nvCxnSpPr>
          <p:spPr>
            <a:xfrm>
              <a:off x="5120640" y="36118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 206"/>
            <p:cNvCxnSpPr/>
            <p:nvPr/>
          </p:nvCxnSpPr>
          <p:spPr>
            <a:xfrm>
              <a:off x="5577840" y="3611880"/>
              <a:ext cx="0" cy="457200"/>
            </a:xfrm>
            <a:prstGeom prst="line">
              <a:avLst/>
            </a:prstGeom>
            <a:ln w="44450">
              <a:solidFill>
                <a:srgbClr val="3217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Rectangle 207"/>
            <p:cNvSpPr/>
            <p:nvPr/>
          </p:nvSpPr>
          <p:spPr>
            <a:xfrm>
              <a:off x="3749040" y="1783080"/>
              <a:ext cx="2286000" cy="2286000"/>
            </a:xfrm>
            <a:prstGeom prst="rect">
              <a:avLst/>
            </a:prstGeom>
            <a:noFill/>
            <a:ln w="44450">
              <a:solidFill>
                <a:srgbClr val="3217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09" name="Map 2 result"/>
          <p:cNvSpPr/>
          <p:nvPr/>
        </p:nvSpPr>
        <p:spPr>
          <a:xfrm>
            <a:off x="3474720" y="4142232"/>
            <a:ext cx="283464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400" b="0" i="0">
                <a:solidFill>
                  <a:srgbClr val="5C5C5C"/>
                </a:solidFill>
                <a:latin typeface="Calibri"/>
                <a:cs typeface="Calibri"/>
              </a:rPr>
              <a:t>By column</a:t>
            </a:r>
          </a:p>
          <a:p>
            <a:pPr marL="0" indent="0" algn="ctr">
              <a:buNone/>
            </a:pPr>
            <a:r>
              <a:rPr sz="1900" b="1" i="0">
                <a:solidFill>
                  <a:srgbClr val="F3672A"/>
                </a:solidFill>
                <a:latin typeface="Calibri"/>
                <a:cs typeface="Calibri"/>
              </a:rPr>
              <a:t>Orange 5</a:t>
            </a:r>
            <a:r>
              <a:rPr sz="1900" b="1" i="0">
                <a:solidFill>
                  <a:srgbClr val="321744"/>
                </a:solidFill>
                <a:latin typeface="Calibri"/>
                <a:cs typeface="Calibri"/>
              </a:rPr>
              <a:t>  ·  </a:t>
            </a:r>
            <a:r>
              <a:rPr sz="1900" b="1" i="0">
                <a:solidFill>
                  <a:srgbClr val="301A41"/>
                </a:solidFill>
                <a:latin typeface="Calibri"/>
                <a:cs typeface="Calibri"/>
              </a:rPr>
              <a:t>Purple 0</a:t>
            </a:r>
          </a:p>
        </p:txBody>
      </p:sp>
      <p:grpSp>
        <p:nvGrpSpPr>
          <p:cNvPr id="210" name="Map 3 cells"/>
          <p:cNvGrpSpPr/>
          <p:nvPr/>
        </p:nvGrpSpPr>
        <p:grpSpPr>
          <a:xfrm>
            <a:off x="6812280" y="1783080"/>
            <a:ext cx="2286000" cy="2286000"/>
            <a:chOff x="6812280" y="1783080"/>
            <a:chExt cx="2286000" cy="2286000"/>
          </a:xfrm>
        </p:grpSpPr>
        <p:sp>
          <p:nvSpPr>
            <p:cNvPr id="211" name="Rectangle 210"/>
            <p:cNvSpPr/>
            <p:nvPr/>
          </p:nvSpPr>
          <p:spPr>
            <a:xfrm>
              <a:off x="681228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726948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772668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818388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8641080" y="17830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681228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726948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772668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818388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8641080" y="22402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81228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726948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772668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818388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8641080" y="26974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681228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726948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772668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818388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8641080" y="31546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1228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726948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772668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818388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8641080" y="3611880"/>
              <a:ext cx="457200" cy="457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08" name="Map 3 result"/>
          <p:cNvSpPr/>
          <p:nvPr/>
        </p:nvSpPr>
        <p:spPr>
          <a:xfrm>
            <a:off x="6537960" y="4142232"/>
            <a:ext cx="283464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C5C5C"/>
                </a:solidFill>
                <a:latin typeface="Calibri"/>
                <a:cs typeface="Calibri"/>
              </a:rPr>
              <a:t>Can we draw one for purple?</a:t>
            </a:r>
            <a:endParaRPr sz="1400" b="0" i="0" dirty="0">
              <a:solidFill>
                <a:srgbClr val="5C5C5C"/>
              </a:solidFill>
              <a:latin typeface="Calibri"/>
              <a:cs typeface="Calibri"/>
            </a:endParaRPr>
          </a:p>
          <a:p>
            <a:pPr marL="0" indent="0" algn="ctr">
              <a:buNone/>
            </a:pPr>
            <a:r>
              <a:rPr sz="1900" b="1" i="0" dirty="0">
                <a:solidFill>
                  <a:srgbClr val="F3672A"/>
                </a:solidFill>
                <a:latin typeface="Calibri"/>
                <a:cs typeface="Calibri"/>
              </a:rPr>
              <a:t>Orange 2</a:t>
            </a:r>
            <a:r>
              <a:rPr sz="1900" b="1" i="0" dirty="0">
                <a:solidFill>
                  <a:srgbClr val="321744"/>
                </a:solidFill>
                <a:latin typeface="Calibri"/>
                <a:cs typeface="Calibri"/>
              </a:rPr>
              <a:t>  ·  </a:t>
            </a:r>
            <a:r>
              <a:rPr sz="1900" b="1" i="0" dirty="0">
                <a:solidFill>
                  <a:srgbClr val="301A41"/>
                </a:solidFill>
                <a:latin typeface="Calibri"/>
                <a:cs typeface="Calibri"/>
              </a:rPr>
              <a:t>Purple 3</a:t>
            </a:r>
          </a:p>
        </p:txBody>
      </p:sp>
      <p:sp>
        <p:nvSpPr>
          <p:cNvPr id="309" name="Proportional box"/>
          <p:cNvSpPr/>
          <p:nvPr/>
        </p:nvSpPr>
        <p:spPr>
          <a:xfrm>
            <a:off x="9646920" y="178308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9050">
            <a:solidFill>
              <a:srgbClr val="F36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 i="0">
                <a:solidFill>
                  <a:srgbClr val="F3672A"/>
                </a:solidFill>
                <a:latin typeface="Calibri"/>
                <a:cs typeface="Calibri"/>
              </a:rPr>
              <a:t>ONE DISTRICT, FIVE SEATS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sz="1700" b="1" i="0">
                <a:solidFill>
                  <a:srgbClr val="321744"/>
                </a:solidFill>
                <a:latin typeface="Calibri"/>
                <a:cs typeface="Calibri"/>
              </a:rPr>
              <a:t>Proportional rules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sz="1900" b="1" i="0">
                <a:solidFill>
                  <a:srgbClr val="F3672A"/>
                </a:solidFill>
                <a:latin typeface="Calibri"/>
                <a:cs typeface="Calibri"/>
              </a:rPr>
              <a:t>Orange 3</a:t>
            </a:r>
            <a:r>
              <a:rPr sz="1900" b="1" i="0">
                <a:solidFill>
                  <a:srgbClr val="321744"/>
                </a:solidFill>
                <a:latin typeface="Calibri"/>
                <a:cs typeface="Calibri"/>
              </a:rPr>
              <a:t>  ·  </a:t>
            </a:r>
            <a:r>
              <a:rPr sz="1900" b="1" i="0">
                <a:solidFill>
                  <a:srgbClr val="301A41"/>
                </a:solidFill>
                <a:latin typeface="Calibri"/>
                <a:cs typeface="Calibri"/>
              </a:rPr>
              <a:t>Purple 2</a:t>
            </a:r>
          </a:p>
          <a:p>
            <a:pPr marL="0" indent="0" algn="ctr">
              <a:buNone/>
            </a:pPr>
            <a:r>
              <a:rPr sz="1500" b="0" i="0">
                <a:solidFill>
                  <a:srgbClr val="321744"/>
                </a:solidFill>
                <a:latin typeface="Calibri"/>
                <a:cs typeface="Calibri"/>
              </a:rPr>
              <a:t>There are no lines to draw.</a:t>
            </a:r>
          </a:p>
        </p:txBody>
      </p:sp>
      <p:sp>
        <p:nvSpPr>
          <p:cNvPr id="310" name="Footnote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>
            <a:normAutofit/>
          </a:bodyPr>
          <a:lstStyle/>
          <a:p>
            <a:pPr marL="0" indent="0" algn="ctr">
              <a:buNone/>
            </a:pPr>
            <a:r>
              <a:rPr sz="1400" b="0" i="1">
                <a:solidFill>
                  <a:srgbClr val="5C5C5C"/>
                </a:solidFill>
                <a:latin typeface="Calibri"/>
                <a:cs typeface="Calibri"/>
              </a:rPr>
              <a:t>“Proportional districts cannot be manipulated like single-winner districts, where parties can win more seats simply by shifting voters between districts.”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209" grpId="0" animBg="1"/>
      <p:bldP spid="308" grpId="0" animBg="1"/>
      <p:bldP spid="309" grpId="0" animBg="1"/>
      <p:bldP spid="3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Electoral systems turn votes into seats, and politicians choose them</a:t>
            </a:r>
          </a:p>
          <a:p>
            <a:r>
              <a:rPr dirty="0"/>
              <a:t>The fewer seats per district, the further seats stray from votes</a:t>
            </a:r>
          </a:p>
          <a:p>
            <a:r>
              <a:rPr dirty="0"/>
              <a:t>Duverger’s law: a mechanical effect and a psychological effect</a:t>
            </a:r>
          </a:p>
          <a:p>
            <a:r>
              <a:rPr dirty="0"/>
              <a:t>Every system trades proportionality against </a:t>
            </a:r>
            <a:r>
              <a:rPr lang="en-US" dirty="0"/>
              <a:t>local representation and fewer, larger, parties</a:t>
            </a:r>
            <a:endParaRPr dirty="0"/>
          </a:p>
          <a:p>
            <a:r>
              <a:rPr dirty="0"/>
              <a:t>Under debate this year: Britain, Italy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F3A67B4-7677-6D48-8A23-307ED2182D5F}" vid="{2DDAFCB2-C0F4-134B-95C2-A0AF19CD5C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5B7E29D531854B94AF162BA5E34C01" ma:contentTypeVersion="7" ma:contentTypeDescription="Create a new document." ma:contentTypeScope="" ma:versionID="a2d9ab3b17afba22fc6238f31afd41c4">
  <xsd:schema xmlns:xsd="http://www.w3.org/2001/XMLSchema" xmlns:xs="http://www.w3.org/2001/XMLSchema" xmlns:p="http://schemas.microsoft.com/office/2006/metadata/properties" xmlns:ns2="a715ae59-2f24-4114-8440-5cd12e181661" targetNamespace="http://schemas.microsoft.com/office/2006/metadata/properties" ma:root="true" ma:fieldsID="5637070ca8fd4ee77d34cf4d1beb725d" ns2:_="">
    <xsd:import namespace="a715ae59-2f24-4114-8440-5cd12e1816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5ae59-2f24-4114-8440-5cd12e1816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0DAE83-54CE-43D5-92CC-2BDDDDCC19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15ae59-2f24-4114-8440-5cd12e1816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2C7DAE-7229-4980-9A9B-F34468D09F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780447-5855-4BB0-83B6-5A98EE7B0F8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3970</TotalTime>
  <Words>2623</Words>
  <Application>Microsoft Macintosh PowerPoint</Application>
  <PresentationFormat>Widescreen</PresentationFormat>
  <Paragraphs>418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Franklin Gothic Book</vt:lpstr>
      <vt:lpstr>Franklin Gothic Medium Cond</vt:lpstr>
      <vt:lpstr>Sabon Next LT</vt:lpstr>
      <vt:lpstr>Office Theme</vt:lpstr>
      <vt:lpstr>POSC 3710: European Politics</vt:lpstr>
      <vt:lpstr>Britain May Change the Rules</vt:lpstr>
      <vt:lpstr>Guess the Number: Britain, 2024</vt:lpstr>
      <vt:lpstr>A Minimum Definition of Democracy</vt:lpstr>
      <vt:lpstr>European Electoral Systems</vt:lpstr>
      <vt:lpstr>How Far Are Seats from Votes?</vt:lpstr>
      <vt:lpstr>Duverger’s Law</vt:lpstr>
      <vt:lpstr>Guess the Number: Britain, 1983</vt:lpstr>
      <vt:lpstr>Guess the Number: Britain, Today</vt:lpstr>
      <vt:lpstr>Disproportionality in Winner-Take-All Elections</vt:lpstr>
      <vt:lpstr>The Trade-Off</vt:lpstr>
      <vt:lpstr>France: Majority Elections with Runoffs</vt:lpstr>
      <vt:lpstr>France 2024: First in Votes, Third in Seats</vt:lpstr>
      <vt:lpstr>Proportional Representation</vt:lpstr>
      <vt:lpstr>Open List or Closed List</vt:lpstr>
      <vt:lpstr>Threshold or Not?</vt:lpstr>
      <vt:lpstr>Spain’s Hidden Threshold</vt:lpstr>
      <vt:lpstr>MMP Explainer</vt:lpstr>
      <vt:lpstr>Mixed-Member Systems: The Best of Both Worlds?</vt:lpstr>
      <vt:lpstr>Same Votes, Three Parliaments</vt:lpstr>
      <vt:lpstr>America’s Two-Party Problem</vt:lpstr>
      <vt:lpstr>Georgia: 14 Seats, Two Ways to Fill Them</vt:lpstr>
      <vt:lpstr>Draw the Districts</vt:lpstr>
      <vt:lpstr>Key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William Horne</dc:creator>
  <cp:lastModifiedBy>Will Horne</cp:lastModifiedBy>
  <cp:revision>21</cp:revision>
  <dcterms:created xsi:type="dcterms:W3CDTF">2025-01-14T20:27:56Z</dcterms:created>
  <dcterms:modified xsi:type="dcterms:W3CDTF">2026-10-26T16:12:23Z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0x010100555B7E29D531854B94AF162BA5E34C01</vt:lpwstr>
  </property>
</Properties>
</file>