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handoutMasterIdLst>
    <p:handoutMasterId r:id="rId27"/>
  </p:handoutMasterIdLst>
  <p:sldIdLst>
    <p:sldId id="256" r:id="rId5"/>
    <p:sldId id="287" r:id="rId6"/>
    <p:sldId id="257" r:id="rId7"/>
    <p:sldId id="258" r:id="rId8"/>
    <p:sldId id="259" r:id="rId9"/>
    <p:sldId id="260" r:id="rId10"/>
    <p:sldId id="261" r:id="rId11"/>
    <p:sldId id="263" r:id="rId12"/>
    <p:sldId id="272" r:id="rId13"/>
    <p:sldId id="273" r:id="rId14"/>
    <p:sldId id="274" r:id="rId15"/>
    <p:sldId id="275" r:id="rId16"/>
    <p:sldId id="276" r:id="rId17"/>
    <p:sldId id="277" r:id="rId18"/>
    <p:sldId id="278" r:id="rId19"/>
    <p:sldId id="279" r:id="rId20"/>
    <p:sldId id="280" r:id="rId21"/>
    <p:sldId id="281" r:id="rId22"/>
    <p:sldId id="282" r:id="rId23"/>
    <p:sldId id="284" r:id="rId24"/>
    <p:sldId id="28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6600"/>
    <a:srgbClr val="2E1946"/>
    <a:srgbClr val="004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33"/>
    <p:restoredTop sz="79674"/>
  </p:normalViewPr>
  <p:slideViewPr>
    <p:cSldViewPr snapToGrid="0">
      <p:cViewPr varScale="1">
        <p:scale>
          <a:sx n="92" d="100"/>
          <a:sy n="92" d="100"/>
        </p:scale>
        <p:origin x="272" y="16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41" d="100"/>
          <a:sy n="141" d="100"/>
        </p:scale>
        <p:origin x="6248"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29C96F-1000-C65C-C46A-DA14851133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3B95355-E84A-6573-5549-851D4ADC6E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BFA5A5-83E0-C843-A833-1581F35400C2}" type="datetimeFigureOut">
              <a:rPr lang="en-US" smtClean="0"/>
              <a:t>10/19/26</a:t>
            </a:fld>
            <a:endParaRPr lang="en-US"/>
          </a:p>
        </p:txBody>
      </p:sp>
      <p:sp>
        <p:nvSpPr>
          <p:cNvPr id="4" name="Footer Placeholder 3">
            <a:extLst>
              <a:ext uri="{FF2B5EF4-FFF2-40B4-BE49-F238E27FC236}">
                <a16:creationId xmlns:a16="http://schemas.microsoft.com/office/drawing/2014/main" id="{3B227B71-4299-2D9E-4AB0-081BE29BB1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63D7D83-DAF8-7574-6FD2-27143710F8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8934A6-1BE6-7D49-B4FB-2D04BF75834E}" type="slidenum">
              <a:rPr lang="en-US" smtClean="0"/>
              <a:t>‹#›</a:t>
            </a:fld>
            <a:endParaRPr lang="en-US"/>
          </a:p>
        </p:txBody>
      </p:sp>
    </p:spTree>
    <p:extLst>
      <p:ext uri="{BB962C8B-B14F-4D97-AF65-F5344CB8AC3E}">
        <p14:creationId xmlns:p14="http://schemas.microsoft.com/office/powerpoint/2010/main" val="40131333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12DEE5-9574-204D-9FB1-AE984D3E7C31}" type="datetimeFigureOut">
              <a:rPr lang="en-US" smtClean="0"/>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D36EDD-184B-404C-BDB7-A0B1EB463AAB}" type="slidenum">
              <a:rPr lang="en-US" smtClean="0"/>
              <a:t>‹#›</a:t>
            </a:fld>
            <a:endParaRPr lang="en-US"/>
          </a:p>
        </p:txBody>
      </p:sp>
    </p:spTree>
    <p:extLst>
      <p:ext uri="{BB962C8B-B14F-4D97-AF65-F5344CB8AC3E}">
        <p14:creationId xmlns:p14="http://schemas.microsoft.com/office/powerpoint/2010/main" val="515602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D36EDD-184B-404C-BDB7-A0B1EB463AAB}" type="slidenum">
              <a:rPr lang="en-US" smtClean="0"/>
              <a:t>6</a:t>
            </a:fld>
            <a:endParaRPr lang="en-US"/>
          </a:p>
        </p:txBody>
      </p:sp>
    </p:spTree>
    <p:extLst>
      <p:ext uri="{BB962C8B-B14F-4D97-AF65-F5344CB8AC3E}">
        <p14:creationId xmlns:p14="http://schemas.microsoft.com/office/powerpoint/2010/main" val="1496548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D36EDD-184B-404C-BDB7-A0B1EB463AAB}" type="slidenum">
              <a:rPr lang="en-US" smtClean="0"/>
              <a:t>20</a:t>
            </a:fld>
            <a:endParaRPr lang="en-US"/>
          </a:p>
        </p:txBody>
      </p:sp>
    </p:spTree>
    <p:extLst>
      <p:ext uri="{BB962C8B-B14F-4D97-AF65-F5344CB8AC3E}">
        <p14:creationId xmlns:p14="http://schemas.microsoft.com/office/powerpoint/2010/main" val="30582909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icture containing orange, yellow, bright&#10;&#10;Description automatically generated">
            <a:extLst>
              <a:ext uri="{FF2B5EF4-FFF2-40B4-BE49-F238E27FC236}">
                <a16:creationId xmlns:a16="http://schemas.microsoft.com/office/drawing/2014/main" id="{E9FCEB86-C289-BAE5-F910-E0FA7B1DD4A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8968ABF-4D01-3D46-DD50-05AAEA7E7CDB}"/>
              </a:ext>
            </a:extLst>
          </p:cNvPr>
          <p:cNvSpPr>
            <a:spLocks noGrp="1"/>
          </p:cNvSpPr>
          <p:nvPr>
            <p:ph type="ctrTitle" hasCustomPrompt="1"/>
          </p:nvPr>
        </p:nvSpPr>
        <p:spPr>
          <a:xfrm>
            <a:off x="1524000" y="1122363"/>
            <a:ext cx="9144000" cy="2387600"/>
          </a:xfrm>
        </p:spPr>
        <p:txBody>
          <a:bodyPr anchor="b"/>
          <a:lstStyle>
            <a:lvl1pPr algn="l">
              <a:defRPr sz="6000" b="1" i="0">
                <a:solidFill>
                  <a:srgbClr val="2E1946"/>
                </a:solidFill>
                <a:latin typeface="Sabon Next LT" panose="02000500000000000000" pitchFamily="2" charset="0"/>
                <a:cs typeface="Sabon Next LT" panose="02000500000000000000" pitchFamily="2" charset="0"/>
              </a:defRPr>
            </a:lvl1pPr>
          </a:lstStyle>
          <a:p>
            <a:r>
              <a:rPr lang="en-US" dirty="0"/>
              <a:t>Click to add </a:t>
            </a:r>
            <a:br>
              <a:rPr lang="en-US" dirty="0"/>
            </a:br>
            <a:r>
              <a:rPr lang="en-US" dirty="0"/>
              <a:t>Presentation Title</a:t>
            </a:r>
          </a:p>
        </p:txBody>
      </p:sp>
      <p:sp>
        <p:nvSpPr>
          <p:cNvPr id="3" name="Subtitle 2">
            <a:extLst>
              <a:ext uri="{FF2B5EF4-FFF2-40B4-BE49-F238E27FC236}">
                <a16:creationId xmlns:a16="http://schemas.microsoft.com/office/drawing/2014/main" id="{896B38C7-61C8-6264-1ABC-076BA3522294}"/>
              </a:ext>
            </a:extLst>
          </p:cNvPr>
          <p:cNvSpPr>
            <a:spLocks noGrp="1"/>
          </p:cNvSpPr>
          <p:nvPr>
            <p:ph type="subTitle" idx="1" hasCustomPrompt="1"/>
          </p:nvPr>
        </p:nvSpPr>
        <p:spPr>
          <a:xfrm>
            <a:off x="1524000" y="3602038"/>
            <a:ext cx="9144000" cy="1655762"/>
          </a:xfrm>
        </p:spPr>
        <p:txBody>
          <a:bodyPr>
            <a:normAutofit/>
          </a:bodyPr>
          <a:lstStyle>
            <a:lvl1pPr marL="0" indent="0" algn="l">
              <a:buNone/>
              <a:defRPr sz="1600" b="0" i="0" cap="all" spc="300" baseline="0">
                <a:solidFill>
                  <a:srgbClr val="2E1946"/>
                </a:solidFill>
                <a:latin typeface="Franklin Gothic Medium Cond" panose="020B06060304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Unit/Division and/or presenter’s name/title</a:t>
            </a:r>
          </a:p>
        </p:txBody>
      </p:sp>
      <p:pic>
        <p:nvPicPr>
          <p:cNvPr id="9" name="Picture 8" descr="Clemson logo">
            <a:extLst>
              <a:ext uri="{FF2B5EF4-FFF2-40B4-BE49-F238E27FC236}">
                <a16:creationId xmlns:a16="http://schemas.microsoft.com/office/drawing/2014/main" id="{8492A997-2520-187B-104E-CDFE0EF01BD1}"/>
              </a:ext>
            </a:extLst>
          </p:cNvPr>
          <p:cNvPicPr>
            <a:picLocks noChangeAspect="1"/>
          </p:cNvPicPr>
          <p:nvPr userDrawn="1"/>
        </p:nvPicPr>
        <p:blipFill>
          <a:blip r:embed="rId3"/>
          <a:stretch>
            <a:fillRect/>
          </a:stretch>
        </p:blipFill>
        <p:spPr>
          <a:xfrm>
            <a:off x="9218743" y="5626210"/>
            <a:ext cx="2829340" cy="1414670"/>
          </a:xfrm>
          <a:prstGeom prst="rect">
            <a:avLst/>
          </a:prstGeom>
        </p:spPr>
      </p:pic>
    </p:spTree>
    <p:extLst>
      <p:ext uri="{BB962C8B-B14F-4D97-AF65-F5344CB8AC3E}">
        <p14:creationId xmlns:p14="http://schemas.microsoft.com/office/powerpoint/2010/main" val="4002389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pic>
        <p:nvPicPr>
          <p:cNvPr id="7" name="Picture 6" descr="A picture containing text, orange&#10;&#10;Description automatically generated">
            <a:extLst>
              <a:ext uri="{FF2B5EF4-FFF2-40B4-BE49-F238E27FC236}">
                <a16:creationId xmlns:a16="http://schemas.microsoft.com/office/drawing/2014/main" id="{3218C5B7-1B48-9220-02FD-18EAA908CD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6B5D491-FFDD-12DC-F8B9-D44A9110D405}"/>
              </a:ext>
            </a:extLst>
          </p:cNvPr>
          <p:cNvSpPr>
            <a:spLocks noGrp="1"/>
          </p:cNvSpPr>
          <p:nvPr>
            <p:ph type="title" hasCustomPrompt="1"/>
          </p:nvPr>
        </p:nvSpPr>
        <p:spPr>
          <a:xfrm>
            <a:off x="838200" y="365126"/>
            <a:ext cx="10515600" cy="845608"/>
          </a:xfrm>
        </p:spPr>
        <p:txBody>
          <a:bodyPr/>
          <a:lstStyle>
            <a:lvl1pPr>
              <a:defRPr b="1" i="0">
                <a:solidFill>
                  <a:srgbClr val="2E1946"/>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3" name="Content Placeholder 2">
            <a:extLst>
              <a:ext uri="{FF2B5EF4-FFF2-40B4-BE49-F238E27FC236}">
                <a16:creationId xmlns:a16="http://schemas.microsoft.com/office/drawing/2014/main" id="{3983C60D-E7A2-1FAA-6A9A-18C3F0788B1A}"/>
              </a:ext>
            </a:extLst>
          </p:cNvPr>
          <p:cNvSpPr>
            <a:spLocks noGrp="1"/>
          </p:cNvSpPr>
          <p:nvPr>
            <p:ph idx="1" hasCustomPrompt="1"/>
          </p:nvPr>
        </p:nvSpPr>
        <p:spPr>
          <a:xfrm>
            <a:off x="838200" y="1413933"/>
            <a:ext cx="10515600" cy="4309792"/>
          </a:xfrm>
        </p:spPr>
        <p:txBody>
          <a:bodyPr/>
          <a:lstStyle>
            <a:lvl1pPr>
              <a:defRPr b="0" i="0">
                <a:solidFill>
                  <a:srgbClr val="2E1946"/>
                </a:solidFill>
                <a:latin typeface="Franklin Gothic Book" panose="020B0503020102020204" pitchFamily="34" charset="0"/>
              </a:defRPr>
            </a:lvl1pPr>
            <a:lvl2pPr>
              <a:defRPr b="0" i="0">
                <a:solidFill>
                  <a:srgbClr val="2E1946"/>
                </a:solidFill>
                <a:latin typeface="Franklin Gothic Book" panose="020B0503020102020204" pitchFamily="34" charset="0"/>
              </a:defRPr>
            </a:lvl2pPr>
            <a:lvl3pPr>
              <a:defRPr b="0" i="0">
                <a:solidFill>
                  <a:srgbClr val="2E1946"/>
                </a:solidFill>
                <a:latin typeface="Franklin Gothic Book" panose="020B0503020102020204" pitchFamily="34" charset="0"/>
              </a:defRPr>
            </a:lvl3pPr>
            <a:lvl4pPr>
              <a:defRPr b="0" i="0">
                <a:solidFill>
                  <a:srgbClr val="2E1946"/>
                </a:solidFill>
                <a:latin typeface="Franklin Gothic Book" panose="020B0503020102020204" pitchFamily="34" charset="0"/>
              </a:defRPr>
            </a:lvl4pPr>
            <a:lvl5pPr>
              <a:defRPr b="0" i="0">
                <a:solidFill>
                  <a:srgbClr val="2E1946"/>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8970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Left">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B6E6D0E5-30B8-F707-1A18-C16C1DC5F4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B611FD-8E3E-EDB6-39F7-5065D6B8B0CD}"/>
              </a:ext>
            </a:extLst>
          </p:cNvPr>
          <p:cNvSpPr>
            <a:spLocks noGrp="1"/>
          </p:cNvSpPr>
          <p:nvPr>
            <p:ph type="title" hasCustomPrompt="1"/>
          </p:nvPr>
        </p:nvSpPr>
        <p:spPr>
          <a:xfrm>
            <a:off x="838200" y="1831242"/>
            <a:ext cx="4736123" cy="2368306"/>
          </a:xfrm>
        </p:spPr>
        <p:txBody>
          <a:bodyPr anchor="t"/>
          <a:lstStyle>
            <a:lvl1pPr>
              <a:defRPr b="1" i="0">
                <a:solidFill>
                  <a:schemeClr val="bg1"/>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4" name="Content Placeholder 3">
            <a:extLst>
              <a:ext uri="{FF2B5EF4-FFF2-40B4-BE49-F238E27FC236}">
                <a16:creationId xmlns:a16="http://schemas.microsoft.com/office/drawing/2014/main" id="{C02514B4-B8D9-B783-92CA-1398173D2E17}"/>
              </a:ext>
            </a:extLst>
          </p:cNvPr>
          <p:cNvSpPr>
            <a:spLocks noGrp="1"/>
          </p:cNvSpPr>
          <p:nvPr>
            <p:ph sz="half" idx="2" hasCustomPrompt="1"/>
          </p:nvPr>
        </p:nvSpPr>
        <p:spPr>
          <a:xfrm>
            <a:off x="6172200" y="1825625"/>
            <a:ext cx="5181600" cy="4351338"/>
          </a:xfrm>
        </p:spPr>
        <p:txBody>
          <a:bodyPr/>
          <a:lstStyle>
            <a:lvl1pPr>
              <a:defRPr b="0" i="0">
                <a:solidFill>
                  <a:schemeClr val="bg1"/>
                </a:solidFill>
                <a:latin typeface="Franklin Gothic Book" panose="020B0503020102020204" pitchFamily="34" charset="0"/>
              </a:defRPr>
            </a:lvl1pPr>
            <a:lvl2pPr>
              <a:defRPr b="0" i="0">
                <a:solidFill>
                  <a:schemeClr val="bg1"/>
                </a:solidFill>
                <a:latin typeface="Franklin Gothic Book" panose="020B0503020102020204" pitchFamily="34" charset="0"/>
              </a:defRPr>
            </a:lvl2pPr>
            <a:lvl3pPr>
              <a:defRPr b="0" i="0">
                <a:solidFill>
                  <a:schemeClr val="bg1"/>
                </a:solidFill>
                <a:latin typeface="Franklin Gothic Book" panose="020B0503020102020204" pitchFamily="34" charset="0"/>
              </a:defRPr>
            </a:lvl3pPr>
            <a:lvl4pPr>
              <a:defRPr b="0" i="0">
                <a:solidFill>
                  <a:schemeClr val="bg1"/>
                </a:solidFill>
                <a:latin typeface="Franklin Gothic Book" panose="020B0503020102020204" pitchFamily="34" charset="0"/>
              </a:defRPr>
            </a:lvl4pPr>
            <a:lvl5pPr>
              <a:defRPr b="0" i="0">
                <a:solidFill>
                  <a:schemeClr val="bg1"/>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89307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ft Content">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CE9A7DBE-E94F-11FE-B202-FED354F27875}"/>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0" name="Picture 9" descr="A picture containing sky, outdoor&#10;&#10;Description automatically generated">
            <a:extLst>
              <a:ext uri="{FF2B5EF4-FFF2-40B4-BE49-F238E27FC236}">
                <a16:creationId xmlns:a16="http://schemas.microsoft.com/office/drawing/2014/main" id="{F1B14EBB-2F19-A151-9C9E-3D3147237618}"/>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6225988" y="0"/>
            <a:ext cx="5966012" cy="6858000"/>
          </a:xfrm>
          <a:prstGeom prst="rect">
            <a:avLst/>
          </a:prstGeom>
        </p:spPr>
      </p:pic>
      <p:sp>
        <p:nvSpPr>
          <p:cNvPr id="2" name="Title 1">
            <a:extLst>
              <a:ext uri="{FF2B5EF4-FFF2-40B4-BE49-F238E27FC236}">
                <a16:creationId xmlns:a16="http://schemas.microsoft.com/office/drawing/2014/main" id="{44B611FD-8E3E-EDB6-39F7-5065D6B8B0CD}"/>
              </a:ext>
            </a:extLst>
          </p:cNvPr>
          <p:cNvSpPr>
            <a:spLocks noGrp="1"/>
          </p:cNvSpPr>
          <p:nvPr>
            <p:ph type="title" hasCustomPrompt="1"/>
          </p:nvPr>
        </p:nvSpPr>
        <p:spPr>
          <a:xfrm>
            <a:off x="644769" y="373918"/>
            <a:ext cx="5181600" cy="1542806"/>
          </a:xfrm>
        </p:spPr>
        <p:txBody>
          <a:bodyPr/>
          <a:lstStyle>
            <a:lvl1pPr>
              <a:defRPr b="1" i="0">
                <a:solidFill>
                  <a:schemeClr val="bg1"/>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3" name="Content Placeholder 2">
            <a:extLst>
              <a:ext uri="{FF2B5EF4-FFF2-40B4-BE49-F238E27FC236}">
                <a16:creationId xmlns:a16="http://schemas.microsoft.com/office/drawing/2014/main" id="{AA6848D1-E40A-0169-72CA-57B7B3A4537D}"/>
              </a:ext>
            </a:extLst>
          </p:cNvPr>
          <p:cNvSpPr>
            <a:spLocks noGrp="1"/>
          </p:cNvSpPr>
          <p:nvPr>
            <p:ph sz="half" idx="1" hasCustomPrompt="1"/>
          </p:nvPr>
        </p:nvSpPr>
        <p:spPr>
          <a:xfrm>
            <a:off x="644769" y="2150330"/>
            <a:ext cx="5181600" cy="4351338"/>
          </a:xfrm>
        </p:spPr>
        <p:txBody>
          <a:bodyPr/>
          <a:lstStyle>
            <a:lvl1pPr>
              <a:defRPr b="0" i="0">
                <a:solidFill>
                  <a:schemeClr val="bg1"/>
                </a:solidFill>
                <a:latin typeface="Franklin Gothic Book" panose="020B0503020102020204" pitchFamily="34" charset="0"/>
              </a:defRPr>
            </a:lvl1pPr>
            <a:lvl2pPr>
              <a:defRPr b="0" i="0">
                <a:solidFill>
                  <a:schemeClr val="bg1"/>
                </a:solidFill>
                <a:latin typeface="Franklin Gothic Book" panose="020B0503020102020204" pitchFamily="34" charset="0"/>
              </a:defRPr>
            </a:lvl2pPr>
            <a:lvl3pPr>
              <a:defRPr b="0" i="0">
                <a:solidFill>
                  <a:schemeClr val="bg1"/>
                </a:solidFill>
                <a:latin typeface="Franklin Gothic Book" panose="020B0503020102020204" pitchFamily="34" charset="0"/>
              </a:defRPr>
            </a:lvl3pPr>
            <a:lvl4pPr>
              <a:defRPr b="0" i="0">
                <a:solidFill>
                  <a:schemeClr val="bg1"/>
                </a:solidFill>
                <a:latin typeface="Franklin Gothic Book" panose="020B0503020102020204" pitchFamily="34" charset="0"/>
              </a:defRPr>
            </a:lvl4pPr>
            <a:lvl5pPr>
              <a:defRPr b="0" i="0">
                <a:solidFill>
                  <a:schemeClr val="bg1"/>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214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section purple">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F2CC4E72-8006-C0E6-E5E0-5FEC7409108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2497B5-26FE-AD47-D019-4EC9E788E161}"/>
              </a:ext>
            </a:extLst>
          </p:cNvPr>
          <p:cNvSpPr>
            <a:spLocks noGrp="1"/>
          </p:cNvSpPr>
          <p:nvPr>
            <p:ph type="title" hasCustomPrompt="1"/>
          </p:nvPr>
        </p:nvSpPr>
        <p:spPr>
          <a:xfrm>
            <a:off x="831849" y="1709738"/>
            <a:ext cx="10665057" cy="2852737"/>
          </a:xfrm>
        </p:spPr>
        <p:txBody>
          <a:bodyPr anchor="b">
            <a:normAutofit/>
          </a:bodyPr>
          <a:lstStyle>
            <a:lvl1pPr>
              <a:defRPr sz="6600" b="1" i="0">
                <a:solidFill>
                  <a:schemeClr val="bg1"/>
                </a:solidFill>
                <a:latin typeface="Sabon Next LT" panose="02000500000000000000" pitchFamily="2" charset="0"/>
                <a:cs typeface="Sabon Next LT" panose="02000500000000000000" pitchFamily="2" charset="0"/>
              </a:defRPr>
            </a:lvl1pPr>
          </a:lstStyle>
          <a:p>
            <a:r>
              <a:rPr lang="en-US" dirty="0"/>
              <a:t>Click to Edit Section Title</a:t>
            </a:r>
          </a:p>
        </p:txBody>
      </p:sp>
    </p:spTree>
    <p:extLst>
      <p:ext uri="{BB962C8B-B14F-4D97-AF65-F5344CB8AC3E}">
        <p14:creationId xmlns:p14="http://schemas.microsoft.com/office/powerpoint/2010/main" val="2839801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section ornage">
    <p:spTree>
      <p:nvGrpSpPr>
        <p:cNvPr id="1" name=""/>
        <p:cNvGrpSpPr/>
        <p:nvPr/>
      </p:nvGrpSpPr>
      <p:grpSpPr>
        <a:xfrm>
          <a:off x="0" y="0"/>
          <a:ext cx="0" cy="0"/>
          <a:chOff x="0" y="0"/>
          <a:chExt cx="0" cy="0"/>
        </a:xfrm>
      </p:grpSpPr>
      <p:pic>
        <p:nvPicPr>
          <p:cNvPr id="3" name="Picture 2" descr="A picture containing orange, yellow, bright&#10;&#10;Description automatically generated">
            <a:extLst>
              <a:ext uri="{FF2B5EF4-FFF2-40B4-BE49-F238E27FC236}">
                <a16:creationId xmlns:a16="http://schemas.microsoft.com/office/drawing/2014/main" id="{07D40A01-AAA7-1D91-B3D8-4DE65034923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2497B5-26FE-AD47-D019-4EC9E788E161}"/>
              </a:ext>
            </a:extLst>
          </p:cNvPr>
          <p:cNvSpPr>
            <a:spLocks noGrp="1"/>
          </p:cNvSpPr>
          <p:nvPr>
            <p:ph type="title" hasCustomPrompt="1"/>
          </p:nvPr>
        </p:nvSpPr>
        <p:spPr>
          <a:xfrm>
            <a:off x="831850" y="1709738"/>
            <a:ext cx="10709662" cy="2852737"/>
          </a:xfrm>
        </p:spPr>
        <p:txBody>
          <a:bodyPr anchor="b">
            <a:normAutofit/>
          </a:bodyPr>
          <a:lstStyle>
            <a:lvl1pPr>
              <a:defRPr sz="6600" b="1" i="0">
                <a:solidFill>
                  <a:srgbClr val="2E1946"/>
                </a:solidFill>
                <a:latin typeface="Sabon Next LT" panose="02000500000000000000" pitchFamily="2" charset="0"/>
                <a:cs typeface="Sabon Next LT" panose="02000500000000000000" pitchFamily="2" charset="0"/>
              </a:defRPr>
            </a:lvl1pPr>
          </a:lstStyle>
          <a:p>
            <a:r>
              <a:rPr lang="en-US" dirty="0"/>
              <a:t>Click to Edit Section Title</a:t>
            </a:r>
          </a:p>
        </p:txBody>
      </p:sp>
    </p:spTree>
    <p:extLst>
      <p:ext uri="{BB962C8B-B14F-4D97-AF65-F5344CB8AC3E}">
        <p14:creationId xmlns:p14="http://schemas.microsoft.com/office/powerpoint/2010/main" val="2839286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orang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CCDDC-A064-45DD-7CCA-04B7253A071A}"/>
              </a:ext>
            </a:extLst>
          </p:cNvPr>
          <p:cNvSpPr>
            <a:spLocks noGrp="1"/>
          </p:cNvSpPr>
          <p:nvPr>
            <p:ph type="dt" sz="half" idx="10"/>
          </p:nvPr>
        </p:nvSpPr>
        <p:spPr>
          <a:xfrm>
            <a:off x="838200" y="6356350"/>
            <a:ext cx="2743200" cy="365125"/>
          </a:xfrm>
          <a:prstGeom prst="rect">
            <a:avLst/>
          </a:prstGeom>
        </p:spPr>
        <p:txBody>
          <a:bodyPr/>
          <a:lstStyle/>
          <a:p>
            <a:fld id="{6CDDB838-EF86-B949-B36C-251AD94A1C8E}" type="datetimeFigureOut">
              <a:rPr lang="en-US" smtClean="0"/>
              <a:t>10/19/26</a:t>
            </a:fld>
            <a:endParaRPr lang="en-US"/>
          </a:p>
        </p:txBody>
      </p:sp>
      <p:sp>
        <p:nvSpPr>
          <p:cNvPr id="3" name="Footer Placeholder 2">
            <a:extLst>
              <a:ext uri="{FF2B5EF4-FFF2-40B4-BE49-F238E27FC236}">
                <a16:creationId xmlns:a16="http://schemas.microsoft.com/office/drawing/2014/main" id="{93BC43AE-8F9F-7A45-8622-0BC972342C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BF72D84-1CD8-E501-7962-0A18C3B5CD1C}"/>
              </a:ext>
            </a:extLst>
          </p:cNvPr>
          <p:cNvSpPr>
            <a:spLocks noGrp="1"/>
          </p:cNvSpPr>
          <p:nvPr>
            <p:ph type="sldNum" sz="quarter" idx="12"/>
          </p:nvPr>
        </p:nvSpPr>
        <p:spPr>
          <a:xfrm>
            <a:off x="8610600" y="6356350"/>
            <a:ext cx="2743200" cy="365125"/>
          </a:xfrm>
          <a:prstGeom prst="rect">
            <a:avLst/>
          </a:prstGeom>
        </p:spPr>
        <p:txBody>
          <a:bodyPr/>
          <a:lstStyle/>
          <a:p>
            <a:fld id="{80E3CDEB-8119-314D-8B42-1AC764E01F97}" type="slidenum">
              <a:rPr lang="en-US" smtClean="0"/>
              <a:t>‹#›</a:t>
            </a:fld>
            <a:endParaRPr lang="en-US"/>
          </a:p>
        </p:txBody>
      </p:sp>
      <p:pic>
        <p:nvPicPr>
          <p:cNvPr id="5" name="Picture 4" descr="A picture containing orange, yellow, bright&#10;&#10;Description automatically generated">
            <a:extLst>
              <a:ext uri="{FF2B5EF4-FFF2-40B4-BE49-F238E27FC236}">
                <a16:creationId xmlns:a16="http://schemas.microsoft.com/office/drawing/2014/main" id="{D9B3203B-93E8-5265-CEB3-C3D7347A256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7B491ABA-1768-D306-08E1-704F99EE3F94}"/>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671816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A8D12DF9-9FA3-E494-C157-ADFC07CB503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87923E18-677B-DA18-379C-72DE7A6C2382}"/>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3116068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Orange - paw">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CCDDC-A064-45DD-7CCA-04B7253A071A}"/>
              </a:ext>
            </a:extLst>
          </p:cNvPr>
          <p:cNvSpPr>
            <a:spLocks noGrp="1"/>
          </p:cNvSpPr>
          <p:nvPr>
            <p:ph type="dt" sz="half" idx="10"/>
          </p:nvPr>
        </p:nvSpPr>
        <p:spPr>
          <a:xfrm>
            <a:off x="838200" y="6356350"/>
            <a:ext cx="2743200" cy="365125"/>
          </a:xfrm>
          <a:prstGeom prst="rect">
            <a:avLst/>
          </a:prstGeom>
        </p:spPr>
        <p:txBody>
          <a:bodyPr/>
          <a:lstStyle/>
          <a:p>
            <a:fld id="{6CDDB838-EF86-B949-B36C-251AD94A1C8E}" type="datetimeFigureOut">
              <a:rPr lang="en-US" smtClean="0"/>
              <a:t>10/19/26</a:t>
            </a:fld>
            <a:endParaRPr lang="en-US"/>
          </a:p>
        </p:txBody>
      </p:sp>
      <p:sp>
        <p:nvSpPr>
          <p:cNvPr id="3" name="Footer Placeholder 2">
            <a:extLst>
              <a:ext uri="{FF2B5EF4-FFF2-40B4-BE49-F238E27FC236}">
                <a16:creationId xmlns:a16="http://schemas.microsoft.com/office/drawing/2014/main" id="{93BC43AE-8F9F-7A45-8622-0BC972342C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BF72D84-1CD8-E501-7962-0A18C3B5CD1C}"/>
              </a:ext>
            </a:extLst>
          </p:cNvPr>
          <p:cNvSpPr>
            <a:spLocks noGrp="1"/>
          </p:cNvSpPr>
          <p:nvPr>
            <p:ph type="sldNum" sz="quarter" idx="12"/>
          </p:nvPr>
        </p:nvSpPr>
        <p:spPr>
          <a:xfrm>
            <a:off x="8610600" y="6356350"/>
            <a:ext cx="2743200" cy="365125"/>
          </a:xfrm>
          <a:prstGeom prst="rect">
            <a:avLst/>
          </a:prstGeom>
        </p:spPr>
        <p:txBody>
          <a:bodyPr/>
          <a:lstStyle/>
          <a:p>
            <a:fld id="{80E3CDEB-8119-314D-8B42-1AC764E01F97}" type="slidenum">
              <a:rPr lang="en-US" smtClean="0"/>
              <a:t>‹#›</a:t>
            </a:fld>
            <a:endParaRPr lang="en-US"/>
          </a:p>
        </p:txBody>
      </p:sp>
      <p:pic>
        <p:nvPicPr>
          <p:cNvPr id="5" name="Picture 4" descr="A picture containing orange, yellow, bright&#10;&#10;Description automatically generated">
            <a:extLst>
              <a:ext uri="{FF2B5EF4-FFF2-40B4-BE49-F238E27FC236}">
                <a16:creationId xmlns:a16="http://schemas.microsoft.com/office/drawing/2014/main" id="{D9B3203B-93E8-5265-CEB3-C3D7347A256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descr="clemson tiger paw">
            <a:extLst>
              <a:ext uri="{FF2B5EF4-FFF2-40B4-BE49-F238E27FC236}">
                <a16:creationId xmlns:a16="http://schemas.microsoft.com/office/drawing/2014/main" id="{BABE5E18-0A7D-6738-AA9B-DF1C834AE101}"/>
              </a:ext>
            </a:extLst>
          </p:cNvPr>
          <p:cNvPicPr>
            <a:picLocks noChangeAspect="1"/>
          </p:cNvPicPr>
          <p:nvPr userDrawn="1"/>
        </p:nvPicPr>
        <p:blipFill>
          <a:blip r:embed="rId3"/>
          <a:stretch>
            <a:fillRect/>
          </a:stretch>
        </p:blipFill>
        <p:spPr>
          <a:xfrm>
            <a:off x="3352800" y="685800"/>
            <a:ext cx="5486400" cy="5486400"/>
          </a:xfrm>
          <a:prstGeom prst="rect">
            <a:avLst/>
          </a:prstGeom>
        </p:spPr>
      </p:pic>
      <p:sp>
        <p:nvSpPr>
          <p:cNvPr id="7" name="Title 1">
            <a:extLst>
              <a:ext uri="{FF2B5EF4-FFF2-40B4-BE49-F238E27FC236}">
                <a16:creationId xmlns:a16="http://schemas.microsoft.com/office/drawing/2014/main" id="{BFA5162E-6C6D-4D42-4654-84BA23B0D46C}"/>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654330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urple - Paw">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A8D12DF9-9FA3-E494-C157-ADFC07CB5037}"/>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descr="clemson tiger paw">
            <a:extLst>
              <a:ext uri="{FF2B5EF4-FFF2-40B4-BE49-F238E27FC236}">
                <a16:creationId xmlns:a16="http://schemas.microsoft.com/office/drawing/2014/main" id="{38594F7C-BC73-84BE-106F-7C6CA81D33F1}"/>
              </a:ext>
            </a:extLst>
          </p:cNvPr>
          <p:cNvPicPr>
            <a:picLocks noChangeAspect="1"/>
          </p:cNvPicPr>
          <p:nvPr userDrawn="1"/>
        </p:nvPicPr>
        <p:blipFill>
          <a:blip r:embed="rId3"/>
          <a:stretch>
            <a:fillRect/>
          </a:stretch>
        </p:blipFill>
        <p:spPr>
          <a:xfrm>
            <a:off x="3352800" y="685800"/>
            <a:ext cx="5486400" cy="5486400"/>
          </a:xfrm>
          <a:prstGeom prst="rect">
            <a:avLst/>
          </a:prstGeom>
        </p:spPr>
      </p:pic>
      <p:sp>
        <p:nvSpPr>
          <p:cNvPr id="7" name="Title 1">
            <a:extLst>
              <a:ext uri="{FF2B5EF4-FFF2-40B4-BE49-F238E27FC236}">
                <a16:creationId xmlns:a16="http://schemas.microsoft.com/office/drawing/2014/main" id="{455C7694-CA6D-1C42-3EDC-56CD2759BC74}"/>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744084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 arrow">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620BE7E-501E-6569-CA9C-A5BF6CDFD8D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B3F628C4-4CB5-F4A0-BBA3-9F4EBCE4D3C6}"/>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071880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White - texture">
    <p:spTree>
      <p:nvGrpSpPr>
        <p:cNvPr id="1" name=""/>
        <p:cNvGrpSpPr/>
        <p:nvPr/>
      </p:nvGrpSpPr>
      <p:grpSpPr>
        <a:xfrm>
          <a:off x="0" y="0"/>
          <a:ext cx="0" cy="0"/>
          <a:chOff x="0" y="0"/>
          <a:chExt cx="0" cy="0"/>
        </a:xfrm>
      </p:grpSpPr>
      <p:pic>
        <p:nvPicPr>
          <p:cNvPr id="4" name="Picture 3" descr="A picture containing cloudy&#10;&#10;Description automatically generated">
            <a:extLst>
              <a:ext uri="{FF2B5EF4-FFF2-40B4-BE49-F238E27FC236}">
                <a16:creationId xmlns:a16="http://schemas.microsoft.com/office/drawing/2014/main" id="{2EC047A0-1136-7375-8BB3-BB258DE360D1}"/>
              </a:ext>
            </a:extLst>
          </p:cNvPr>
          <p:cNvPicPr>
            <a:picLocks noChangeAspect="1"/>
          </p:cNvPicPr>
          <p:nvPr userDrawn="1"/>
        </p:nvPicPr>
        <p:blipFill>
          <a:blip r:embed="rId2"/>
          <a:stretch>
            <a:fillRect/>
          </a:stretch>
        </p:blipFill>
        <p:spPr>
          <a:xfrm>
            <a:off x="3400" y="3048"/>
            <a:ext cx="12188600" cy="6858000"/>
          </a:xfrm>
          <a:prstGeom prst="rect">
            <a:avLst/>
          </a:prstGeom>
        </p:spPr>
      </p:pic>
      <p:sp>
        <p:nvSpPr>
          <p:cNvPr id="5" name="Title 1">
            <a:extLst>
              <a:ext uri="{FF2B5EF4-FFF2-40B4-BE49-F238E27FC236}">
                <a16:creationId xmlns:a16="http://schemas.microsoft.com/office/drawing/2014/main" id="{26EDC1F1-6562-EE88-8B6C-254F9F3FFE20}"/>
              </a:ext>
            </a:extLst>
          </p:cNvPr>
          <p:cNvSpPr>
            <a:spLocks noGrp="1"/>
          </p:cNvSpPr>
          <p:nvPr>
            <p:ph type="title" hasCustomPrompt="1"/>
          </p:nvPr>
        </p:nvSpPr>
        <p:spPr>
          <a:xfrm>
            <a:off x="0" y="-379080"/>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377453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75CCEF-8DA5-EF9F-63FD-5F01C214F6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B2B8550-F7BB-8CD4-BFDC-64295DB6E6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7620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3" r:id="rId4"/>
    <p:sldLayoutId id="2147483651" r:id="rId5"/>
    <p:sldLayoutId id="2147483662" r:id="rId6"/>
    <p:sldLayoutId id="2147483655" r:id="rId7"/>
    <p:sldLayoutId id="2147483666" r:id="rId8"/>
    <p:sldLayoutId id="2147483660" r:id="rId9"/>
    <p:sldLayoutId id="2147483667" r:id="rId10"/>
    <p:sldLayoutId id="2147483664" r:id="rId11"/>
    <p:sldLayoutId id="2147483665" r:id="rId12"/>
  </p:sldLayoutIdLst>
  <p:txStyles>
    <p:titleStyle>
      <a:lvl1pPr algn="l" defTabSz="914400" rtl="0" eaLnBrk="1" latinLnBrk="0" hangingPunct="1">
        <a:lnSpc>
          <a:spcPct val="90000"/>
        </a:lnSpc>
        <a:spcBef>
          <a:spcPct val="0"/>
        </a:spcBef>
        <a:buNone/>
        <a:defRPr sz="4400" b="1" i="0" kern="1200">
          <a:solidFill>
            <a:schemeClr val="tx1"/>
          </a:solidFill>
          <a:latin typeface="Sabon Next LT" panose="02000500000000000000" pitchFamily="2" charset="0"/>
          <a:ea typeface="+mj-ea"/>
          <a:cs typeface="Sabon Next LT" panose="020005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12.xml"/><Relationship Id="rId5" Type="http://schemas.openxmlformats.org/officeDocument/2006/relationships/image" Target="../media/image20.jp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POSC 3710: European Politics</a:t>
            </a:r>
          </a:p>
        </p:txBody>
      </p:sp>
      <p:sp>
        <p:nvSpPr>
          <p:cNvPr id="3" name="Subtitle 2"/>
          <p:cNvSpPr>
            <a:spLocks noGrp="1"/>
          </p:cNvSpPr>
          <p:nvPr>
            <p:ph type="subTitle" idx="1"/>
          </p:nvPr>
        </p:nvSpPr>
        <p:spPr/>
        <p:txBody>
          <a:bodyPr/>
          <a:lstStyle/>
          <a:p>
            <a:r>
              <a:t>10/7/2026: European Party Systems</a:t>
            </a:r>
          </a:p>
          <a:p>
            <a:r>
              <a:t>Dr. Will Horne</a:t>
            </a:r>
          </a:p>
          <a:p>
            <a:r>
              <a:t>Clemson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694BA-FE84-7359-15CA-4E08E7C3B4E3}"/>
              </a:ext>
            </a:extLst>
          </p:cNvPr>
          <p:cNvSpPr>
            <a:spLocks noGrp="1"/>
          </p:cNvSpPr>
          <p:nvPr>
            <p:ph type="title"/>
          </p:nvPr>
        </p:nvSpPr>
        <p:spPr/>
        <p:txBody>
          <a:bodyPr/>
          <a:lstStyle/>
          <a:p>
            <a:r>
              <a:rPr lang="en-US" dirty="0"/>
              <a:t>Final Times of Clemson Poll	</a:t>
            </a:r>
          </a:p>
        </p:txBody>
      </p:sp>
      <p:sp>
        <p:nvSpPr>
          <p:cNvPr id="3" name="Content Placeholder 2">
            <a:extLst>
              <a:ext uri="{FF2B5EF4-FFF2-40B4-BE49-F238E27FC236}">
                <a16:creationId xmlns:a16="http://schemas.microsoft.com/office/drawing/2014/main" id="{A19A3847-73BE-5EEC-D3DE-C7FEC1A1DB9E}"/>
              </a:ext>
            </a:extLst>
          </p:cNvPr>
          <p:cNvSpPr>
            <a:spLocks noGrp="1"/>
          </p:cNvSpPr>
          <p:nvPr>
            <p:ph idx="1"/>
          </p:nvPr>
        </p:nvSpPr>
        <p:spPr/>
        <p:txBody>
          <a:bodyPr/>
          <a:lstStyle/>
          <a:p>
            <a:r>
              <a:rPr lang="en-US" dirty="0"/>
              <a:t>Christian Democrats (26%)</a:t>
            </a:r>
          </a:p>
          <a:p>
            <a:r>
              <a:rPr lang="en-US" dirty="0"/>
              <a:t>Social Democrats (24%)</a:t>
            </a:r>
          </a:p>
          <a:p>
            <a:r>
              <a:rPr lang="en-US" dirty="0"/>
              <a:t>Populist Right (18%)</a:t>
            </a:r>
          </a:p>
          <a:p>
            <a:r>
              <a:rPr lang="en-US" dirty="0"/>
              <a:t>Greens (15%)</a:t>
            </a:r>
          </a:p>
          <a:p>
            <a:r>
              <a:rPr lang="en-US" dirty="0"/>
              <a:t>Liberals (12%)</a:t>
            </a:r>
          </a:p>
          <a:p>
            <a:r>
              <a:rPr lang="en-US" dirty="0"/>
              <a:t>Radical Left (5%)</a:t>
            </a:r>
          </a:p>
          <a:p>
            <a:endParaRPr lang="en-US" dirty="0"/>
          </a:p>
          <a:p>
            <a:r>
              <a:rPr lang="en-US" dirty="0"/>
              <a:t>Remember, this is a poll, it may be wrong! </a:t>
            </a:r>
          </a:p>
          <a:p>
            <a:endParaRPr lang="en-US" dirty="0"/>
          </a:p>
        </p:txBody>
      </p:sp>
    </p:spTree>
    <p:extLst>
      <p:ext uri="{BB962C8B-B14F-4D97-AF65-F5344CB8AC3E}">
        <p14:creationId xmlns:p14="http://schemas.microsoft.com/office/powerpoint/2010/main" val="3468037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We Left Off</a:t>
            </a:r>
          </a:p>
        </p:txBody>
      </p:sp>
      <p:sp>
        <p:nvSpPr>
          <p:cNvPr id="3" name="Content Placeholder 2"/>
          <p:cNvSpPr>
            <a:spLocks noGrp="1"/>
          </p:cNvSpPr>
          <p:nvPr>
            <p:ph idx="1"/>
          </p:nvPr>
        </p:nvSpPr>
        <p:spPr/>
        <p:txBody>
          <a:bodyPr/>
          <a:lstStyle/>
          <a:p>
            <a:r>
              <a:rPr lang="en-US" dirty="0"/>
              <a:t>Before the Midterm</a:t>
            </a:r>
            <a:r>
              <a:rPr dirty="0"/>
              <a:t>: presidents, prime ministers, and how governments </a:t>
            </a:r>
            <a:r>
              <a:rPr lang="en-US" dirty="0"/>
              <a:t>can be replaced</a:t>
            </a:r>
            <a:endParaRPr dirty="0"/>
          </a:p>
          <a:p>
            <a:r>
              <a:rPr dirty="0"/>
              <a:t>In a parliamentary system, the government is made of parties</a:t>
            </a:r>
            <a:endParaRPr lang="en-US" dirty="0"/>
          </a:p>
          <a:p>
            <a:pPr lvl="1"/>
            <a:r>
              <a:rPr lang="en-US" dirty="0"/>
              <a:t>Even more so than in the US; and the parties have </a:t>
            </a:r>
            <a:r>
              <a:rPr lang="en-US" i="1" dirty="0"/>
              <a:t>more </a:t>
            </a:r>
            <a:r>
              <a:rPr lang="en-US" dirty="0"/>
              <a:t>power</a:t>
            </a:r>
            <a:endParaRPr dirty="0"/>
          </a:p>
          <a:p>
            <a:r>
              <a:rPr dirty="0"/>
              <a:t>Today: </a:t>
            </a:r>
            <a:r>
              <a:rPr lang="en-US" dirty="0"/>
              <a:t>What are parties, exactly? What is a “party system?”</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Parties and Democracy</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hoto (Lecture 11.pptx, slide 2, picture 1)" descr="image.jpg"/>
          <p:cNvPicPr>
            <a:picLocks noChangeAspect="1"/>
          </p:cNvPicPr>
          <p:nvPr/>
        </p:nvPicPr>
        <p:blipFill>
          <a:blip r:embed="rId2"/>
          <a:srcRect l="2738" r="2738" b="4658"/>
          <a:stretch>
            <a:fillRect/>
          </a:stretch>
        </p:blipFill>
        <p:spPr>
          <a:xfrm>
            <a:off x="548640" y="457200"/>
            <a:ext cx="2514600" cy="3154680"/>
          </a:xfrm>
          <a:prstGeom prst="rect">
            <a:avLst/>
          </a:prstGeom>
          <a:ln w="19050">
            <a:solidFill>
              <a:srgbClr val="BFBFBF"/>
            </a:solidFill>
          </a:ln>
        </p:spPr>
      </p:pic>
      <p:sp>
        <p:nvSpPr>
          <p:cNvPr id="5" name="Quote 1"/>
          <p:cNvSpPr/>
          <p:nvPr/>
        </p:nvSpPr>
        <p:spPr>
          <a:xfrm>
            <a:off x="3200400" y="457200"/>
            <a:ext cx="2834640" cy="3154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000" b="0" i="1" dirty="0">
                <a:solidFill>
                  <a:srgbClr val="321744"/>
                </a:solidFill>
                <a:latin typeface="Calibri"/>
                <a:cs typeface="Calibri"/>
              </a:rPr>
              <a:t>“The political parties created democracy and … modern democracy is unthinkable save in terms of the parties.”</a:t>
            </a:r>
          </a:p>
        </p:txBody>
      </p:sp>
      <p:sp>
        <p:nvSpPr>
          <p:cNvPr id="6" name="Quote 1 source"/>
          <p:cNvSpPr/>
          <p:nvPr/>
        </p:nvSpPr>
        <p:spPr>
          <a:xfrm>
            <a:off x="548640" y="3675888"/>
            <a:ext cx="544068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normAutofit/>
          </a:bodyPr>
          <a:lstStyle/>
          <a:p>
            <a:pPr marL="0" indent="0" algn="l">
              <a:buNone/>
            </a:pPr>
            <a:r>
              <a:rPr sz="1400" b="1" i="0">
                <a:solidFill>
                  <a:srgbClr val="5C5C5C"/>
                </a:solidFill>
                <a:latin typeface="Calibri"/>
                <a:cs typeface="Calibri"/>
              </a:rPr>
              <a:t>E. E. Schattschneider, American political scientist, 1942</a:t>
            </a:r>
          </a:p>
        </p:txBody>
      </p:sp>
      <p:pic>
        <p:nvPicPr>
          <p:cNvPr id="7" name="Photo (Lecture 11.pptx, slide 2, picture 2)" descr="image.jpg"/>
          <p:cNvPicPr>
            <a:picLocks noChangeAspect="1"/>
          </p:cNvPicPr>
          <p:nvPr/>
        </p:nvPicPr>
        <p:blipFill>
          <a:blip r:embed="rId3"/>
          <a:srcRect t="4117" b="9633"/>
          <a:stretch>
            <a:fillRect/>
          </a:stretch>
        </p:blipFill>
        <p:spPr>
          <a:xfrm>
            <a:off x="6263640" y="457200"/>
            <a:ext cx="2514600" cy="3154680"/>
          </a:xfrm>
          <a:prstGeom prst="rect">
            <a:avLst/>
          </a:prstGeom>
          <a:ln w="19050">
            <a:solidFill>
              <a:srgbClr val="BFBFBF"/>
            </a:solidFill>
          </a:ln>
        </p:spPr>
      </p:pic>
      <p:sp>
        <p:nvSpPr>
          <p:cNvPr id="8" name="Quote 2"/>
          <p:cNvSpPr/>
          <p:nvPr/>
        </p:nvSpPr>
        <p:spPr>
          <a:xfrm>
            <a:off x="8915400" y="457200"/>
            <a:ext cx="2834640" cy="3154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000" b="0" i="1" dirty="0">
                <a:solidFill>
                  <a:srgbClr val="321744"/>
                </a:solidFill>
                <a:latin typeface="Calibri"/>
                <a:cs typeface="Calibri"/>
              </a:rPr>
              <a:t>“Parties are inevitable. No free large country has been without them. No one has shown how representative government could be worked without them.”</a:t>
            </a:r>
          </a:p>
        </p:txBody>
      </p:sp>
      <p:sp>
        <p:nvSpPr>
          <p:cNvPr id="9" name="Quote 2 source"/>
          <p:cNvSpPr/>
          <p:nvPr/>
        </p:nvSpPr>
        <p:spPr>
          <a:xfrm>
            <a:off x="6263640" y="3675888"/>
            <a:ext cx="544068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normAutofit/>
          </a:bodyPr>
          <a:lstStyle/>
          <a:p>
            <a:pPr marL="0" indent="0" algn="l">
              <a:buNone/>
            </a:pPr>
            <a:r>
              <a:rPr sz="1400" b="1" i="0">
                <a:solidFill>
                  <a:srgbClr val="5C5C5C"/>
                </a:solidFill>
                <a:latin typeface="Calibri"/>
                <a:cs typeface="Calibri"/>
              </a:rPr>
              <a:t>James Bryce, British scholar and ambassador to the United States, 1921</a:t>
            </a:r>
          </a:p>
        </p:txBody>
      </p:sp>
      <p:sp>
        <p:nvSpPr>
          <p:cNvPr id="10" name="Reading link box"/>
          <p:cNvSpPr/>
          <p:nvPr/>
        </p:nvSpPr>
        <p:spPr>
          <a:xfrm>
            <a:off x="548640" y="4434840"/>
            <a:ext cx="11091672" cy="1325880"/>
          </a:xfrm>
          <a:prstGeom prst="roundRect">
            <a:avLst>
              <a:gd name="adj" fmla="val 12000"/>
            </a:avLst>
          </a:prstGeom>
          <a:solidFill>
            <a:srgbClr val="FFF6F0"/>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ading link"/>
          <p:cNvSpPr/>
          <p:nvPr/>
        </p:nvSpPr>
        <p:spPr>
          <a:xfrm>
            <a:off x="548640" y="4434840"/>
            <a:ext cx="11091672" cy="1325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normAutofit/>
          </a:bodyPr>
          <a:lstStyle/>
          <a:p>
            <a:pPr marL="0" indent="0" algn="ctr">
              <a:spcAft>
                <a:spcPts val="400"/>
              </a:spcAft>
              <a:buNone/>
            </a:pPr>
            <a:r>
              <a:rPr sz="1700" b="0" i="0" dirty="0">
                <a:solidFill>
                  <a:srgbClr val="321744"/>
                </a:solidFill>
                <a:latin typeface="Calibri"/>
                <a:cs typeface="Calibri"/>
              </a:rPr>
              <a:t>Today’s reading </a:t>
            </a:r>
            <a:r>
              <a:rPr lang="en-US" sz="1700" b="0" i="0" dirty="0">
                <a:solidFill>
                  <a:srgbClr val="321744"/>
                </a:solidFill>
                <a:latin typeface="Calibri"/>
                <a:cs typeface="Calibri"/>
              </a:rPr>
              <a:t>from Katz and Mair asks</a:t>
            </a:r>
            <a:r>
              <a:rPr sz="1700" b="0" i="0" dirty="0">
                <a:solidFill>
                  <a:srgbClr val="321744"/>
                </a:solidFill>
                <a:latin typeface="Calibri"/>
                <a:cs typeface="Calibri"/>
              </a:rPr>
              <a:t>:</a:t>
            </a:r>
          </a:p>
          <a:p>
            <a:pPr marL="0" indent="0" algn="ctr">
              <a:buNone/>
            </a:pPr>
            <a:r>
              <a:rPr sz="2000" b="1" i="0" dirty="0">
                <a:solidFill>
                  <a:srgbClr val="321744"/>
                </a:solidFill>
                <a:latin typeface="Calibri"/>
                <a:cs typeface="Calibri"/>
              </a:rPr>
              <a:t>if “the parties are being fundamentally transformed, what happens to modern democracy?”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505" y="384048"/>
            <a:ext cx="10515600" cy="1188720"/>
          </a:xfrm>
        </p:spPr>
        <p:txBody>
          <a:bodyPr/>
          <a:lstStyle/>
          <a:p>
            <a:r>
              <a:t>What Is a Political Party?</a:t>
            </a:r>
          </a:p>
        </p:txBody>
      </p:sp>
      <p:sp>
        <p:nvSpPr>
          <p:cNvPr id="3" name="Content Placeholder 2"/>
          <p:cNvSpPr>
            <a:spLocks noGrp="1"/>
          </p:cNvSpPr>
          <p:nvPr>
            <p:ph idx="1"/>
          </p:nvPr>
        </p:nvSpPr>
        <p:spPr>
          <a:xfrm>
            <a:off x="5989320" y="1691640"/>
            <a:ext cx="5806440" cy="4023360"/>
          </a:xfrm>
        </p:spPr>
        <p:txBody>
          <a:bodyPr/>
          <a:lstStyle/>
          <a:p>
            <a:r>
              <a:rPr sz="2000" dirty="0"/>
              <a:t>Anyone want to try to define it?</a:t>
            </a:r>
          </a:p>
          <a:p>
            <a:r>
              <a:rPr sz="2000" dirty="0"/>
              <a:t>A reasonable minimalist definition:</a:t>
            </a:r>
          </a:p>
          <a:p>
            <a:pPr lvl="1"/>
            <a:r>
              <a:rPr sz="1700" dirty="0"/>
              <a:t>“Political parties are organizations that recruit candidates to contest elections in the hope that they can participate in government, or at least push it in the direction of their own ideas.”</a:t>
            </a:r>
          </a:p>
          <a:p>
            <a:r>
              <a:rPr sz="2000" dirty="0"/>
              <a:t>Basically, they are social organizations that seek election</a:t>
            </a:r>
          </a:p>
          <a:p>
            <a:r>
              <a:rPr sz="2000" dirty="0"/>
              <a:t>Many different types, in structure and in ideology</a:t>
            </a:r>
            <a:endParaRPr lang="en-US" sz="2000" dirty="0"/>
          </a:p>
          <a:p>
            <a:pPr lvl="1"/>
            <a:r>
              <a:rPr lang="en-US" sz="1600" dirty="0"/>
              <a:t>Some try to win, some try to get a few seats</a:t>
            </a:r>
          </a:p>
          <a:p>
            <a:pPr lvl="1"/>
            <a:r>
              <a:rPr lang="en-US" sz="1600" dirty="0"/>
              <a:t>Some have narrow electoral bases. Others try to appeal to the whole electorate.</a:t>
            </a:r>
            <a:endParaRPr sz="1600" dirty="0"/>
          </a:p>
        </p:txBody>
      </p:sp>
      <p:pic>
        <p:nvPicPr>
          <p:cNvPr id="4" name="Photo (Lecture 18.pptx, slide 15, picture 1)"/>
          <p:cNvPicPr>
            <a:picLocks noChangeAspect="1"/>
          </p:cNvPicPr>
          <p:nvPr/>
        </p:nvPicPr>
        <p:blipFill>
          <a:blip r:embed="rId2"/>
          <a:srcRect/>
          <a:stretch/>
        </p:blipFill>
        <p:spPr>
          <a:xfrm>
            <a:off x="663040" y="2022764"/>
            <a:ext cx="5013910" cy="2329883"/>
          </a:xfrm>
          <a:prstGeom prst="rect">
            <a:avLst/>
          </a:prstGeom>
        </p:spPr>
      </p:pic>
      <p:sp>
        <p:nvSpPr>
          <p:cNvPr id="5" name="Photo caption"/>
          <p:cNvSpPr/>
          <p:nvPr/>
        </p:nvSpPr>
        <p:spPr>
          <a:xfrm>
            <a:off x="419150" y="4802643"/>
            <a:ext cx="525780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t">
            <a:normAutofit/>
          </a:bodyPr>
          <a:lstStyle/>
          <a:p>
            <a:pPr marL="0" indent="0" algn="ctr">
              <a:buNone/>
            </a:pPr>
            <a:r>
              <a:rPr lang="en-US" sz="1150" b="0" i="1" dirty="0">
                <a:solidFill>
                  <a:srgbClr val="321744"/>
                </a:solidFill>
                <a:latin typeface="Calibri"/>
                <a:cs typeface="Calibri"/>
              </a:rPr>
              <a:t>The Dutch </a:t>
            </a:r>
            <a:r>
              <a:rPr lang="en-US" sz="1150" b="0" i="1" dirty="0" err="1">
                <a:solidFill>
                  <a:srgbClr val="321744"/>
                </a:solidFill>
                <a:latin typeface="Calibri"/>
                <a:cs typeface="Calibri"/>
              </a:rPr>
              <a:t>Partij</a:t>
            </a:r>
            <a:r>
              <a:rPr lang="en-US" sz="1150" b="0" i="1" dirty="0">
                <a:solidFill>
                  <a:srgbClr val="321744"/>
                </a:solidFill>
                <a:latin typeface="Calibri"/>
                <a:cs typeface="Calibri"/>
              </a:rPr>
              <a:t> </a:t>
            </a:r>
            <a:r>
              <a:rPr lang="en-US" sz="1150" b="0" i="1" dirty="0" err="1">
                <a:solidFill>
                  <a:srgbClr val="321744"/>
                </a:solidFill>
                <a:latin typeface="Calibri"/>
                <a:cs typeface="Calibri"/>
              </a:rPr>
              <a:t>voor</a:t>
            </a:r>
            <a:r>
              <a:rPr lang="en-US" sz="1150" b="0" i="1" dirty="0">
                <a:solidFill>
                  <a:srgbClr val="321744"/>
                </a:solidFill>
                <a:latin typeface="Calibri"/>
                <a:cs typeface="Calibri"/>
              </a:rPr>
              <a:t> de </a:t>
            </a:r>
            <a:r>
              <a:rPr lang="en-US" sz="1150" b="0" i="1" dirty="0" err="1">
                <a:solidFill>
                  <a:srgbClr val="321744"/>
                </a:solidFill>
                <a:latin typeface="Calibri"/>
                <a:cs typeface="Calibri"/>
              </a:rPr>
              <a:t>Dieren</a:t>
            </a:r>
            <a:r>
              <a:rPr lang="en-US" sz="1150" b="0" i="1" dirty="0">
                <a:solidFill>
                  <a:srgbClr val="321744"/>
                </a:solidFill>
                <a:latin typeface="Calibri"/>
                <a:cs typeface="Calibri"/>
              </a:rPr>
              <a:t> (Party for Animals) annual congress</a:t>
            </a:r>
            <a:endParaRPr sz="1150" b="0" i="1" dirty="0">
              <a:solidFill>
                <a:srgbClr val="321744"/>
              </a:solidFill>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Do We Need Parties?</a:t>
            </a:r>
          </a:p>
        </p:txBody>
      </p:sp>
      <p:sp>
        <p:nvSpPr>
          <p:cNvPr id="3" name="Content Placeholder 2"/>
          <p:cNvSpPr>
            <a:spLocks noGrp="1"/>
          </p:cNvSpPr>
          <p:nvPr>
            <p:ph sz="half" idx="1"/>
          </p:nvPr>
        </p:nvSpPr>
        <p:spPr/>
        <p:txBody>
          <a:bodyPr/>
          <a:lstStyle/>
          <a:p>
            <a:r>
              <a:rPr sz="1900"/>
              <a:t>Parties mediate between citizens and the state</a:t>
            </a:r>
          </a:p>
          <a:p>
            <a:pPr lvl="1"/>
            <a:r>
              <a:rPr sz="1600"/>
              <a:t>The state might otherwise act only for those who control it</a:t>
            </a:r>
          </a:p>
          <a:p>
            <a:r>
              <a:rPr sz="1900"/>
              <a:t>Parties structure the political agenda</a:t>
            </a:r>
          </a:p>
          <a:p>
            <a:pPr lvl="1"/>
            <a:r>
              <a:rPr sz="1600"/>
              <a:t>They give voters a menu of choices</a:t>
            </a:r>
          </a:p>
          <a:p>
            <a:r>
              <a:rPr sz="1900"/>
              <a:t>Parties recruit, select and socialize political candidates</a:t>
            </a:r>
          </a:p>
          <a:p>
            <a:r>
              <a:rPr sz="1900"/>
              <a:t>Parties represent socially and culturally significant interests</a:t>
            </a:r>
          </a:p>
          <a:p>
            <a:pPr lvl="1"/>
            <a:r>
              <a:rPr sz="1600"/>
              <a:t>And aggregate them into a coherent bundle</a:t>
            </a:r>
          </a:p>
          <a:p>
            <a:r>
              <a:rPr sz="1900"/>
              <a:t>Parties form governments</a:t>
            </a:r>
          </a:p>
        </p:txBody>
      </p:sp>
      <p:sp>
        <p:nvSpPr>
          <p:cNvPr id="5" name="Caption strip"/>
          <p:cNvSpPr/>
          <p:nvPr/>
        </p:nvSpPr>
        <p:spPr>
          <a:xfrm>
            <a:off x="6226150" y="6355080"/>
            <a:ext cx="5965546" cy="502920"/>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hoto caption"/>
          <p:cNvSpPr/>
          <p:nvPr/>
        </p:nvSpPr>
        <p:spPr>
          <a:xfrm>
            <a:off x="6226150" y="6355080"/>
            <a:ext cx="5965546"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tIns="18288" rIns="109728" bIns="18288" rtlCol="0" anchor="ctr">
            <a:normAutofit/>
          </a:bodyPr>
          <a:lstStyle/>
          <a:p>
            <a:pPr marL="0" indent="0" algn="ctr">
              <a:buNone/>
            </a:pPr>
            <a:endParaRPr sz="1200" b="0" i="1" dirty="0">
              <a:solidFill>
                <a:srgbClr val="FFFFFF"/>
              </a:solidFill>
              <a:latin typeface="Calibri"/>
              <a:cs typeface="Calibri"/>
            </a:endParaRPr>
          </a:p>
        </p:txBody>
      </p:sp>
      <p:pic>
        <p:nvPicPr>
          <p:cNvPr id="9" name="Picture 8" descr="Europe wakes up to climate concerns after 'green wave' in vote | PBS News">
            <a:extLst>
              <a:ext uri="{FF2B5EF4-FFF2-40B4-BE49-F238E27FC236}">
                <a16:creationId xmlns:a16="http://schemas.microsoft.com/office/drawing/2014/main" id="{C856E6E9-430C-75AE-D8C0-4CB2ADA2134D}"/>
              </a:ext>
            </a:extLst>
          </p:cNvPr>
          <p:cNvPicPr>
            <a:picLocks noChangeAspect="1"/>
          </p:cNvPicPr>
          <p:nvPr/>
        </p:nvPicPr>
        <p:blipFill>
          <a:blip r:embed="rId3"/>
          <a:stretch>
            <a:fillRect/>
          </a:stretch>
        </p:blipFill>
        <p:spPr>
          <a:xfrm>
            <a:off x="6226149" y="-1"/>
            <a:ext cx="6108118" cy="4248001"/>
          </a:xfrm>
          <a:prstGeom prst="rect">
            <a:avLst/>
          </a:prstGeom>
        </p:spPr>
      </p:pic>
      <p:pic>
        <p:nvPicPr>
          <p:cNvPr id="8" name="Picture 7" descr="New Italy election law puts fragile opposition unity to the test | Reuters">
            <a:extLst>
              <a:ext uri="{FF2B5EF4-FFF2-40B4-BE49-F238E27FC236}">
                <a16:creationId xmlns:a16="http://schemas.microsoft.com/office/drawing/2014/main" id="{968833B0-2A5F-0752-608B-001E4A2C1837}"/>
              </a:ext>
            </a:extLst>
          </p:cNvPr>
          <p:cNvPicPr>
            <a:picLocks noChangeAspect="1"/>
          </p:cNvPicPr>
          <p:nvPr/>
        </p:nvPicPr>
        <p:blipFill>
          <a:blip r:embed="rId4"/>
          <a:stretch>
            <a:fillRect/>
          </a:stretch>
        </p:blipFill>
        <p:spPr>
          <a:xfrm>
            <a:off x="6226150" y="2630011"/>
            <a:ext cx="6108119" cy="43513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Guess the Number: Parties</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endParaRPr sz="1250" b="1" i="0" dirty="0">
              <a:solidFill>
                <a:srgbClr val="F3672A"/>
              </a:solidFill>
              <a:latin typeface="Calibri"/>
              <a:cs typeface="Calibri"/>
            </a:endParaRP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How many parties won seats in the Dutch parliament in October 2025?</a:t>
            </a:r>
          </a:p>
        </p:txBody>
      </p:sp>
      <p:sp>
        <p:nvSpPr>
          <p:cNvPr id="6" name="Option A"/>
          <p:cNvSpPr/>
          <p:nvPr/>
        </p:nvSpPr>
        <p:spPr>
          <a:xfrm>
            <a:off x="502920" y="1234440"/>
            <a:ext cx="2583180" cy="96012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ption A text"/>
          <p:cNvSpPr/>
          <p:nvPr/>
        </p:nvSpPr>
        <p:spPr>
          <a:xfrm>
            <a:off x="502920"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A</a:t>
            </a:r>
          </a:p>
          <a:p>
            <a:pPr marL="0" indent="0" algn="ctr">
              <a:buNone/>
            </a:pPr>
            <a:r>
              <a:rPr sz="2800" b="1" i="0">
                <a:solidFill>
                  <a:srgbClr val="321744"/>
                </a:solidFill>
                <a:latin typeface="Calibri"/>
                <a:cs typeface="Calibri"/>
              </a:rPr>
              <a:t>4</a:t>
            </a:r>
          </a:p>
        </p:txBody>
      </p:sp>
      <p:sp>
        <p:nvSpPr>
          <p:cNvPr id="8" name="Option B"/>
          <p:cNvSpPr/>
          <p:nvPr/>
        </p:nvSpPr>
        <p:spPr>
          <a:xfrm>
            <a:off x="3369564" y="1234440"/>
            <a:ext cx="2583180" cy="96012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ption B text"/>
          <p:cNvSpPr/>
          <p:nvPr/>
        </p:nvSpPr>
        <p:spPr>
          <a:xfrm>
            <a:off x="3369564"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B</a:t>
            </a:r>
          </a:p>
          <a:p>
            <a:pPr marL="0" indent="0" algn="ctr">
              <a:buNone/>
            </a:pPr>
            <a:r>
              <a:rPr sz="2800" b="1" i="0">
                <a:solidFill>
                  <a:srgbClr val="321744"/>
                </a:solidFill>
                <a:latin typeface="Calibri"/>
                <a:cs typeface="Calibri"/>
              </a:rPr>
              <a:t>7</a:t>
            </a:r>
          </a:p>
        </p:txBody>
      </p:sp>
      <p:sp>
        <p:nvSpPr>
          <p:cNvPr id="10" name="Option C"/>
          <p:cNvSpPr/>
          <p:nvPr/>
        </p:nvSpPr>
        <p:spPr>
          <a:xfrm>
            <a:off x="6236208" y="1234440"/>
            <a:ext cx="2583180" cy="96012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ption C text"/>
          <p:cNvSpPr/>
          <p:nvPr/>
        </p:nvSpPr>
        <p:spPr>
          <a:xfrm>
            <a:off x="6236208"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C</a:t>
            </a:r>
          </a:p>
          <a:p>
            <a:pPr marL="0" indent="0" algn="ctr">
              <a:buNone/>
            </a:pPr>
            <a:r>
              <a:rPr sz="2800" b="1" i="0">
                <a:solidFill>
                  <a:srgbClr val="321744"/>
                </a:solidFill>
                <a:latin typeface="Calibri"/>
                <a:cs typeface="Calibri"/>
              </a:rPr>
              <a:t>11</a:t>
            </a:r>
          </a:p>
        </p:txBody>
      </p:sp>
      <p:sp>
        <p:nvSpPr>
          <p:cNvPr id="12" name="Option D"/>
          <p:cNvSpPr/>
          <p:nvPr/>
        </p:nvSpPr>
        <p:spPr>
          <a:xfrm>
            <a:off x="9102852" y="1234440"/>
            <a:ext cx="2583180" cy="96012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ption D text"/>
          <p:cNvSpPr/>
          <p:nvPr/>
        </p:nvSpPr>
        <p:spPr>
          <a:xfrm>
            <a:off x="9102852"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D</a:t>
            </a:r>
          </a:p>
          <a:p>
            <a:pPr marL="0" indent="0" algn="ctr">
              <a:buNone/>
            </a:pPr>
            <a:r>
              <a:rPr sz="2800" b="1" i="0">
                <a:solidFill>
                  <a:srgbClr val="321744"/>
                </a:solidFill>
                <a:latin typeface="Calibri"/>
                <a:cs typeface="Calibri"/>
              </a:rPr>
              <a:t>15</a:t>
            </a:r>
          </a:p>
        </p:txBody>
      </p:sp>
      <p:sp>
        <p:nvSpPr>
          <p:cNvPr id="14" name="Answer highlight"/>
          <p:cNvSpPr/>
          <p:nvPr/>
        </p:nvSpPr>
        <p:spPr>
          <a:xfrm>
            <a:off x="9102852" y="1234440"/>
            <a:ext cx="2583180" cy="960120"/>
          </a:xfrm>
          <a:prstGeom prst="roundRect">
            <a:avLst>
              <a:gd name="adj" fmla="val 12000"/>
            </a:avLst>
          </a:prstGeom>
          <a:solidFill>
            <a:srgbClr val="F3672A"/>
          </a:solidFill>
          <a:ln w="1270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nswer highlight text"/>
          <p:cNvSpPr/>
          <p:nvPr/>
        </p:nvSpPr>
        <p:spPr>
          <a:xfrm>
            <a:off x="9102852"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FFFFFF"/>
                </a:solidFill>
                <a:latin typeface="Calibri"/>
                <a:cs typeface="Calibri"/>
              </a:rPr>
              <a:t>D</a:t>
            </a:r>
          </a:p>
          <a:p>
            <a:pPr marL="0" indent="0" algn="ctr">
              <a:buNone/>
            </a:pPr>
            <a:r>
              <a:rPr sz="2800" b="1" i="0">
                <a:solidFill>
                  <a:srgbClr val="FFFFFF"/>
                </a:solidFill>
                <a:latin typeface="Calibri"/>
                <a:cs typeface="Calibri"/>
              </a:rPr>
              <a:t>15</a:t>
            </a:r>
          </a:p>
        </p:txBody>
      </p:sp>
      <p:sp>
        <p:nvSpPr>
          <p:cNvPr id="16" name="D66 bar"/>
          <p:cNvSpPr/>
          <p:nvPr/>
        </p:nvSpPr>
        <p:spPr>
          <a:xfrm>
            <a:off x="658368" y="2971800"/>
            <a:ext cx="512064" cy="1965960"/>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D66 seats"/>
          <p:cNvSpPr/>
          <p:nvPr/>
        </p:nvSpPr>
        <p:spPr>
          <a:xfrm>
            <a:off x="548640" y="2670048"/>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26</a:t>
            </a:r>
          </a:p>
        </p:txBody>
      </p:sp>
      <p:sp>
        <p:nvSpPr>
          <p:cNvPr id="18" name="D66 label"/>
          <p:cNvSpPr/>
          <p:nvPr/>
        </p:nvSpPr>
        <p:spPr>
          <a:xfrm>
            <a:off x="530352"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D66</a:t>
            </a:r>
          </a:p>
        </p:txBody>
      </p:sp>
      <p:sp>
        <p:nvSpPr>
          <p:cNvPr id="19" name="PVV bar"/>
          <p:cNvSpPr/>
          <p:nvPr/>
        </p:nvSpPr>
        <p:spPr>
          <a:xfrm>
            <a:off x="1385316" y="2971800"/>
            <a:ext cx="512064" cy="1965960"/>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VV seats"/>
          <p:cNvSpPr/>
          <p:nvPr/>
        </p:nvSpPr>
        <p:spPr>
          <a:xfrm>
            <a:off x="1275588" y="2670048"/>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26</a:t>
            </a:r>
          </a:p>
        </p:txBody>
      </p:sp>
      <p:sp>
        <p:nvSpPr>
          <p:cNvPr id="21" name="PVV label"/>
          <p:cNvSpPr/>
          <p:nvPr/>
        </p:nvSpPr>
        <p:spPr>
          <a:xfrm>
            <a:off x="1257300"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PVV</a:t>
            </a:r>
          </a:p>
        </p:txBody>
      </p:sp>
      <p:sp>
        <p:nvSpPr>
          <p:cNvPr id="22" name="VVD bar"/>
          <p:cNvSpPr/>
          <p:nvPr/>
        </p:nvSpPr>
        <p:spPr>
          <a:xfrm>
            <a:off x="2112264" y="3274255"/>
            <a:ext cx="512064" cy="1663505"/>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VVD seats"/>
          <p:cNvSpPr/>
          <p:nvPr/>
        </p:nvSpPr>
        <p:spPr>
          <a:xfrm>
            <a:off x="2002536" y="2972503"/>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22</a:t>
            </a:r>
          </a:p>
        </p:txBody>
      </p:sp>
      <p:sp>
        <p:nvSpPr>
          <p:cNvPr id="24" name="VVD label"/>
          <p:cNvSpPr/>
          <p:nvPr/>
        </p:nvSpPr>
        <p:spPr>
          <a:xfrm>
            <a:off x="1984248"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VVD</a:t>
            </a:r>
          </a:p>
        </p:txBody>
      </p:sp>
      <p:sp>
        <p:nvSpPr>
          <p:cNvPr id="25" name="GL–PvdA bar"/>
          <p:cNvSpPr/>
          <p:nvPr/>
        </p:nvSpPr>
        <p:spPr>
          <a:xfrm>
            <a:off x="2839212" y="3425483"/>
            <a:ext cx="512064" cy="1512277"/>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GL–PvdA seats"/>
          <p:cNvSpPr/>
          <p:nvPr/>
        </p:nvSpPr>
        <p:spPr>
          <a:xfrm>
            <a:off x="2729484" y="3123731"/>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20</a:t>
            </a:r>
          </a:p>
        </p:txBody>
      </p:sp>
      <p:sp>
        <p:nvSpPr>
          <p:cNvPr id="27" name="GL–PvdA label"/>
          <p:cNvSpPr/>
          <p:nvPr/>
        </p:nvSpPr>
        <p:spPr>
          <a:xfrm>
            <a:off x="2711196"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GL–PvdA</a:t>
            </a:r>
          </a:p>
        </p:txBody>
      </p:sp>
      <p:sp>
        <p:nvSpPr>
          <p:cNvPr id="28" name="CDA bar"/>
          <p:cNvSpPr/>
          <p:nvPr/>
        </p:nvSpPr>
        <p:spPr>
          <a:xfrm>
            <a:off x="3566160" y="3576711"/>
            <a:ext cx="512064" cy="1361049"/>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DA seats"/>
          <p:cNvSpPr/>
          <p:nvPr/>
        </p:nvSpPr>
        <p:spPr>
          <a:xfrm>
            <a:off x="3456432" y="3274959"/>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18</a:t>
            </a:r>
          </a:p>
        </p:txBody>
      </p:sp>
      <p:sp>
        <p:nvSpPr>
          <p:cNvPr id="30" name="CDA label"/>
          <p:cNvSpPr/>
          <p:nvPr/>
        </p:nvSpPr>
        <p:spPr>
          <a:xfrm>
            <a:off x="3438144"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CDA</a:t>
            </a:r>
          </a:p>
        </p:txBody>
      </p:sp>
      <p:sp>
        <p:nvSpPr>
          <p:cNvPr id="31" name="JA21 bar"/>
          <p:cNvSpPr/>
          <p:nvPr/>
        </p:nvSpPr>
        <p:spPr>
          <a:xfrm>
            <a:off x="4293108" y="4257235"/>
            <a:ext cx="512064" cy="680525"/>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JA21 seats"/>
          <p:cNvSpPr/>
          <p:nvPr/>
        </p:nvSpPr>
        <p:spPr>
          <a:xfrm>
            <a:off x="4183380" y="3955483"/>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9</a:t>
            </a:r>
          </a:p>
        </p:txBody>
      </p:sp>
      <p:sp>
        <p:nvSpPr>
          <p:cNvPr id="33" name="JA21 label"/>
          <p:cNvSpPr/>
          <p:nvPr/>
        </p:nvSpPr>
        <p:spPr>
          <a:xfrm>
            <a:off x="4165092"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JA21</a:t>
            </a:r>
          </a:p>
        </p:txBody>
      </p:sp>
      <p:sp>
        <p:nvSpPr>
          <p:cNvPr id="34" name="FvD bar"/>
          <p:cNvSpPr/>
          <p:nvPr/>
        </p:nvSpPr>
        <p:spPr>
          <a:xfrm>
            <a:off x="5020056" y="4408463"/>
            <a:ext cx="512064" cy="529297"/>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vD seats"/>
          <p:cNvSpPr/>
          <p:nvPr/>
        </p:nvSpPr>
        <p:spPr>
          <a:xfrm>
            <a:off x="4910328" y="4106711"/>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7</a:t>
            </a:r>
          </a:p>
        </p:txBody>
      </p:sp>
      <p:sp>
        <p:nvSpPr>
          <p:cNvPr id="36" name="FvD label"/>
          <p:cNvSpPr/>
          <p:nvPr/>
        </p:nvSpPr>
        <p:spPr>
          <a:xfrm>
            <a:off x="4892040"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FvD</a:t>
            </a:r>
          </a:p>
        </p:txBody>
      </p:sp>
      <p:sp>
        <p:nvSpPr>
          <p:cNvPr id="37" name="BBB bar"/>
          <p:cNvSpPr/>
          <p:nvPr/>
        </p:nvSpPr>
        <p:spPr>
          <a:xfrm>
            <a:off x="5747004" y="4635305"/>
            <a:ext cx="512064" cy="302455"/>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BB seats"/>
          <p:cNvSpPr/>
          <p:nvPr/>
        </p:nvSpPr>
        <p:spPr>
          <a:xfrm>
            <a:off x="5637276" y="4333553"/>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4</a:t>
            </a:r>
          </a:p>
        </p:txBody>
      </p:sp>
      <p:sp>
        <p:nvSpPr>
          <p:cNvPr id="39" name="BBB label"/>
          <p:cNvSpPr/>
          <p:nvPr/>
        </p:nvSpPr>
        <p:spPr>
          <a:xfrm>
            <a:off x="5618988"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BBB</a:t>
            </a:r>
          </a:p>
        </p:txBody>
      </p:sp>
      <p:sp>
        <p:nvSpPr>
          <p:cNvPr id="40" name="Denk bar"/>
          <p:cNvSpPr/>
          <p:nvPr/>
        </p:nvSpPr>
        <p:spPr>
          <a:xfrm>
            <a:off x="6473952" y="4710918"/>
            <a:ext cx="512064" cy="22684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Denk seats"/>
          <p:cNvSpPr/>
          <p:nvPr/>
        </p:nvSpPr>
        <p:spPr>
          <a:xfrm>
            <a:off x="6364224" y="440916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3</a:t>
            </a:r>
          </a:p>
        </p:txBody>
      </p:sp>
      <p:sp>
        <p:nvSpPr>
          <p:cNvPr id="42" name="Denk label"/>
          <p:cNvSpPr/>
          <p:nvPr/>
        </p:nvSpPr>
        <p:spPr>
          <a:xfrm>
            <a:off x="6345936"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Denk</a:t>
            </a:r>
          </a:p>
        </p:txBody>
      </p:sp>
      <p:sp>
        <p:nvSpPr>
          <p:cNvPr id="43" name="SGP bar"/>
          <p:cNvSpPr/>
          <p:nvPr/>
        </p:nvSpPr>
        <p:spPr>
          <a:xfrm>
            <a:off x="7200900" y="4710918"/>
            <a:ext cx="512064" cy="22684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SGP seats"/>
          <p:cNvSpPr/>
          <p:nvPr/>
        </p:nvSpPr>
        <p:spPr>
          <a:xfrm>
            <a:off x="7091172" y="440916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3</a:t>
            </a:r>
          </a:p>
        </p:txBody>
      </p:sp>
      <p:sp>
        <p:nvSpPr>
          <p:cNvPr id="45" name="SGP label"/>
          <p:cNvSpPr/>
          <p:nvPr/>
        </p:nvSpPr>
        <p:spPr>
          <a:xfrm>
            <a:off x="7072884"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SGP</a:t>
            </a:r>
          </a:p>
        </p:txBody>
      </p:sp>
      <p:sp>
        <p:nvSpPr>
          <p:cNvPr id="46" name="PvdD bar"/>
          <p:cNvSpPr/>
          <p:nvPr/>
        </p:nvSpPr>
        <p:spPr>
          <a:xfrm>
            <a:off x="7927848" y="4710918"/>
            <a:ext cx="512064" cy="22684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PvdD seats"/>
          <p:cNvSpPr/>
          <p:nvPr/>
        </p:nvSpPr>
        <p:spPr>
          <a:xfrm>
            <a:off x="7818120" y="440916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3</a:t>
            </a:r>
          </a:p>
        </p:txBody>
      </p:sp>
      <p:sp>
        <p:nvSpPr>
          <p:cNvPr id="48" name="PvdD label"/>
          <p:cNvSpPr/>
          <p:nvPr/>
        </p:nvSpPr>
        <p:spPr>
          <a:xfrm>
            <a:off x="7799832"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PvdD</a:t>
            </a:r>
          </a:p>
        </p:txBody>
      </p:sp>
      <p:sp>
        <p:nvSpPr>
          <p:cNvPr id="49" name="CU bar"/>
          <p:cNvSpPr/>
          <p:nvPr/>
        </p:nvSpPr>
        <p:spPr>
          <a:xfrm>
            <a:off x="8654796" y="4710918"/>
            <a:ext cx="512064" cy="22684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CU seats"/>
          <p:cNvSpPr/>
          <p:nvPr/>
        </p:nvSpPr>
        <p:spPr>
          <a:xfrm>
            <a:off x="8545068" y="440916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3</a:t>
            </a:r>
          </a:p>
        </p:txBody>
      </p:sp>
      <p:sp>
        <p:nvSpPr>
          <p:cNvPr id="51" name="CU label"/>
          <p:cNvSpPr/>
          <p:nvPr/>
        </p:nvSpPr>
        <p:spPr>
          <a:xfrm>
            <a:off x="8526780"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CU</a:t>
            </a:r>
          </a:p>
        </p:txBody>
      </p:sp>
      <p:sp>
        <p:nvSpPr>
          <p:cNvPr id="52" name="SP bar"/>
          <p:cNvSpPr/>
          <p:nvPr/>
        </p:nvSpPr>
        <p:spPr>
          <a:xfrm>
            <a:off x="9381744" y="4710918"/>
            <a:ext cx="512064" cy="22684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SP seats"/>
          <p:cNvSpPr/>
          <p:nvPr/>
        </p:nvSpPr>
        <p:spPr>
          <a:xfrm>
            <a:off x="9272016" y="440916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3</a:t>
            </a:r>
          </a:p>
        </p:txBody>
      </p:sp>
      <p:sp>
        <p:nvSpPr>
          <p:cNvPr id="54" name="SP label"/>
          <p:cNvSpPr/>
          <p:nvPr/>
        </p:nvSpPr>
        <p:spPr>
          <a:xfrm>
            <a:off x="9253728"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SP</a:t>
            </a:r>
          </a:p>
        </p:txBody>
      </p:sp>
      <p:sp>
        <p:nvSpPr>
          <p:cNvPr id="55" name="50PLUS bar"/>
          <p:cNvSpPr/>
          <p:nvPr/>
        </p:nvSpPr>
        <p:spPr>
          <a:xfrm>
            <a:off x="10108692" y="4786532"/>
            <a:ext cx="512064" cy="151228"/>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50PLUS seats"/>
          <p:cNvSpPr/>
          <p:nvPr/>
        </p:nvSpPr>
        <p:spPr>
          <a:xfrm>
            <a:off x="9998964" y="4484780"/>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2</a:t>
            </a:r>
          </a:p>
        </p:txBody>
      </p:sp>
      <p:sp>
        <p:nvSpPr>
          <p:cNvPr id="57" name="50PLUS label"/>
          <p:cNvSpPr/>
          <p:nvPr/>
        </p:nvSpPr>
        <p:spPr>
          <a:xfrm>
            <a:off x="9980676"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50PLUS</a:t>
            </a:r>
          </a:p>
        </p:txBody>
      </p:sp>
      <p:sp>
        <p:nvSpPr>
          <p:cNvPr id="58" name="Volt bar"/>
          <p:cNvSpPr/>
          <p:nvPr/>
        </p:nvSpPr>
        <p:spPr>
          <a:xfrm>
            <a:off x="10835640" y="4862146"/>
            <a:ext cx="512064" cy="75614"/>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Volt seats"/>
          <p:cNvSpPr/>
          <p:nvPr/>
        </p:nvSpPr>
        <p:spPr>
          <a:xfrm>
            <a:off x="10725912" y="4560394"/>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00" b="1" i="0">
                <a:solidFill>
                  <a:srgbClr val="321744"/>
                </a:solidFill>
                <a:latin typeface="Calibri"/>
                <a:cs typeface="Calibri"/>
              </a:rPr>
              <a:t>1</a:t>
            </a:r>
          </a:p>
        </p:txBody>
      </p:sp>
      <p:sp>
        <p:nvSpPr>
          <p:cNvPr id="60" name="Volt label"/>
          <p:cNvSpPr/>
          <p:nvPr/>
        </p:nvSpPr>
        <p:spPr>
          <a:xfrm>
            <a:off x="10707624" y="4983480"/>
            <a:ext cx="768096"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150" b="1" i="0">
                <a:solidFill>
                  <a:srgbClr val="321744"/>
                </a:solidFill>
                <a:latin typeface="Calibri"/>
                <a:cs typeface="Calibri"/>
              </a:rPr>
              <a:t>Volt</a:t>
            </a:r>
          </a:p>
        </p:txBody>
      </p:sp>
      <p:cxnSp>
        <p:nvCxnSpPr>
          <p:cNvPr id="61" name="Baseline"/>
          <p:cNvCxnSpPr/>
          <p:nvPr/>
        </p:nvCxnSpPr>
        <p:spPr>
          <a:xfrm>
            <a:off x="502920" y="4937760"/>
            <a:ext cx="11155680" cy="0"/>
          </a:xfrm>
          <a:prstGeom prst="line">
            <a:avLst/>
          </a:prstGeom>
          <a:ln w="19050">
            <a:solidFill>
              <a:srgbClr val="321744"/>
            </a:solidFill>
          </a:ln>
        </p:spPr>
        <p:style>
          <a:lnRef idx="2">
            <a:schemeClr val="accent1"/>
          </a:lnRef>
          <a:fillRef idx="0">
            <a:schemeClr val="accent1"/>
          </a:fillRef>
          <a:effectRef idx="1">
            <a:schemeClr val="accent1"/>
          </a:effectRef>
          <a:fontRef idx="minor">
            <a:schemeClr val="tx1"/>
          </a:fontRef>
        </p:style>
      </p:cxnSp>
      <p:sp>
        <p:nvSpPr>
          <p:cNvPr id="62" name="Legend government"/>
          <p:cNvSpPr/>
          <p:nvPr/>
        </p:nvSpPr>
        <p:spPr>
          <a:xfrm>
            <a:off x="7498080" y="2542032"/>
            <a:ext cx="237744" cy="182880"/>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Legend government text"/>
          <p:cNvSpPr/>
          <p:nvPr/>
        </p:nvSpPr>
        <p:spPr>
          <a:xfrm>
            <a:off x="7790688" y="2450592"/>
            <a:ext cx="3931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1300" b="0" i="0">
                <a:solidFill>
                  <a:srgbClr val="321744"/>
                </a:solidFill>
                <a:latin typeface="Calibri"/>
                <a:cs typeface="Calibri"/>
              </a:rPr>
              <a:t>In government: D66, VVD and CDA, 66 of 150 seats</a:t>
            </a:r>
          </a:p>
        </p:txBody>
      </p:sp>
      <p:sp>
        <p:nvSpPr>
          <p:cNvPr id="64" name="Footnote"/>
          <p:cNvSpPr/>
          <p:nvPr/>
        </p:nvSpPr>
        <p:spPr>
          <a:xfrm>
            <a:off x="457200" y="5440680"/>
            <a:ext cx="11274552"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00" b="0" i="1">
                <a:solidFill>
                  <a:srgbClr val="5C5C5C"/>
                </a:solidFill>
                <a:latin typeface="Calibri"/>
                <a:cs typeface="Calibri"/>
              </a:rPr>
              <a:t>150 seats, so a majority is 76. The largest party won 26. Prime Minister Rob Jetten of D66 leads a minority government. The United States House has two parties.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2" grpId="0" animBg="1"/>
      <p:bldP spid="63" grpId="0" animBg="1"/>
      <p:bldP spid="6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Party Families</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Party families, roughly from left to right</a:t>
            </a:r>
          </a:p>
        </p:txBody>
      </p:sp>
      <p:sp>
        <p:nvSpPr>
          <p:cNvPr id="5" name="Header 1"/>
          <p:cNvSpPr/>
          <p:nvPr/>
        </p:nvSpPr>
        <p:spPr>
          <a:xfrm>
            <a:off x="2880360" y="1143000"/>
            <a:ext cx="3931920" cy="45720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Header 1 text"/>
          <p:cNvSpPr/>
          <p:nvPr/>
        </p:nvSpPr>
        <p:spPr>
          <a:xfrm>
            <a:off x="2880360" y="1143000"/>
            <a:ext cx="3931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EXAMPLES</a:t>
            </a:r>
          </a:p>
        </p:txBody>
      </p:sp>
      <p:sp>
        <p:nvSpPr>
          <p:cNvPr id="7" name="Header 2"/>
          <p:cNvSpPr/>
          <p:nvPr/>
        </p:nvSpPr>
        <p:spPr>
          <a:xfrm>
            <a:off x="6903720" y="1143000"/>
            <a:ext cx="2468880" cy="457200"/>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Header 2 text"/>
          <p:cNvSpPr/>
          <p:nvPr/>
        </p:nvSpPr>
        <p:spPr>
          <a:xfrm>
            <a:off x="6903720" y="1143000"/>
            <a:ext cx="24688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IN THE EUROPEAN PARLIAMENT</a:t>
            </a:r>
          </a:p>
        </p:txBody>
      </p:sp>
      <p:sp>
        <p:nvSpPr>
          <p:cNvPr id="9" name="Header 3"/>
          <p:cNvSpPr/>
          <p:nvPr/>
        </p:nvSpPr>
        <p:spPr>
          <a:xfrm>
            <a:off x="9464040" y="1143000"/>
            <a:ext cx="2331720" cy="45720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3 text"/>
          <p:cNvSpPr/>
          <p:nvPr/>
        </p:nvSpPr>
        <p:spPr>
          <a:xfrm>
            <a:off x="9464040" y="1143000"/>
            <a:ext cx="23317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IN THE FRC</a:t>
            </a:r>
          </a:p>
        </p:txBody>
      </p:sp>
      <p:sp>
        <p:nvSpPr>
          <p:cNvPr id="11" name="Row band 1"/>
          <p:cNvSpPr/>
          <p:nvPr/>
        </p:nvSpPr>
        <p:spPr>
          <a:xfrm>
            <a:off x="502920" y="1691640"/>
            <a:ext cx="11292840" cy="512064"/>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w 1 label"/>
          <p:cNvSpPr/>
          <p:nvPr/>
        </p:nvSpPr>
        <p:spPr>
          <a:xfrm>
            <a:off x="502920" y="1691640"/>
            <a:ext cx="228600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Radical Left</a:t>
            </a:r>
          </a:p>
        </p:txBody>
      </p:sp>
      <p:sp>
        <p:nvSpPr>
          <p:cNvPr id="13" name="Row 1 col 1"/>
          <p:cNvSpPr/>
          <p:nvPr/>
        </p:nvSpPr>
        <p:spPr>
          <a:xfrm>
            <a:off x="2880360" y="1691640"/>
            <a:ext cx="39319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Die Linke (Germany), France Unbowed</a:t>
            </a:r>
          </a:p>
        </p:txBody>
      </p:sp>
      <p:sp>
        <p:nvSpPr>
          <p:cNvPr id="14" name="Row 1 col 2"/>
          <p:cNvSpPr/>
          <p:nvPr/>
        </p:nvSpPr>
        <p:spPr>
          <a:xfrm>
            <a:off x="6903720" y="1691640"/>
            <a:ext cx="246888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The Left</a:t>
            </a:r>
          </a:p>
        </p:txBody>
      </p:sp>
      <p:sp>
        <p:nvSpPr>
          <p:cNvPr id="15" name="Row 1 col 3"/>
          <p:cNvSpPr/>
          <p:nvPr/>
        </p:nvSpPr>
        <p:spPr>
          <a:xfrm>
            <a:off x="9464040" y="1691640"/>
            <a:ext cx="23317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Radical Left (RLP)</a:t>
            </a:r>
          </a:p>
        </p:txBody>
      </p:sp>
      <p:sp>
        <p:nvSpPr>
          <p:cNvPr id="16" name="Row 2 label"/>
          <p:cNvSpPr/>
          <p:nvPr/>
        </p:nvSpPr>
        <p:spPr>
          <a:xfrm>
            <a:off x="502920" y="2203704"/>
            <a:ext cx="228600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Social Democratic</a:t>
            </a:r>
          </a:p>
        </p:txBody>
      </p:sp>
      <p:sp>
        <p:nvSpPr>
          <p:cNvPr id="17" name="Row 2 col 1"/>
          <p:cNvSpPr/>
          <p:nvPr/>
        </p:nvSpPr>
        <p:spPr>
          <a:xfrm>
            <a:off x="2880360" y="2203704"/>
            <a:ext cx="39319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SPD (Germany), Labour (Britain), PSOE (Spain)</a:t>
            </a:r>
          </a:p>
        </p:txBody>
      </p:sp>
      <p:sp>
        <p:nvSpPr>
          <p:cNvPr id="18" name="Row 2 col 2"/>
          <p:cNvSpPr/>
          <p:nvPr/>
        </p:nvSpPr>
        <p:spPr>
          <a:xfrm>
            <a:off x="6903720" y="2203704"/>
            <a:ext cx="246888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Socialists and Democrats</a:t>
            </a:r>
          </a:p>
        </p:txBody>
      </p:sp>
      <p:sp>
        <p:nvSpPr>
          <p:cNvPr id="19" name="Row 2 col 3"/>
          <p:cNvSpPr/>
          <p:nvPr/>
        </p:nvSpPr>
        <p:spPr>
          <a:xfrm>
            <a:off x="9464040" y="2203704"/>
            <a:ext cx="23317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Social Democrats (SD)</a:t>
            </a:r>
          </a:p>
        </p:txBody>
      </p:sp>
      <p:sp>
        <p:nvSpPr>
          <p:cNvPr id="20" name="Row band 3"/>
          <p:cNvSpPr/>
          <p:nvPr/>
        </p:nvSpPr>
        <p:spPr>
          <a:xfrm>
            <a:off x="502920" y="2715768"/>
            <a:ext cx="11292840" cy="512064"/>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w 3 label"/>
          <p:cNvSpPr/>
          <p:nvPr/>
        </p:nvSpPr>
        <p:spPr>
          <a:xfrm>
            <a:off x="502920" y="2715768"/>
            <a:ext cx="228600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Green</a:t>
            </a:r>
          </a:p>
        </p:txBody>
      </p:sp>
      <p:sp>
        <p:nvSpPr>
          <p:cNvPr id="22" name="Row 3 col 1"/>
          <p:cNvSpPr/>
          <p:nvPr/>
        </p:nvSpPr>
        <p:spPr>
          <a:xfrm>
            <a:off x="2880360" y="2715768"/>
            <a:ext cx="39319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Greens (Germany), GroenLinks (Netherlands)</a:t>
            </a:r>
          </a:p>
        </p:txBody>
      </p:sp>
      <p:sp>
        <p:nvSpPr>
          <p:cNvPr id="23" name="Row 3 col 2"/>
          <p:cNvSpPr/>
          <p:nvPr/>
        </p:nvSpPr>
        <p:spPr>
          <a:xfrm>
            <a:off x="6903720" y="2715768"/>
            <a:ext cx="246888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Greens/EFA</a:t>
            </a:r>
          </a:p>
        </p:txBody>
      </p:sp>
      <p:sp>
        <p:nvSpPr>
          <p:cNvPr id="24" name="Row 3 col 3"/>
          <p:cNvSpPr/>
          <p:nvPr/>
        </p:nvSpPr>
        <p:spPr>
          <a:xfrm>
            <a:off x="9464040" y="2715768"/>
            <a:ext cx="23317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Greens (GP)</a:t>
            </a:r>
          </a:p>
        </p:txBody>
      </p:sp>
      <p:sp>
        <p:nvSpPr>
          <p:cNvPr id="25" name="Row 4 label"/>
          <p:cNvSpPr/>
          <p:nvPr/>
        </p:nvSpPr>
        <p:spPr>
          <a:xfrm>
            <a:off x="502920" y="3227832"/>
            <a:ext cx="228600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Agrarian</a:t>
            </a:r>
          </a:p>
        </p:txBody>
      </p:sp>
      <p:sp>
        <p:nvSpPr>
          <p:cNvPr id="26" name="Row 4 col 1"/>
          <p:cNvSpPr/>
          <p:nvPr/>
        </p:nvSpPr>
        <p:spPr>
          <a:xfrm>
            <a:off x="2880360" y="3227832"/>
            <a:ext cx="39319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Centre Party (Sweden), Centre Party (Finland)</a:t>
            </a:r>
          </a:p>
        </p:txBody>
      </p:sp>
      <p:sp>
        <p:nvSpPr>
          <p:cNvPr id="27" name="Row 4 col 2"/>
          <p:cNvSpPr/>
          <p:nvPr/>
        </p:nvSpPr>
        <p:spPr>
          <a:xfrm>
            <a:off x="6903720" y="3227832"/>
            <a:ext cx="246888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Mostly Renew Europe</a:t>
            </a:r>
          </a:p>
        </p:txBody>
      </p:sp>
      <p:sp>
        <p:nvSpPr>
          <p:cNvPr id="28" name="Row 4 col 3"/>
          <p:cNvSpPr/>
          <p:nvPr/>
        </p:nvSpPr>
        <p:spPr>
          <a:xfrm>
            <a:off x="9464040" y="3227832"/>
            <a:ext cx="23317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endParaRPr/>
          </a:p>
        </p:txBody>
      </p:sp>
      <p:sp>
        <p:nvSpPr>
          <p:cNvPr id="29" name="Row band 5"/>
          <p:cNvSpPr/>
          <p:nvPr/>
        </p:nvSpPr>
        <p:spPr>
          <a:xfrm>
            <a:off x="502920" y="3739896"/>
            <a:ext cx="11292840" cy="512064"/>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w 5 label"/>
          <p:cNvSpPr/>
          <p:nvPr/>
        </p:nvSpPr>
        <p:spPr>
          <a:xfrm>
            <a:off x="502920" y="3739896"/>
            <a:ext cx="228600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Liberal</a:t>
            </a:r>
          </a:p>
        </p:txBody>
      </p:sp>
      <p:sp>
        <p:nvSpPr>
          <p:cNvPr id="31" name="Row 5 col 1"/>
          <p:cNvSpPr/>
          <p:nvPr/>
        </p:nvSpPr>
        <p:spPr>
          <a:xfrm>
            <a:off x="2880360" y="3739896"/>
            <a:ext cx="39319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VVD and D66 (Netherlands), FDP (Germany)</a:t>
            </a:r>
          </a:p>
        </p:txBody>
      </p:sp>
      <p:sp>
        <p:nvSpPr>
          <p:cNvPr id="32" name="Row 5 col 2"/>
          <p:cNvSpPr/>
          <p:nvPr/>
        </p:nvSpPr>
        <p:spPr>
          <a:xfrm>
            <a:off x="6903720" y="3739896"/>
            <a:ext cx="246888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Renew Europe</a:t>
            </a:r>
          </a:p>
        </p:txBody>
      </p:sp>
      <p:sp>
        <p:nvSpPr>
          <p:cNvPr id="33" name="Row 5 col 3"/>
          <p:cNvSpPr/>
          <p:nvPr/>
        </p:nvSpPr>
        <p:spPr>
          <a:xfrm>
            <a:off x="9464040" y="3739896"/>
            <a:ext cx="23317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Liberals (LP)</a:t>
            </a:r>
          </a:p>
        </p:txBody>
      </p:sp>
      <p:sp>
        <p:nvSpPr>
          <p:cNvPr id="34" name="Row 6 label"/>
          <p:cNvSpPr/>
          <p:nvPr/>
        </p:nvSpPr>
        <p:spPr>
          <a:xfrm>
            <a:off x="502920" y="4251960"/>
            <a:ext cx="228600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Christian Democratic</a:t>
            </a:r>
          </a:p>
        </p:txBody>
      </p:sp>
      <p:sp>
        <p:nvSpPr>
          <p:cNvPr id="35" name="Row 6 col 1"/>
          <p:cNvSpPr/>
          <p:nvPr/>
        </p:nvSpPr>
        <p:spPr>
          <a:xfrm>
            <a:off x="2880360" y="4251960"/>
            <a:ext cx="39319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CDU/CSU (Germany), ÖVP (Austria)</a:t>
            </a:r>
          </a:p>
        </p:txBody>
      </p:sp>
      <p:sp>
        <p:nvSpPr>
          <p:cNvPr id="36" name="Row 6 col 2"/>
          <p:cNvSpPr/>
          <p:nvPr/>
        </p:nvSpPr>
        <p:spPr>
          <a:xfrm>
            <a:off x="6903720" y="4251960"/>
            <a:ext cx="246888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European People’s Party</a:t>
            </a:r>
          </a:p>
        </p:txBody>
      </p:sp>
      <p:sp>
        <p:nvSpPr>
          <p:cNvPr id="37" name="Row 6 col 3"/>
          <p:cNvSpPr/>
          <p:nvPr/>
        </p:nvSpPr>
        <p:spPr>
          <a:xfrm>
            <a:off x="9464040" y="4251960"/>
            <a:ext cx="23317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Christian Democrats (CD)</a:t>
            </a:r>
          </a:p>
        </p:txBody>
      </p:sp>
      <p:sp>
        <p:nvSpPr>
          <p:cNvPr id="38" name="Row band 7"/>
          <p:cNvSpPr/>
          <p:nvPr/>
        </p:nvSpPr>
        <p:spPr>
          <a:xfrm>
            <a:off x="502920" y="4764024"/>
            <a:ext cx="11292840" cy="512064"/>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w 7 label"/>
          <p:cNvSpPr/>
          <p:nvPr/>
        </p:nvSpPr>
        <p:spPr>
          <a:xfrm>
            <a:off x="502920" y="4764024"/>
            <a:ext cx="228600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Conservative</a:t>
            </a:r>
          </a:p>
        </p:txBody>
      </p:sp>
      <p:sp>
        <p:nvSpPr>
          <p:cNvPr id="40" name="Row 7 col 1"/>
          <p:cNvSpPr/>
          <p:nvPr/>
        </p:nvSpPr>
        <p:spPr>
          <a:xfrm>
            <a:off x="2880360" y="4764024"/>
            <a:ext cx="39319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Conservatives (Britain), Republicans (France)</a:t>
            </a:r>
          </a:p>
        </p:txBody>
      </p:sp>
      <p:sp>
        <p:nvSpPr>
          <p:cNvPr id="41" name="Row 7 col 2"/>
          <p:cNvSpPr/>
          <p:nvPr/>
        </p:nvSpPr>
        <p:spPr>
          <a:xfrm>
            <a:off x="6903720" y="4764024"/>
            <a:ext cx="246888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lnSpcReduction="10000"/>
          </a:bodyPr>
          <a:lstStyle/>
          <a:p>
            <a:pPr marL="0" indent="0" algn="l">
              <a:buNone/>
            </a:pPr>
            <a:r>
              <a:rPr sz="1500" b="0" i="0">
                <a:solidFill>
                  <a:srgbClr val="321744"/>
                </a:solidFill>
                <a:latin typeface="Calibri"/>
                <a:cs typeface="Calibri"/>
              </a:rPr>
              <a:t>European People’s Party; ECR</a:t>
            </a:r>
          </a:p>
        </p:txBody>
      </p:sp>
      <p:sp>
        <p:nvSpPr>
          <p:cNvPr id="42" name="Row 7 col 3"/>
          <p:cNvSpPr/>
          <p:nvPr/>
        </p:nvSpPr>
        <p:spPr>
          <a:xfrm>
            <a:off x="9464040" y="4764024"/>
            <a:ext cx="23317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endParaRPr/>
          </a:p>
        </p:txBody>
      </p:sp>
      <p:sp>
        <p:nvSpPr>
          <p:cNvPr id="43" name="Row 8 label"/>
          <p:cNvSpPr/>
          <p:nvPr/>
        </p:nvSpPr>
        <p:spPr>
          <a:xfrm>
            <a:off x="502920" y="5276088"/>
            <a:ext cx="228600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Radical Right</a:t>
            </a:r>
          </a:p>
        </p:txBody>
      </p:sp>
      <p:sp>
        <p:nvSpPr>
          <p:cNvPr id="44" name="Row 8 col 1"/>
          <p:cNvSpPr/>
          <p:nvPr/>
        </p:nvSpPr>
        <p:spPr>
          <a:xfrm>
            <a:off x="2880360" y="5276088"/>
            <a:ext cx="39319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National Rally (France), AfD (Germany)</a:t>
            </a:r>
          </a:p>
        </p:txBody>
      </p:sp>
      <p:sp>
        <p:nvSpPr>
          <p:cNvPr id="45" name="Row 8 col 2"/>
          <p:cNvSpPr/>
          <p:nvPr/>
        </p:nvSpPr>
        <p:spPr>
          <a:xfrm>
            <a:off x="6903720" y="5276088"/>
            <a:ext cx="246888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lnSpcReduction="10000"/>
          </a:bodyPr>
          <a:lstStyle/>
          <a:p>
            <a:pPr marL="0" indent="0" algn="l">
              <a:buNone/>
            </a:pPr>
            <a:r>
              <a:rPr sz="1500" b="0" i="0">
                <a:solidFill>
                  <a:srgbClr val="321744"/>
                </a:solidFill>
                <a:latin typeface="Calibri"/>
                <a:cs typeface="Calibri"/>
              </a:rPr>
              <a:t>Patriots for Europe; ECR; ESN</a:t>
            </a:r>
          </a:p>
        </p:txBody>
      </p:sp>
      <p:sp>
        <p:nvSpPr>
          <p:cNvPr id="46" name="Row 8 col 3"/>
          <p:cNvSpPr/>
          <p:nvPr/>
        </p:nvSpPr>
        <p:spPr>
          <a:xfrm>
            <a:off x="9464040" y="5276088"/>
            <a:ext cx="233172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Populist Right (PR)</a:t>
            </a:r>
          </a:p>
        </p:txBody>
      </p:sp>
      <p:sp>
        <p:nvSpPr>
          <p:cNvPr id="47" name="Footnote"/>
          <p:cNvSpPr/>
          <p:nvPr/>
        </p:nvSpPr>
        <p:spPr>
          <a:xfrm>
            <a:off x="457200" y="5833872"/>
            <a:ext cx="11274552"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50" b="0" i="1">
                <a:solidFill>
                  <a:srgbClr val="5C5C5C"/>
                </a:solidFill>
                <a:latin typeface="Calibri"/>
                <a:cs typeface="Calibri"/>
              </a:rPr>
              <a:t>Political scientists group parties into families to compare across countries. Some parties, like regional or single-issue parties, are hard to classify.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P spid="19" grpId="0" animBg="1"/>
      <p:bldP spid="24" grpId="0" animBg="1"/>
      <p:bldP spid="28" grpId="0" animBg="1"/>
      <p:bldP spid="33" grpId="0" animBg="1"/>
      <p:bldP spid="37" grpId="0" animBg="1"/>
      <p:bldP spid="42" grpId="0" animBg="1"/>
      <p:bldP spid="4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Families Come From</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Four cleavages, frozen into party systems</a:t>
            </a:r>
          </a:p>
        </p:txBody>
      </p:sp>
      <p:sp>
        <p:nvSpPr>
          <p:cNvPr id="5" name="Reading tag"/>
          <p:cNvSpPr txBox="1"/>
          <p:nvPr/>
        </p:nvSpPr>
        <p:spPr>
          <a:xfrm>
            <a:off x="7635240" y="109728"/>
            <a:ext cx="4206240" cy="292608"/>
          </a:xfrm>
          <a:prstGeom prst="rect">
            <a:avLst/>
          </a:prstGeom>
          <a:noFill/>
        </p:spPr>
        <p:txBody>
          <a:bodyPr wrap="square">
            <a:spAutoFit/>
          </a:bodyPr>
          <a:lstStyle/>
          <a:p>
            <a:pPr algn="r"/>
            <a:r>
              <a:rPr sz="1200" b="0" i="1">
                <a:solidFill>
                  <a:srgbClr val="5C5C5C"/>
                </a:solidFill>
                <a:latin typeface="Calibri"/>
              </a:rPr>
              <a:t>From today’s reading: Ford and Jennings</a:t>
            </a:r>
          </a:p>
        </p:txBody>
      </p:sp>
      <p:sp>
        <p:nvSpPr>
          <p:cNvPr id="6" name="Header 1"/>
          <p:cNvSpPr/>
          <p:nvPr/>
        </p:nvSpPr>
        <p:spPr>
          <a:xfrm>
            <a:off x="2834640" y="1188720"/>
            <a:ext cx="4892040" cy="438912"/>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Header 1 text"/>
          <p:cNvSpPr/>
          <p:nvPr/>
        </p:nvSpPr>
        <p:spPr>
          <a:xfrm>
            <a:off x="2834640" y="1188720"/>
            <a:ext cx="489204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WHO AGAINST WHOM</a:t>
            </a:r>
          </a:p>
        </p:txBody>
      </p:sp>
      <p:sp>
        <p:nvSpPr>
          <p:cNvPr id="8" name="Header 2"/>
          <p:cNvSpPr/>
          <p:nvPr/>
        </p:nvSpPr>
        <p:spPr>
          <a:xfrm>
            <a:off x="7818120" y="1188720"/>
            <a:ext cx="3840480" cy="438912"/>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2 text"/>
          <p:cNvSpPr/>
          <p:nvPr/>
        </p:nvSpPr>
        <p:spPr>
          <a:xfrm>
            <a:off x="7818120" y="1188720"/>
            <a:ext cx="384048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PARTIES IT PRODUCED</a:t>
            </a:r>
          </a:p>
        </p:txBody>
      </p:sp>
      <p:sp>
        <p:nvSpPr>
          <p:cNvPr id="10" name="Row band 1"/>
          <p:cNvSpPr/>
          <p:nvPr/>
        </p:nvSpPr>
        <p:spPr>
          <a:xfrm>
            <a:off x="502920" y="1719072"/>
            <a:ext cx="11155680" cy="804672"/>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w 1 label"/>
          <p:cNvSpPr/>
          <p:nvPr/>
        </p:nvSpPr>
        <p:spPr>
          <a:xfrm>
            <a:off x="502920" y="1719072"/>
            <a:ext cx="224028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00" b="1" i="0">
                <a:solidFill>
                  <a:srgbClr val="321744"/>
                </a:solidFill>
                <a:latin typeface="Calibri"/>
                <a:cs typeface="Calibri"/>
              </a:rPr>
              <a:t>Center vs. periphery</a:t>
            </a:r>
          </a:p>
        </p:txBody>
      </p:sp>
      <p:sp>
        <p:nvSpPr>
          <p:cNvPr id="12" name="Row 1 col 1"/>
          <p:cNvSpPr/>
          <p:nvPr/>
        </p:nvSpPr>
        <p:spPr>
          <a:xfrm>
            <a:off x="2834640" y="1719072"/>
            <a:ext cx="489204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dirty="0">
                <a:solidFill>
                  <a:srgbClr val="321744"/>
                </a:solidFill>
                <a:latin typeface="Calibri"/>
                <a:cs typeface="Calibri"/>
              </a:rPr>
              <a:t>The national culture against ethnic, linguistic and religious minorities, often in outlying regions</a:t>
            </a:r>
          </a:p>
        </p:txBody>
      </p:sp>
      <p:sp>
        <p:nvSpPr>
          <p:cNvPr id="13" name="Row 1 col 2"/>
          <p:cNvSpPr/>
          <p:nvPr/>
        </p:nvSpPr>
        <p:spPr>
          <a:xfrm>
            <a:off x="7818120" y="1719072"/>
            <a:ext cx="384048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Regional parties; Belgium’s parties, split by language</a:t>
            </a:r>
          </a:p>
        </p:txBody>
      </p:sp>
      <p:sp>
        <p:nvSpPr>
          <p:cNvPr id="14" name="Row 2 label"/>
          <p:cNvSpPr/>
          <p:nvPr/>
        </p:nvSpPr>
        <p:spPr>
          <a:xfrm>
            <a:off x="502920" y="2523744"/>
            <a:ext cx="224028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00" b="1" i="0">
                <a:solidFill>
                  <a:srgbClr val="321744"/>
                </a:solidFill>
                <a:latin typeface="Calibri"/>
                <a:cs typeface="Calibri"/>
              </a:rPr>
              <a:t>Church vs. state</a:t>
            </a:r>
          </a:p>
        </p:txBody>
      </p:sp>
      <p:sp>
        <p:nvSpPr>
          <p:cNvPr id="15" name="Row 2 col 1"/>
          <p:cNvSpPr/>
          <p:nvPr/>
        </p:nvSpPr>
        <p:spPr>
          <a:xfrm>
            <a:off x="2834640" y="2523744"/>
            <a:ext cx="489204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dirty="0">
                <a:solidFill>
                  <a:srgbClr val="321744"/>
                </a:solidFill>
                <a:latin typeface="Calibri"/>
                <a:cs typeface="Calibri"/>
              </a:rPr>
              <a:t>The church defending its historic powers against a growing state</a:t>
            </a:r>
          </a:p>
        </p:txBody>
      </p:sp>
      <p:sp>
        <p:nvSpPr>
          <p:cNvPr id="16" name="Row 2 col 2"/>
          <p:cNvSpPr/>
          <p:nvPr/>
        </p:nvSpPr>
        <p:spPr>
          <a:xfrm>
            <a:off x="7818120" y="2523744"/>
            <a:ext cx="384048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Christian democrats, such as Austria’s People’s Party</a:t>
            </a:r>
          </a:p>
        </p:txBody>
      </p:sp>
      <p:sp>
        <p:nvSpPr>
          <p:cNvPr id="17" name="Row band 3"/>
          <p:cNvSpPr/>
          <p:nvPr/>
        </p:nvSpPr>
        <p:spPr>
          <a:xfrm>
            <a:off x="502920" y="3328416"/>
            <a:ext cx="11155680" cy="804672"/>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w 3 label"/>
          <p:cNvSpPr/>
          <p:nvPr/>
        </p:nvSpPr>
        <p:spPr>
          <a:xfrm>
            <a:off x="502920" y="3328416"/>
            <a:ext cx="224028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00" b="1" i="0">
                <a:solidFill>
                  <a:srgbClr val="321744"/>
                </a:solidFill>
                <a:latin typeface="Calibri"/>
                <a:cs typeface="Calibri"/>
              </a:rPr>
              <a:t>Urban vs. rural</a:t>
            </a:r>
          </a:p>
        </p:txBody>
      </p:sp>
      <p:sp>
        <p:nvSpPr>
          <p:cNvPr id="19" name="Row 3 col 1"/>
          <p:cNvSpPr/>
          <p:nvPr/>
        </p:nvSpPr>
        <p:spPr>
          <a:xfrm>
            <a:off x="2834640" y="3328416"/>
            <a:ext cx="489204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dirty="0">
                <a:solidFill>
                  <a:srgbClr val="321744"/>
                </a:solidFill>
                <a:latin typeface="Calibri"/>
                <a:cs typeface="Calibri"/>
              </a:rPr>
              <a:t>The traditional landed elite against the new industrial class</a:t>
            </a:r>
          </a:p>
        </p:txBody>
      </p:sp>
      <p:sp>
        <p:nvSpPr>
          <p:cNvPr id="20" name="Row 3 col 2"/>
          <p:cNvSpPr/>
          <p:nvPr/>
        </p:nvSpPr>
        <p:spPr>
          <a:xfrm>
            <a:off x="7818120" y="3328416"/>
            <a:ext cx="384048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Agrarian parties, such as Sweden’s Centre Party</a:t>
            </a:r>
          </a:p>
        </p:txBody>
      </p:sp>
      <p:sp>
        <p:nvSpPr>
          <p:cNvPr id="21" name="Row 4 label"/>
          <p:cNvSpPr/>
          <p:nvPr/>
        </p:nvSpPr>
        <p:spPr>
          <a:xfrm>
            <a:off x="502920" y="4133088"/>
            <a:ext cx="224028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00" b="1" i="0">
                <a:solidFill>
                  <a:srgbClr val="321744"/>
                </a:solidFill>
                <a:latin typeface="Calibri"/>
                <a:cs typeface="Calibri"/>
              </a:rPr>
              <a:t>Labor vs. capital</a:t>
            </a:r>
          </a:p>
        </p:txBody>
      </p:sp>
      <p:sp>
        <p:nvSpPr>
          <p:cNvPr id="22" name="Row 4 col 1"/>
          <p:cNvSpPr/>
          <p:nvPr/>
        </p:nvSpPr>
        <p:spPr>
          <a:xfrm>
            <a:off x="2834640" y="4133088"/>
            <a:ext cx="489204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Workers against owners</a:t>
            </a:r>
          </a:p>
        </p:txBody>
      </p:sp>
      <p:sp>
        <p:nvSpPr>
          <p:cNvPr id="23" name="Row 4 col 2"/>
          <p:cNvSpPr/>
          <p:nvPr/>
        </p:nvSpPr>
        <p:spPr>
          <a:xfrm>
            <a:off x="7818120" y="4133088"/>
            <a:ext cx="3840480"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00" b="0" i="0">
                <a:solidFill>
                  <a:srgbClr val="321744"/>
                </a:solidFill>
                <a:latin typeface="Calibri"/>
                <a:cs typeface="Calibri"/>
              </a:rPr>
              <a:t>Social democrats and the other parties of the labor movement</a:t>
            </a:r>
          </a:p>
        </p:txBody>
      </p:sp>
      <p:sp>
        <p:nvSpPr>
          <p:cNvPr id="24" name="Footnote"/>
          <p:cNvSpPr/>
          <p:nvPr/>
        </p:nvSpPr>
        <p:spPr>
          <a:xfrm>
            <a:off x="457200" y="5230368"/>
            <a:ext cx="11274552"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50" b="0" i="1" dirty="0">
                <a:solidFill>
                  <a:srgbClr val="5C5C5C"/>
                </a:solidFill>
                <a:latin typeface="Calibri"/>
                <a:cs typeface="Calibri"/>
              </a:rPr>
              <a:t>Seymour Martin </a:t>
            </a:r>
            <a:r>
              <a:rPr sz="1350" b="0" i="1" dirty="0" err="1">
                <a:solidFill>
                  <a:srgbClr val="5C5C5C"/>
                </a:solidFill>
                <a:latin typeface="Calibri"/>
                <a:cs typeface="Calibri"/>
              </a:rPr>
              <a:t>Lipset</a:t>
            </a:r>
            <a:r>
              <a:rPr sz="1350" b="0" i="1" dirty="0">
                <a:solidFill>
                  <a:srgbClr val="5C5C5C"/>
                </a:solidFill>
                <a:latin typeface="Calibri"/>
                <a:cs typeface="Calibri"/>
              </a:rPr>
              <a:t>, an American sociologist, and Stein </a:t>
            </a:r>
            <a:r>
              <a:rPr sz="1350" b="0" i="1" dirty="0" err="1">
                <a:solidFill>
                  <a:srgbClr val="5C5C5C"/>
                </a:solidFill>
                <a:latin typeface="Calibri"/>
                <a:cs typeface="Calibri"/>
              </a:rPr>
              <a:t>Rokkan</a:t>
            </a:r>
            <a:r>
              <a:rPr sz="1350" b="0" i="1" dirty="0">
                <a:solidFill>
                  <a:srgbClr val="5C5C5C"/>
                </a:solidFill>
                <a:latin typeface="Calibri"/>
                <a:cs typeface="Calibri"/>
              </a:rPr>
              <a:t>, a Norwegian political scientist, 1967: the party systems of the 1960s still reflected conflicts from the years when the mass franchise arrived.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Stable Party Systems (1945–1975)</a:t>
            </a:r>
          </a:p>
        </p:txBody>
      </p:sp>
      <p:sp>
        <p:nvSpPr>
          <p:cNvPr id="3" name="Content Placeholder 2"/>
          <p:cNvSpPr>
            <a:spLocks noGrp="1"/>
          </p:cNvSpPr>
          <p:nvPr>
            <p:ph sz="half" idx="2"/>
          </p:nvPr>
        </p:nvSpPr>
        <p:spPr/>
        <p:txBody>
          <a:bodyPr/>
          <a:lstStyle/>
          <a:p>
            <a:r>
              <a:rPr sz="2100" dirty="0"/>
              <a:t>After World War II, most European countries had stable party systems</a:t>
            </a:r>
          </a:p>
          <a:p>
            <a:r>
              <a:rPr sz="2100" dirty="0"/>
              <a:t>Usually one large social democratic party on the left, a Christian democratic or conservative party on the right, and sometimes liberals in the middle</a:t>
            </a:r>
          </a:p>
          <a:p>
            <a:r>
              <a:rPr sz="2100" dirty="0"/>
              <a:t>Politics turned mainly on the worker–owner divide, with some religious and regional conflict</a:t>
            </a:r>
          </a:p>
          <a:p>
            <a:r>
              <a:rPr sz="2100" dirty="0"/>
              <a:t>The stagflation of the 1970s and new social movements </a:t>
            </a:r>
            <a:r>
              <a:rPr lang="en-US" sz="2100" dirty="0"/>
              <a:t>of the 1980s strained the system</a:t>
            </a:r>
            <a:endParaRPr sz="2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Four Kinds of Party</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How parties changed: four kinds of party</a:t>
            </a:r>
          </a:p>
        </p:txBody>
      </p:sp>
      <p:sp>
        <p:nvSpPr>
          <p:cNvPr id="5" name="Kind 1"/>
          <p:cNvSpPr/>
          <p:nvPr/>
        </p:nvSpPr>
        <p:spPr>
          <a:xfrm>
            <a:off x="457200" y="1188720"/>
            <a:ext cx="2724912" cy="4343400"/>
          </a:xfrm>
          <a:prstGeom prst="roundRect">
            <a:avLst>
              <a:gd name="adj" fmla="val 5000"/>
            </a:avLst>
          </a:prstGeom>
          <a:solidFill>
            <a:srgbClr val="FFF6F0"/>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Kind 1 header"/>
          <p:cNvSpPr/>
          <p:nvPr/>
        </p:nvSpPr>
        <p:spPr>
          <a:xfrm>
            <a:off x="457200" y="1188720"/>
            <a:ext cx="2724912" cy="502920"/>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Kind 1 header text"/>
          <p:cNvSpPr/>
          <p:nvPr/>
        </p:nvSpPr>
        <p:spPr>
          <a:xfrm>
            <a:off x="457200" y="1188720"/>
            <a:ext cx="2724912"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CADRE PARTIES</a:t>
            </a:r>
          </a:p>
        </p:txBody>
      </p:sp>
      <p:sp>
        <p:nvSpPr>
          <p:cNvPr id="8" name="Kind 1 text"/>
          <p:cNvSpPr/>
          <p:nvPr/>
        </p:nvSpPr>
        <p:spPr>
          <a:xfrm>
            <a:off x="630936" y="1874520"/>
            <a:ext cx="2377440" cy="3547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1900" b="1" i="0">
                <a:solidFill>
                  <a:srgbClr val="321744"/>
                </a:solidFill>
                <a:latin typeface="Calibri"/>
                <a:cs typeface="Calibri"/>
              </a:rPr>
              <a:t>19th century</a:t>
            </a:r>
          </a:p>
          <a:p>
            <a:pPr marL="171450" indent="-171450" algn="l">
              <a:spcAft>
                <a:spcPts val="1200"/>
              </a:spcAft>
              <a:buFont typeface="Arial"/>
              <a:buChar char="•"/>
            </a:pPr>
            <a:r>
              <a:rPr sz="1800" b="0" i="0">
                <a:solidFill>
                  <a:srgbClr val="321744"/>
                </a:solidFill>
                <a:latin typeface="Calibri"/>
                <a:cs typeface="Calibri"/>
              </a:rPr>
              <a:t>Founded by elites to represent elites</a:t>
            </a:r>
          </a:p>
          <a:p>
            <a:pPr marL="171450" indent="-171450" algn="l">
              <a:spcAft>
                <a:spcPts val="1200"/>
              </a:spcAft>
              <a:buFont typeface="Arial"/>
              <a:buChar char="•"/>
            </a:pPr>
            <a:r>
              <a:rPr sz="1800" b="0" i="0">
                <a:solidFill>
                  <a:srgbClr val="321744"/>
                </a:solidFill>
                <a:latin typeface="Calibri"/>
                <a:cs typeface="Calibri"/>
              </a:rPr>
              <a:t>Early conservative and liberal parties</a:t>
            </a:r>
          </a:p>
        </p:txBody>
      </p:sp>
      <p:sp>
        <p:nvSpPr>
          <p:cNvPr id="9" name="Kind 1 money"/>
          <p:cNvSpPr/>
          <p:nvPr/>
        </p:nvSpPr>
        <p:spPr>
          <a:xfrm>
            <a:off x="566928" y="4407408"/>
            <a:ext cx="2505456" cy="1005840"/>
          </a:xfrm>
          <a:prstGeom prst="roundRect">
            <a:avLst>
              <a:gd name="adj" fmla="val 15000"/>
            </a:avLst>
          </a:prstGeom>
          <a:solidFill>
            <a:srgbClr val="FFFFFF"/>
          </a:solidFill>
          <a:ln w="12700">
            <a:solidFill>
              <a:srgbClr val="5B4468"/>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rmAutofit/>
          </a:bodyPr>
          <a:lstStyle/>
          <a:p>
            <a:pPr marL="0" indent="0" algn="ctr">
              <a:spcAft>
                <a:spcPts val="100"/>
              </a:spcAft>
              <a:buNone/>
            </a:pPr>
            <a:r>
              <a:rPr sz="1100" b="1" i="0">
                <a:solidFill>
                  <a:srgbClr val="5C5C5C"/>
                </a:solidFill>
                <a:latin typeface="Calibri"/>
                <a:cs typeface="Calibri"/>
              </a:rPr>
              <a:t>THE MONEY COMES FROM</a:t>
            </a:r>
          </a:p>
          <a:p>
            <a:pPr marL="0" indent="0" algn="ctr">
              <a:buNone/>
            </a:pPr>
            <a:r>
              <a:rPr sz="1700" b="1" i="0">
                <a:solidFill>
                  <a:srgbClr val="321744"/>
                </a:solidFill>
                <a:latin typeface="Calibri"/>
                <a:cs typeface="Calibri"/>
              </a:rPr>
              <a:t>the leaders’ own wealth and contacts</a:t>
            </a:r>
          </a:p>
        </p:txBody>
      </p:sp>
      <p:sp>
        <p:nvSpPr>
          <p:cNvPr id="10" name="Kind 2"/>
          <p:cNvSpPr/>
          <p:nvPr/>
        </p:nvSpPr>
        <p:spPr>
          <a:xfrm>
            <a:off x="3310128" y="1188720"/>
            <a:ext cx="2724912" cy="434340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Kind 2 header"/>
          <p:cNvSpPr/>
          <p:nvPr/>
        </p:nvSpPr>
        <p:spPr>
          <a:xfrm>
            <a:off x="3310128" y="1188720"/>
            <a:ext cx="2724912" cy="50292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Kind 2 header text"/>
          <p:cNvSpPr/>
          <p:nvPr/>
        </p:nvSpPr>
        <p:spPr>
          <a:xfrm>
            <a:off x="3310128" y="1188720"/>
            <a:ext cx="2724912"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MASS PARTIES</a:t>
            </a:r>
          </a:p>
        </p:txBody>
      </p:sp>
      <p:sp>
        <p:nvSpPr>
          <p:cNvPr id="13" name="Kind 2 text"/>
          <p:cNvSpPr/>
          <p:nvPr/>
        </p:nvSpPr>
        <p:spPr>
          <a:xfrm>
            <a:off x="3483864" y="1874520"/>
            <a:ext cx="2377440" cy="3547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1900" b="1" i="0">
                <a:solidFill>
                  <a:srgbClr val="321744"/>
                </a:solidFill>
                <a:latin typeface="Calibri"/>
                <a:cs typeface="Calibri"/>
              </a:rPr>
              <a:t>From the late 1800s</a:t>
            </a:r>
          </a:p>
          <a:p>
            <a:pPr marL="171450" indent="-171450" algn="l">
              <a:spcAft>
                <a:spcPts val="1200"/>
              </a:spcAft>
              <a:buFont typeface="Arial"/>
              <a:buChar char="•"/>
            </a:pPr>
            <a:r>
              <a:rPr sz="1800" b="0" i="0">
                <a:solidFill>
                  <a:srgbClr val="321744"/>
                </a:solidFill>
                <a:latin typeface="Calibri"/>
                <a:cs typeface="Calibri"/>
              </a:rPr>
              <a:t>Represent people who had not held power before</a:t>
            </a:r>
          </a:p>
          <a:p>
            <a:pPr marL="171450" indent="-171450" algn="l">
              <a:spcAft>
                <a:spcPts val="1200"/>
              </a:spcAft>
              <a:buFont typeface="Arial"/>
              <a:buChar char="•"/>
            </a:pPr>
            <a:r>
              <a:rPr sz="1800" b="0" i="0">
                <a:solidFill>
                  <a:srgbClr val="321744"/>
                </a:solidFill>
                <a:latin typeface="Calibri"/>
                <a:cs typeface="Calibri"/>
              </a:rPr>
              <a:t>Often social democratic parties</a:t>
            </a:r>
          </a:p>
        </p:txBody>
      </p:sp>
      <p:sp>
        <p:nvSpPr>
          <p:cNvPr id="14" name="Kind 2 money"/>
          <p:cNvSpPr/>
          <p:nvPr/>
        </p:nvSpPr>
        <p:spPr>
          <a:xfrm>
            <a:off x="3419856" y="4407408"/>
            <a:ext cx="2505456" cy="1005840"/>
          </a:xfrm>
          <a:prstGeom prst="roundRect">
            <a:avLst>
              <a:gd name="adj" fmla="val 15000"/>
            </a:avLst>
          </a:prstGeom>
          <a:solidFill>
            <a:srgbClr val="FFFFFF"/>
          </a:solidFill>
          <a:ln w="12700">
            <a:solidFill>
              <a:srgbClr val="301A41"/>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rmAutofit/>
          </a:bodyPr>
          <a:lstStyle/>
          <a:p>
            <a:pPr marL="0" indent="0" algn="ctr">
              <a:spcAft>
                <a:spcPts val="100"/>
              </a:spcAft>
              <a:buNone/>
            </a:pPr>
            <a:r>
              <a:rPr sz="1100" b="1" i="0">
                <a:solidFill>
                  <a:srgbClr val="5C5C5C"/>
                </a:solidFill>
                <a:latin typeface="Calibri"/>
                <a:cs typeface="Calibri"/>
              </a:rPr>
              <a:t>THE MONEY COMES FROM</a:t>
            </a:r>
          </a:p>
          <a:p>
            <a:pPr marL="0" indent="0" algn="ctr">
              <a:buNone/>
            </a:pPr>
            <a:r>
              <a:rPr sz="1700" b="1" i="0">
                <a:solidFill>
                  <a:srgbClr val="321744"/>
                </a:solidFill>
                <a:latin typeface="Calibri"/>
                <a:cs typeface="Calibri"/>
              </a:rPr>
              <a:t>members’ dues</a:t>
            </a:r>
          </a:p>
        </p:txBody>
      </p:sp>
      <p:sp>
        <p:nvSpPr>
          <p:cNvPr id="15" name="Kind 3"/>
          <p:cNvSpPr/>
          <p:nvPr/>
        </p:nvSpPr>
        <p:spPr>
          <a:xfrm>
            <a:off x="6163056" y="1188720"/>
            <a:ext cx="2724912" cy="4343400"/>
          </a:xfrm>
          <a:prstGeom prst="roundRect">
            <a:avLst>
              <a:gd name="adj" fmla="val 5000"/>
            </a:avLst>
          </a:prstGeom>
          <a:solidFill>
            <a:srgbClr val="FFF6F0"/>
          </a:solidFill>
          <a:ln w="31750">
            <a:solidFill>
              <a:srgbClr val="3217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Kind 3 header"/>
          <p:cNvSpPr/>
          <p:nvPr/>
        </p:nvSpPr>
        <p:spPr>
          <a:xfrm>
            <a:off x="6163056" y="1188720"/>
            <a:ext cx="2724912" cy="502920"/>
          </a:xfrm>
          <a:prstGeom prst="roundRect">
            <a:avLst>
              <a:gd name="adj" fmla="val 18000"/>
            </a:avLst>
          </a:prstGeom>
          <a:solidFill>
            <a:srgbClr val="321744"/>
          </a:solidFill>
          <a:ln w="31750">
            <a:solidFill>
              <a:srgbClr val="3217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Kind 3 header text"/>
          <p:cNvSpPr/>
          <p:nvPr/>
        </p:nvSpPr>
        <p:spPr>
          <a:xfrm>
            <a:off x="6163056" y="1188720"/>
            <a:ext cx="2724912"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CATCH-ALL PARTIES</a:t>
            </a:r>
          </a:p>
        </p:txBody>
      </p:sp>
      <p:sp>
        <p:nvSpPr>
          <p:cNvPr id="18" name="Kind 3 text"/>
          <p:cNvSpPr/>
          <p:nvPr/>
        </p:nvSpPr>
        <p:spPr>
          <a:xfrm>
            <a:off x="6336792" y="1874520"/>
            <a:ext cx="2377440" cy="3547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1900" b="1" i="0">
                <a:solidFill>
                  <a:srgbClr val="321744"/>
                </a:solidFill>
                <a:latin typeface="Calibri"/>
                <a:cs typeface="Calibri"/>
              </a:rPr>
              <a:t>After 1945</a:t>
            </a:r>
          </a:p>
          <a:p>
            <a:pPr marL="171450" indent="-171450" algn="l">
              <a:spcAft>
                <a:spcPts val="1200"/>
              </a:spcAft>
              <a:buFont typeface="Arial"/>
              <a:buChar char="•"/>
            </a:pPr>
            <a:r>
              <a:rPr sz="1800" b="0" i="0">
                <a:solidFill>
                  <a:srgbClr val="321744"/>
                </a:solidFill>
                <a:latin typeface="Calibri"/>
                <a:cs typeface="Calibri"/>
              </a:rPr>
              <a:t>Reach beyond one class or one church</a:t>
            </a:r>
          </a:p>
          <a:p>
            <a:pPr marL="171450" indent="-171450" algn="l">
              <a:spcAft>
                <a:spcPts val="1200"/>
              </a:spcAft>
              <a:buFont typeface="Arial"/>
              <a:buChar char="•"/>
            </a:pPr>
            <a:r>
              <a:rPr sz="1800" b="0" i="0">
                <a:solidFill>
                  <a:srgbClr val="321744"/>
                </a:solidFill>
                <a:latin typeface="Calibri"/>
                <a:cs typeface="Calibri"/>
              </a:rPr>
              <a:t>Christian democrats; later, social democrats</a:t>
            </a:r>
          </a:p>
        </p:txBody>
      </p:sp>
      <p:sp>
        <p:nvSpPr>
          <p:cNvPr id="19" name="Kind 3 money"/>
          <p:cNvSpPr/>
          <p:nvPr/>
        </p:nvSpPr>
        <p:spPr>
          <a:xfrm>
            <a:off x="6272784" y="4407408"/>
            <a:ext cx="2505456" cy="1005840"/>
          </a:xfrm>
          <a:prstGeom prst="roundRect">
            <a:avLst>
              <a:gd name="adj" fmla="val 15000"/>
            </a:avLst>
          </a:prstGeom>
          <a:solidFill>
            <a:srgbClr val="FFFFFF"/>
          </a:solidFill>
          <a:ln w="12700">
            <a:solidFill>
              <a:srgbClr val="321744"/>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rmAutofit/>
          </a:bodyPr>
          <a:lstStyle/>
          <a:p>
            <a:pPr marL="0" indent="0" algn="ctr">
              <a:spcAft>
                <a:spcPts val="100"/>
              </a:spcAft>
              <a:buNone/>
            </a:pPr>
            <a:r>
              <a:rPr sz="1100" b="1" i="0">
                <a:solidFill>
                  <a:srgbClr val="5C5C5C"/>
                </a:solidFill>
                <a:latin typeface="Calibri"/>
                <a:cs typeface="Calibri"/>
              </a:rPr>
              <a:t>THE MONEY COMES FROM</a:t>
            </a:r>
          </a:p>
          <a:p>
            <a:pPr marL="0" indent="0" algn="ctr">
              <a:buNone/>
            </a:pPr>
            <a:r>
              <a:rPr sz="1700" b="1" i="0">
                <a:solidFill>
                  <a:srgbClr val="321744"/>
                </a:solidFill>
                <a:latin typeface="Calibri"/>
                <a:cs typeface="Calibri"/>
              </a:rPr>
              <a:t>donors of many kinds</a:t>
            </a:r>
          </a:p>
        </p:txBody>
      </p:sp>
      <p:sp>
        <p:nvSpPr>
          <p:cNvPr id="20" name="Kind 4"/>
          <p:cNvSpPr/>
          <p:nvPr/>
        </p:nvSpPr>
        <p:spPr>
          <a:xfrm>
            <a:off x="9015984" y="1188720"/>
            <a:ext cx="2724912" cy="434340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Kind 4 header"/>
          <p:cNvSpPr/>
          <p:nvPr/>
        </p:nvSpPr>
        <p:spPr>
          <a:xfrm>
            <a:off x="9015984" y="1188720"/>
            <a:ext cx="2724912" cy="50292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Kind 4 header text"/>
          <p:cNvSpPr/>
          <p:nvPr/>
        </p:nvSpPr>
        <p:spPr>
          <a:xfrm>
            <a:off x="9015984" y="1188720"/>
            <a:ext cx="2724912"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CARTEL PARTIES</a:t>
            </a:r>
          </a:p>
        </p:txBody>
      </p:sp>
      <p:sp>
        <p:nvSpPr>
          <p:cNvPr id="23" name="Kind 4 text"/>
          <p:cNvSpPr/>
          <p:nvPr/>
        </p:nvSpPr>
        <p:spPr>
          <a:xfrm>
            <a:off x="9189720" y="1874520"/>
            <a:ext cx="2377440" cy="3547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1900" b="1" i="0">
                <a:solidFill>
                  <a:srgbClr val="321744"/>
                </a:solidFill>
                <a:latin typeface="Calibri"/>
                <a:cs typeface="Calibri"/>
              </a:rPr>
              <a:t>Since the 1970s</a:t>
            </a:r>
          </a:p>
          <a:p>
            <a:pPr marL="171450" indent="-171450" algn="l">
              <a:spcAft>
                <a:spcPts val="1200"/>
              </a:spcAft>
              <a:buFont typeface="Arial"/>
              <a:buChar char="•"/>
            </a:pPr>
            <a:r>
              <a:rPr sz="1800" b="0" i="0">
                <a:solidFill>
                  <a:srgbClr val="321744"/>
                </a:solidFill>
                <a:latin typeface="Calibri"/>
                <a:cs typeface="Calibri"/>
              </a:rPr>
              <a:t>Collude with their rivals to stay in office</a:t>
            </a:r>
          </a:p>
          <a:p>
            <a:pPr marL="171450" indent="-171450" algn="l">
              <a:spcAft>
                <a:spcPts val="1200"/>
              </a:spcAft>
              <a:buFont typeface="Arial"/>
              <a:buChar char="•"/>
            </a:pPr>
            <a:r>
              <a:rPr sz="1800" b="0" i="0">
                <a:solidFill>
                  <a:srgbClr val="321744"/>
                </a:solidFill>
                <a:latin typeface="Calibri"/>
                <a:cs typeface="Calibri"/>
              </a:rPr>
              <a:t>Contested: critics find little evidence</a:t>
            </a:r>
          </a:p>
        </p:txBody>
      </p:sp>
      <p:sp>
        <p:nvSpPr>
          <p:cNvPr id="24" name="Kind 4 money"/>
          <p:cNvSpPr/>
          <p:nvPr/>
        </p:nvSpPr>
        <p:spPr>
          <a:xfrm>
            <a:off x="9125712" y="4407408"/>
            <a:ext cx="2505456" cy="1005840"/>
          </a:xfrm>
          <a:prstGeom prst="roundRect">
            <a:avLst>
              <a:gd name="adj" fmla="val 15000"/>
            </a:avLst>
          </a:prstGeom>
          <a:solidFill>
            <a:srgbClr val="F9C3A6"/>
          </a:solidFill>
          <a:ln w="1270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normAutofit/>
          </a:bodyPr>
          <a:lstStyle/>
          <a:p>
            <a:pPr marL="0" indent="0" algn="ctr">
              <a:spcAft>
                <a:spcPts val="100"/>
              </a:spcAft>
              <a:buNone/>
            </a:pPr>
            <a:r>
              <a:rPr sz="1100" b="1" i="0">
                <a:solidFill>
                  <a:srgbClr val="5C5C5C"/>
                </a:solidFill>
                <a:latin typeface="Calibri"/>
                <a:cs typeface="Calibri"/>
              </a:rPr>
              <a:t>THE MONEY COMES FROM</a:t>
            </a:r>
          </a:p>
          <a:p>
            <a:pPr marL="0" indent="0" algn="ctr">
              <a:buNone/>
            </a:pPr>
            <a:r>
              <a:rPr sz="1700" b="1" i="0">
                <a:solidFill>
                  <a:srgbClr val="321744"/>
                </a:solidFill>
                <a:latin typeface="Calibri"/>
                <a:cs typeface="Calibri"/>
              </a:rPr>
              <a:t>the state</a:t>
            </a:r>
          </a:p>
        </p:txBody>
      </p:sp>
      <p:sp>
        <p:nvSpPr>
          <p:cNvPr id="25" name="Footnote"/>
          <p:cNvSpPr/>
          <p:nvPr/>
        </p:nvSpPr>
        <p:spPr>
          <a:xfrm>
            <a:off x="457200" y="5669280"/>
            <a:ext cx="11274552"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400" b="0" i="1">
                <a:solidFill>
                  <a:srgbClr val="5C5C5C"/>
                </a:solidFill>
                <a:latin typeface="Calibri"/>
                <a:cs typeface="Calibri"/>
              </a:rPr>
              <a:t>Anti-system parties campaign against all of them: the populist left and right, and at first the Greens.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Guess the Number: Members</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r>
              <a:rPr sz="1250" b="1" i="0">
                <a:solidFill>
                  <a:srgbClr val="F3672A"/>
                </a:solidFill>
                <a:latin typeface="Calibri"/>
                <a:cs typeface="Calibri"/>
              </a:rPr>
              <a:t>GUESS THE NUMBER  ·  2 OF 3</a:t>
            </a: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fontScale="85000" lnSpcReduction="20000"/>
          </a:bodyPr>
          <a:lstStyle/>
          <a:p>
            <a:pPr marL="0" indent="0" algn="l">
              <a:buNone/>
            </a:pPr>
            <a:r>
              <a:rPr sz="2800" b="1" i="0">
                <a:solidFill>
                  <a:srgbClr val="321744"/>
                </a:solidFill>
                <a:latin typeface="Calibri"/>
                <a:cs typeface="Calibri"/>
              </a:rPr>
              <a:t>In 1953 Britain’s Conservative Party reported 2.8 million members. How many does it have now?</a:t>
            </a:r>
          </a:p>
        </p:txBody>
      </p:sp>
      <p:sp>
        <p:nvSpPr>
          <p:cNvPr id="6" name="Option A"/>
          <p:cNvSpPr/>
          <p:nvPr/>
        </p:nvSpPr>
        <p:spPr>
          <a:xfrm>
            <a:off x="502920" y="137160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ption A text"/>
          <p:cNvSpPr/>
          <p:nvPr/>
        </p:nvSpPr>
        <p:spPr>
          <a:xfrm>
            <a:off x="502920" y="137160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A</a:t>
            </a:r>
          </a:p>
          <a:p>
            <a:pPr marL="0" indent="0" algn="ctr">
              <a:buNone/>
            </a:pPr>
            <a:r>
              <a:rPr sz="2400" b="1" i="0">
                <a:solidFill>
                  <a:srgbClr val="321744"/>
                </a:solidFill>
                <a:latin typeface="Calibri"/>
                <a:cs typeface="Calibri"/>
              </a:rPr>
              <a:t>1.4 million</a:t>
            </a:r>
          </a:p>
        </p:txBody>
      </p:sp>
      <p:sp>
        <p:nvSpPr>
          <p:cNvPr id="8" name="Option B"/>
          <p:cNvSpPr/>
          <p:nvPr/>
        </p:nvSpPr>
        <p:spPr>
          <a:xfrm>
            <a:off x="3369564" y="137160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ption B text"/>
          <p:cNvSpPr/>
          <p:nvPr/>
        </p:nvSpPr>
        <p:spPr>
          <a:xfrm>
            <a:off x="3369564" y="137160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B</a:t>
            </a:r>
          </a:p>
          <a:p>
            <a:pPr marL="0" indent="0" algn="ctr">
              <a:buNone/>
            </a:pPr>
            <a:r>
              <a:rPr sz="2400" b="1" i="0">
                <a:solidFill>
                  <a:srgbClr val="321744"/>
                </a:solidFill>
                <a:latin typeface="Calibri"/>
                <a:cs typeface="Calibri"/>
              </a:rPr>
              <a:t>620,000</a:t>
            </a:r>
          </a:p>
        </p:txBody>
      </p:sp>
      <p:sp>
        <p:nvSpPr>
          <p:cNvPr id="10" name="Option C"/>
          <p:cNvSpPr/>
          <p:nvPr/>
        </p:nvSpPr>
        <p:spPr>
          <a:xfrm>
            <a:off x="6236208" y="137160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ption C text"/>
          <p:cNvSpPr/>
          <p:nvPr/>
        </p:nvSpPr>
        <p:spPr>
          <a:xfrm>
            <a:off x="6236208" y="137160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C</a:t>
            </a:r>
          </a:p>
          <a:p>
            <a:pPr marL="0" indent="0" algn="ctr">
              <a:buNone/>
            </a:pPr>
            <a:r>
              <a:rPr sz="2400" b="1" i="0">
                <a:solidFill>
                  <a:srgbClr val="321744"/>
                </a:solidFill>
                <a:latin typeface="Calibri"/>
                <a:cs typeface="Calibri"/>
              </a:rPr>
              <a:t>123,000</a:t>
            </a:r>
          </a:p>
        </p:txBody>
      </p:sp>
      <p:sp>
        <p:nvSpPr>
          <p:cNvPr id="12" name="Option D"/>
          <p:cNvSpPr/>
          <p:nvPr/>
        </p:nvSpPr>
        <p:spPr>
          <a:xfrm>
            <a:off x="9102852" y="137160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ption D text"/>
          <p:cNvSpPr/>
          <p:nvPr/>
        </p:nvSpPr>
        <p:spPr>
          <a:xfrm>
            <a:off x="9102852" y="137160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D</a:t>
            </a:r>
          </a:p>
          <a:p>
            <a:pPr marL="0" indent="0" algn="ctr">
              <a:buNone/>
            </a:pPr>
            <a:r>
              <a:rPr sz="2400" b="1" i="0">
                <a:solidFill>
                  <a:srgbClr val="321744"/>
                </a:solidFill>
                <a:latin typeface="Calibri"/>
                <a:cs typeface="Calibri"/>
              </a:rPr>
              <a:t>31,000</a:t>
            </a:r>
          </a:p>
        </p:txBody>
      </p:sp>
      <p:sp>
        <p:nvSpPr>
          <p:cNvPr id="14" name="Answer highlight"/>
          <p:cNvSpPr/>
          <p:nvPr/>
        </p:nvSpPr>
        <p:spPr>
          <a:xfrm>
            <a:off x="6236208" y="1371600"/>
            <a:ext cx="2583180" cy="914400"/>
          </a:xfrm>
          <a:prstGeom prst="roundRect">
            <a:avLst>
              <a:gd name="adj" fmla="val 12000"/>
            </a:avLst>
          </a:prstGeom>
          <a:solidFill>
            <a:srgbClr val="F3672A"/>
          </a:solidFill>
          <a:ln w="1270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nswer highlight text"/>
          <p:cNvSpPr/>
          <p:nvPr/>
        </p:nvSpPr>
        <p:spPr>
          <a:xfrm>
            <a:off x="6236208" y="137160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FFFFFF"/>
                </a:solidFill>
                <a:latin typeface="Calibri"/>
                <a:cs typeface="Calibri"/>
              </a:rPr>
              <a:t>C</a:t>
            </a:r>
          </a:p>
          <a:p>
            <a:pPr marL="0" indent="0" algn="ctr">
              <a:buNone/>
            </a:pPr>
            <a:r>
              <a:rPr sz="2400" b="1" i="0">
                <a:solidFill>
                  <a:srgbClr val="FFFFFF"/>
                </a:solidFill>
                <a:latin typeface="Calibri"/>
                <a:cs typeface="Calibri"/>
              </a:rPr>
              <a:t>123,000</a:t>
            </a:r>
          </a:p>
        </p:txBody>
      </p:sp>
      <p:sp>
        <p:nvSpPr>
          <p:cNvPr id="16" name="Conservatives (Britain) 1953 bar"/>
          <p:cNvSpPr/>
          <p:nvPr/>
        </p:nvSpPr>
        <p:spPr>
          <a:xfrm>
            <a:off x="868680" y="2743200"/>
            <a:ext cx="914400" cy="2240280"/>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onservatives (Britain) 1953 value"/>
          <p:cNvSpPr/>
          <p:nvPr/>
        </p:nvSpPr>
        <p:spPr>
          <a:xfrm>
            <a:off x="685800" y="2432304"/>
            <a:ext cx="128016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50" b="1" i="0">
                <a:solidFill>
                  <a:srgbClr val="321744"/>
                </a:solidFill>
                <a:latin typeface="Calibri"/>
                <a:cs typeface="Calibri"/>
              </a:rPr>
              <a:t>2.8 million</a:t>
            </a:r>
          </a:p>
        </p:txBody>
      </p:sp>
      <p:sp>
        <p:nvSpPr>
          <p:cNvPr id="18" name="Conservatives (Britain) 1953 year"/>
          <p:cNvSpPr/>
          <p:nvPr/>
        </p:nvSpPr>
        <p:spPr>
          <a:xfrm>
            <a:off x="777240" y="502005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00" b="0" i="0">
                <a:solidFill>
                  <a:srgbClr val="5C5C5C"/>
                </a:solidFill>
                <a:latin typeface="Calibri"/>
                <a:cs typeface="Calibri"/>
              </a:rPr>
              <a:t>1953</a:t>
            </a:r>
          </a:p>
        </p:txBody>
      </p:sp>
      <p:sp>
        <p:nvSpPr>
          <p:cNvPr id="19" name="Conservatives (Britain) 2025 bar"/>
          <p:cNvSpPr/>
          <p:nvPr/>
        </p:nvSpPr>
        <p:spPr>
          <a:xfrm>
            <a:off x="1920240" y="4885068"/>
            <a:ext cx="914400" cy="98412"/>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onservatives (Britain) 2025 value"/>
          <p:cNvSpPr/>
          <p:nvPr/>
        </p:nvSpPr>
        <p:spPr>
          <a:xfrm>
            <a:off x="1737360" y="4574172"/>
            <a:ext cx="128016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50" b="1" i="0">
                <a:solidFill>
                  <a:srgbClr val="321744"/>
                </a:solidFill>
                <a:latin typeface="Calibri"/>
                <a:cs typeface="Calibri"/>
              </a:rPr>
              <a:t>123,000</a:t>
            </a:r>
          </a:p>
        </p:txBody>
      </p:sp>
      <p:sp>
        <p:nvSpPr>
          <p:cNvPr id="21" name="Conservatives (Britain) 2025 year"/>
          <p:cNvSpPr/>
          <p:nvPr/>
        </p:nvSpPr>
        <p:spPr>
          <a:xfrm>
            <a:off x="1828800" y="502005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00" b="0" i="0">
                <a:solidFill>
                  <a:srgbClr val="5C5C5C"/>
                </a:solidFill>
                <a:latin typeface="Calibri"/>
                <a:cs typeface="Calibri"/>
              </a:rPr>
              <a:t>2025</a:t>
            </a:r>
          </a:p>
        </p:txBody>
      </p:sp>
      <p:sp>
        <p:nvSpPr>
          <p:cNvPr id="22" name="Conservatives (Britain) label"/>
          <p:cNvSpPr/>
          <p:nvPr/>
        </p:nvSpPr>
        <p:spPr>
          <a:xfrm>
            <a:off x="594360" y="5285232"/>
            <a:ext cx="25146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400" b="1" i="0">
                <a:solidFill>
                  <a:srgbClr val="321744"/>
                </a:solidFill>
                <a:latin typeface="Calibri"/>
                <a:cs typeface="Calibri"/>
              </a:rPr>
              <a:t>Conservatives (Britain)</a:t>
            </a:r>
          </a:p>
        </p:txBody>
      </p:sp>
      <p:sp>
        <p:nvSpPr>
          <p:cNvPr id="23" name="Labour (Britain) 1953 bar"/>
          <p:cNvSpPr/>
          <p:nvPr/>
        </p:nvSpPr>
        <p:spPr>
          <a:xfrm>
            <a:off x="3611880" y="4183380"/>
            <a:ext cx="914400" cy="800100"/>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Labour (Britain) 1953 value"/>
          <p:cNvSpPr/>
          <p:nvPr/>
        </p:nvSpPr>
        <p:spPr>
          <a:xfrm>
            <a:off x="3429000" y="3872484"/>
            <a:ext cx="128016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50" b="1" i="0">
                <a:solidFill>
                  <a:srgbClr val="321744"/>
                </a:solidFill>
                <a:latin typeface="Calibri"/>
                <a:cs typeface="Calibri"/>
              </a:rPr>
              <a:t>over 1 million</a:t>
            </a:r>
          </a:p>
        </p:txBody>
      </p:sp>
      <p:sp>
        <p:nvSpPr>
          <p:cNvPr id="25" name="Labour (Britain) 1953 year"/>
          <p:cNvSpPr/>
          <p:nvPr/>
        </p:nvSpPr>
        <p:spPr>
          <a:xfrm>
            <a:off x="3520440" y="502005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00" b="0" i="0">
                <a:solidFill>
                  <a:srgbClr val="5C5C5C"/>
                </a:solidFill>
                <a:latin typeface="Calibri"/>
                <a:cs typeface="Calibri"/>
              </a:rPr>
              <a:t>1953</a:t>
            </a:r>
          </a:p>
        </p:txBody>
      </p:sp>
      <p:sp>
        <p:nvSpPr>
          <p:cNvPr id="26" name="Labour (Britain) 2025 bar"/>
          <p:cNvSpPr/>
          <p:nvPr/>
        </p:nvSpPr>
        <p:spPr>
          <a:xfrm>
            <a:off x="4663440" y="4771454"/>
            <a:ext cx="914400" cy="212026"/>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Labour (Britain) 2025 value"/>
          <p:cNvSpPr/>
          <p:nvPr/>
        </p:nvSpPr>
        <p:spPr>
          <a:xfrm>
            <a:off x="4480560" y="4460558"/>
            <a:ext cx="128016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50" b="1" i="0">
                <a:solidFill>
                  <a:srgbClr val="321744"/>
                </a:solidFill>
                <a:latin typeface="Calibri"/>
                <a:cs typeface="Calibri"/>
              </a:rPr>
              <a:t>265,000</a:t>
            </a:r>
          </a:p>
        </p:txBody>
      </p:sp>
      <p:sp>
        <p:nvSpPr>
          <p:cNvPr id="28" name="Labour (Britain) 2025 year"/>
          <p:cNvSpPr/>
          <p:nvPr/>
        </p:nvSpPr>
        <p:spPr>
          <a:xfrm>
            <a:off x="4572000" y="502005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00" b="0" i="0">
                <a:solidFill>
                  <a:srgbClr val="5C5C5C"/>
                </a:solidFill>
                <a:latin typeface="Calibri"/>
                <a:cs typeface="Calibri"/>
              </a:rPr>
              <a:t>2025</a:t>
            </a:r>
          </a:p>
        </p:txBody>
      </p:sp>
      <p:sp>
        <p:nvSpPr>
          <p:cNvPr id="29" name="Labour (Britain) label"/>
          <p:cNvSpPr/>
          <p:nvPr/>
        </p:nvSpPr>
        <p:spPr>
          <a:xfrm>
            <a:off x="3337560" y="5285232"/>
            <a:ext cx="25146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400" b="1" i="0">
                <a:solidFill>
                  <a:srgbClr val="321744"/>
                </a:solidFill>
                <a:latin typeface="Calibri"/>
                <a:cs typeface="Calibri"/>
              </a:rPr>
              <a:t>Labour (Britain)</a:t>
            </a:r>
          </a:p>
        </p:txBody>
      </p:sp>
      <p:sp>
        <p:nvSpPr>
          <p:cNvPr id="30" name="SPD (Germany) 1976 bar"/>
          <p:cNvSpPr/>
          <p:nvPr/>
        </p:nvSpPr>
        <p:spPr>
          <a:xfrm>
            <a:off x="6355080" y="4165778"/>
            <a:ext cx="914400" cy="81770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SPD (Germany) 1976 value"/>
          <p:cNvSpPr/>
          <p:nvPr/>
        </p:nvSpPr>
        <p:spPr>
          <a:xfrm>
            <a:off x="6172200" y="3854882"/>
            <a:ext cx="128016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50" b="1" i="0">
                <a:solidFill>
                  <a:srgbClr val="321744"/>
                </a:solidFill>
                <a:latin typeface="Calibri"/>
                <a:cs typeface="Calibri"/>
              </a:rPr>
              <a:t>1,022,000</a:t>
            </a:r>
          </a:p>
        </p:txBody>
      </p:sp>
      <p:sp>
        <p:nvSpPr>
          <p:cNvPr id="32" name="SPD (Germany) 1976 year"/>
          <p:cNvSpPr/>
          <p:nvPr/>
        </p:nvSpPr>
        <p:spPr>
          <a:xfrm>
            <a:off x="6263640" y="502005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00" b="0" i="0">
                <a:solidFill>
                  <a:srgbClr val="5C5C5C"/>
                </a:solidFill>
                <a:latin typeface="Calibri"/>
                <a:cs typeface="Calibri"/>
              </a:rPr>
              <a:t>1976</a:t>
            </a:r>
          </a:p>
        </p:txBody>
      </p:sp>
      <p:sp>
        <p:nvSpPr>
          <p:cNvPr id="33" name="SPD (Germany) 2025 bar"/>
          <p:cNvSpPr/>
          <p:nvPr/>
        </p:nvSpPr>
        <p:spPr>
          <a:xfrm>
            <a:off x="7406640" y="4705045"/>
            <a:ext cx="914400" cy="278435"/>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PD (Germany) 2025 value"/>
          <p:cNvSpPr/>
          <p:nvPr/>
        </p:nvSpPr>
        <p:spPr>
          <a:xfrm>
            <a:off x="7223760" y="4394149"/>
            <a:ext cx="128016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50" b="1" i="0">
                <a:solidFill>
                  <a:srgbClr val="321744"/>
                </a:solidFill>
                <a:latin typeface="Calibri"/>
                <a:cs typeface="Calibri"/>
              </a:rPr>
              <a:t>348,000</a:t>
            </a:r>
          </a:p>
        </p:txBody>
      </p:sp>
      <p:sp>
        <p:nvSpPr>
          <p:cNvPr id="35" name="SPD (Germany) 2025 year"/>
          <p:cNvSpPr/>
          <p:nvPr/>
        </p:nvSpPr>
        <p:spPr>
          <a:xfrm>
            <a:off x="7315200" y="502005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00" b="0" i="0">
                <a:solidFill>
                  <a:srgbClr val="5C5C5C"/>
                </a:solidFill>
                <a:latin typeface="Calibri"/>
                <a:cs typeface="Calibri"/>
              </a:rPr>
              <a:t>2025</a:t>
            </a:r>
          </a:p>
        </p:txBody>
      </p:sp>
      <p:sp>
        <p:nvSpPr>
          <p:cNvPr id="36" name="SPD (Germany) label"/>
          <p:cNvSpPr/>
          <p:nvPr/>
        </p:nvSpPr>
        <p:spPr>
          <a:xfrm>
            <a:off x="6080760" y="5285232"/>
            <a:ext cx="25146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400" b="1" i="0">
                <a:solidFill>
                  <a:srgbClr val="321744"/>
                </a:solidFill>
                <a:latin typeface="Calibri"/>
                <a:cs typeface="Calibri"/>
              </a:rPr>
              <a:t>SPD (Germany)</a:t>
            </a:r>
          </a:p>
        </p:txBody>
      </p:sp>
      <p:sp>
        <p:nvSpPr>
          <p:cNvPr id="37" name="CDU (Germany) 1983 bar"/>
          <p:cNvSpPr/>
          <p:nvPr/>
        </p:nvSpPr>
        <p:spPr>
          <a:xfrm>
            <a:off x="9098280" y="4395406"/>
            <a:ext cx="914400" cy="588074"/>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DU (Germany) 1983 value"/>
          <p:cNvSpPr/>
          <p:nvPr/>
        </p:nvSpPr>
        <p:spPr>
          <a:xfrm>
            <a:off x="8915400" y="4084510"/>
            <a:ext cx="128016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50" b="1" i="0">
                <a:solidFill>
                  <a:srgbClr val="321744"/>
                </a:solidFill>
                <a:latin typeface="Calibri"/>
                <a:cs typeface="Calibri"/>
              </a:rPr>
              <a:t>735,000</a:t>
            </a:r>
          </a:p>
        </p:txBody>
      </p:sp>
      <p:sp>
        <p:nvSpPr>
          <p:cNvPr id="39" name="CDU (Germany) 1983 year"/>
          <p:cNvSpPr/>
          <p:nvPr/>
        </p:nvSpPr>
        <p:spPr>
          <a:xfrm>
            <a:off x="9006840" y="502005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00" b="0" i="0">
                <a:solidFill>
                  <a:srgbClr val="5C5C5C"/>
                </a:solidFill>
                <a:latin typeface="Calibri"/>
                <a:cs typeface="Calibri"/>
              </a:rPr>
              <a:t>1983</a:t>
            </a:r>
          </a:p>
        </p:txBody>
      </p:sp>
      <p:sp>
        <p:nvSpPr>
          <p:cNvPr id="40" name="CDU (Germany) 2025 bar"/>
          <p:cNvSpPr/>
          <p:nvPr/>
        </p:nvSpPr>
        <p:spPr>
          <a:xfrm>
            <a:off x="10149840" y="4697844"/>
            <a:ext cx="914400" cy="285636"/>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CDU (Germany) 2025 value"/>
          <p:cNvSpPr/>
          <p:nvPr/>
        </p:nvSpPr>
        <p:spPr>
          <a:xfrm>
            <a:off x="9966960" y="4386948"/>
            <a:ext cx="128016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350" b="1" i="0">
                <a:solidFill>
                  <a:srgbClr val="321744"/>
                </a:solidFill>
                <a:latin typeface="Calibri"/>
                <a:cs typeface="Calibri"/>
              </a:rPr>
              <a:t>357,000</a:t>
            </a:r>
          </a:p>
        </p:txBody>
      </p:sp>
      <p:sp>
        <p:nvSpPr>
          <p:cNvPr id="42" name="CDU (Germany) 2025 year"/>
          <p:cNvSpPr/>
          <p:nvPr/>
        </p:nvSpPr>
        <p:spPr>
          <a:xfrm>
            <a:off x="10058400" y="502005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00" b="0" i="0">
                <a:solidFill>
                  <a:srgbClr val="5C5C5C"/>
                </a:solidFill>
                <a:latin typeface="Calibri"/>
                <a:cs typeface="Calibri"/>
              </a:rPr>
              <a:t>2025</a:t>
            </a:r>
          </a:p>
        </p:txBody>
      </p:sp>
      <p:sp>
        <p:nvSpPr>
          <p:cNvPr id="43" name="CDU (Germany) label"/>
          <p:cNvSpPr/>
          <p:nvPr/>
        </p:nvSpPr>
        <p:spPr>
          <a:xfrm>
            <a:off x="8823960" y="5285232"/>
            <a:ext cx="251460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400" b="1" i="0">
                <a:solidFill>
                  <a:srgbClr val="321744"/>
                </a:solidFill>
                <a:latin typeface="Calibri"/>
                <a:cs typeface="Calibri"/>
              </a:rPr>
              <a:t>CDU (Germany)</a:t>
            </a:r>
          </a:p>
        </p:txBody>
      </p:sp>
      <p:cxnSp>
        <p:nvCxnSpPr>
          <p:cNvPr id="44" name="Baseline"/>
          <p:cNvCxnSpPr/>
          <p:nvPr/>
        </p:nvCxnSpPr>
        <p:spPr>
          <a:xfrm>
            <a:off x="548640" y="4983480"/>
            <a:ext cx="11109960" cy="0"/>
          </a:xfrm>
          <a:prstGeom prst="line">
            <a:avLst/>
          </a:prstGeom>
          <a:ln w="19050">
            <a:solidFill>
              <a:srgbClr val="321744"/>
            </a:solidFill>
          </a:ln>
        </p:spPr>
        <p:style>
          <a:lnRef idx="2">
            <a:schemeClr val="accent1"/>
          </a:lnRef>
          <a:fillRef idx="0">
            <a:schemeClr val="accent1"/>
          </a:fillRef>
          <a:effectRef idx="1">
            <a:schemeClr val="accent1"/>
          </a:effectRef>
          <a:fontRef idx="minor">
            <a:schemeClr val="tx1"/>
          </a:fontRef>
        </p:style>
      </p:cxnSp>
      <p:sp>
        <p:nvSpPr>
          <p:cNvPr id="45" name="Footnote"/>
          <p:cNvSpPr/>
          <p:nvPr/>
        </p:nvSpPr>
        <p:spPr>
          <a:xfrm>
            <a:off x="457200" y="5669280"/>
            <a:ext cx="11274552"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00" b="0" i="1">
                <a:solidFill>
                  <a:srgbClr val="5C5C5C"/>
                </a:solidFill>
                <a:latin typeface="Calibri"/>
                <a:cs typeface="Calibri"/>
              </a:rPr>
              <a:t>Reform UK reported about 268,000 members in December 2025, and the Greens passed 200,000 in March 2026: both more than the Conservatives. The 1950s figures are the parties’ own claims and are probably inflated.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505" y="384048"/>
            <a:ext cx="10058400" cy="1188720"/>
          </a:xfrm>
        </p:spPr>
        <p:txBody>
          <a:bodyPr/>
          <a:lstStyle/>
          <a:p>
            <a:r>
              <a:t>The Cartel Party</a:t>
            </a:r>
          </a:p>
        </p:txBody>
      </p:sp>
      <p:sp>
        <p:nvSpPr>
          <p:cNvPr id="3" name="Content Placeholder 2"/>
          <p:cNvSpPr>
            <a:spLocks noGrp="1"/>
          </p:cNvSpPr>
          <p:nvPr>
            <p:ph idx="1"/>
          </p:nvPr>
        </p:nvSpPr>
        <p:spPr>
          <a:xfrm>
            <a:off x="685800" y="1691640"/>
            <a:ext cx="5806440" cy="4023360"/>
          </a:xfrm>
        </p:spPr>
        <p:txBody>
          <a:bodyPr/>
          <a:lstStyle/>
          <a:p>
            <a:r>
              <a:rPr sz="2000"/>
              <a:t>Richard Katz (American) and Peter Mair (Irish), political scientists, 1995 and 2009</a:t>
            </a:r>
          </a:p>
          <a:p>
            <a:r>
              <a:rPr sz="2000"/>
              <a:t>Parties “increasingly function like cartels, employing the resources of the state to limit political competition”</a:t>
            </a:r>
          </a:p>
          <a:p>
            <a:r>
              <a:rPr sz="2000"/>
              <a:t>They moved toward the state: public money, party laws, public office</a:t>
            </a:r>
          </a:p>
          <a:p>
            <a:r>
              <a:rPr sz="2000"/>
              <a:t>And away from society: fewer members, weaker loyalties, lower turnout</a:t>
            </a:r>
          </a:p>
        </p:txBody>
      </p:sp>
      <p:pic>
        <p:nvPicPr>
          <p:cNvPr id="4" name="Photo (Lecture 21.pptx, slide 11, picture 1)" descr="image.jpg"/>
          <p:cNvPicPr>
            <a:picLocks noChangeAspect="1"/>
          </p:cNvPicPr>
          <p:nvPr/>
        </p:nvPicPr>
        <p:blipFill>
          <a:blip r:embed="rId2"/>
          <a:srcRect l="11081" r="25983"/>
          <a:stretch>
            <a:fillRect/>
          </a:stretch>
        </p:blipFill>
        <p:spPr>
          <a:xfrm>
            <a:off x="7551673" y="1737360"/>
            <a:ext cx="3321814" cy="3520440"/>
          </a:xfrm>
          <a:prstGeom prst="rect">
            <a:avLst/>
          </a:prstGeom>
        </p:spPr>
      </p:pic>
      <p:sp>
        <p:nvSpPr>
          <p:cNvPr id="5" name="Photo caption"/>
          <p:cNvSpPr/>
          <p:nvPr/>
        </p:nvSpPr>
        <p:spPr>
          <a:xfrm>
            <a:off x="6675120" y="5312664"/>
            <a:ext cx="507492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t">
            <a:normAutofit/>
          </a:bodyPr>
          <a:lstStyle/>
          <a:p>
            <a:pPr marL="0" indent="0" algn="ctr">
              <a:buNone/>
            </a:pPr>
            <a:r>
              <a:rPr sz="1150" b="0" i="1">
                <a:solidFill>
                  <a:srgbClr val="321744"/>
                </a:solidFill>
                <a:latin typeface="Calibri"/>
                <a:cs typeface="Calibri"/>
              </a:rPr>
              <a:t>Gordon Brown and Tony Blair on New Labour’s “business tour” in the 1990s</a:t>
            </a:r>
          </a:p>
        </p:txBody>
      </p:sp>
      <p:sp>
        <p:nvSpPr>
          <p:cNvPr id="6" name="Reading tag"/>
          <p:cNvSpPr txBox="1"/>
          <p:nvPr/>
        </p:nvSpPr>
        <p:spPr>
          <a:xfrm>
            <a:off x="7635240" y="109728"/>
            <a:ext cx="4206240" cy="292608"/>
          </a:xfrm>
          <a:prstGeom prst="rect">
            <a:avLst/>
          </a:prstGeom>
          <a:noFill/>
        </p:spPr>
        <p:txBody>
          <a:bodyPr wrap="square">
            <a:spAutoFit/>
          </a:bodyPr>
          <a:lstStyle/>
          <a:p>
            <a:pPr algn="r"/>
            <a:r>
              <a:rPr sz="1200" b="0" i="1">
                <a:solidFill>
                  <a:srgbClr val="FFFFFF"/>
                </a:solidFill>
                <a:latin typeface="Calibri"/>
              </a:rPr>
              <a:t>From today’s reading: Katz and Mair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Cartel Does</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What the cartel does</a:t>
            </a:r>
          </a:p>
        </p:txBody>
      </p:sp>
      <p:sp>
        <p:nvSpPr>
          <p:cNvPr id="5" name="Reading tag"/>
          <p:cNvSpPr txBox="1"/>
          <p:nvPr/>
        </p:nvSpPr>
        <p:spPr>
          <a:xfrm>
            <a:off x="7635240" y="109728"/>
            <a:ext cx="4206240" cy="292608"/>
          </a:xfrm>
          <a:prstGeom prst="rect">
            <a:avLst/>
          </a:prstGeom>
          <a:noFill/>
        </p:spPr>
        <p:txBody>
          <a:bodyPr wrap="square">
            <a:spAutoFit/>
          </a:bodyPr>
          <a:lstStyle/>
          <a:p>
            <a:pPr algn="r"/>
            <a:r>
              <a:rPr sz="1200" b="0" i="1">
                <a:solidFill>
                  <a:srgbClr val="5C5C5C"/>
                </a:solidFill>
                <a:latin typeface="Calibri"/>
              </a:rPr>
              <a:t>From today’s reading: Katz and Mair</a:t>
            </a:r>
          </a:p>
        </p:txBody>
      </p:sp>
      <p:sp>
        <p:nvSpPr>
          <p:cNvPr id="6" name="Cartel card 1"/>
          <p:cNvSpPr/>
          <p:nvPr/>
        </p:nvSpPr>
        <p:spPr>
          <a:xfrm>
            <a:off x="457200" y="1234440"/>
            <a:ext cx="3703320" cy="397764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rtel card 1 header"/>
          <p:cNvSpPr/>
          <p:nvPr/>
        </p:nvSpPr>
        <p:spPr>
          <a:xfrm>
            <a:off x="457200" y="1234440"/>
            <a:ext cx="3703320" cy="50292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artel card 1 header text"/>
          <p:cNvSpPr/>
          <p:nvPr/>
        </p:nvSpPr>
        <p:spPr>
          <a:xfrm>
            <a:off x="457200" y="1234440"/>
            <a:ext cx="370332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LIMITS THE CONTEST</a:t>
            </a:r>
          </a:p>
        </p:txBody>
      </p:sp>
      <p:sp>
        <p:nvSpPr>
          <p:cNvPr id="9" name="Cartel card 1 text"/>
          <p:cNvSpPr/>
          <p:nvPr/>
        </p:nvSpPr>
        <p:spPr>
          <a:xfrm>
            <a:off x="630936" y="1920240"/>
            <a:ext cx="3355848" cy="3182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2000" b="1" i="0">
                <a:solidFill>
                  <a:srgbClr val="321744"/>
                </a:solidFill>
                <a:latin typeface="Calibri"/>
                <a:cs typeface="Calibri"/>
              </a:rPr>
              <a:t>Fewer questions are put to the voters</a:t>
            </a:r>
          </a:p>
          <a:p>
            <a:pPr marL="171450" indent="-171450" algn="l">
              <a:spcAft>
                <a:spcPts val="1300"/>
              </a:spcAft>
              <a:buFont typeface="Arial"/>
              <a:buChar char="•"/>
            </a:pPr>
            <a:r>
              <a:rPr sz="1750" b="0" i="0">
                <a:solidFill>
                  <a:srgbClr val="321744"/>
                </a:solidFill>
                <a:latin typeface="Calibri"/>
                <a:cs typeface="Calibri"/>
              </a:rPr>
              <a:t>Hard choices are delegated to “independent central banks, courts, or the EU Commission”</a:t>
            </a:r>
          </a:p>
          <a:p>
            <a:pPr marL="171450" indent="-171450" algn="l">
              <a:spcAft>
                <a:spcPts val="1300"/>
              </a:spcAft>
              <a:buFont typeface="Arial"/>
              <a:buChar char="•"/>
            </a:pPr>
            <a:r>
              <a:rPr sz="1750" b="0" i="0">
                <a:solidFill>
                  <a:srgbClr val="321744"/>
                </a:solidFill>
                <a:latin typeface="Calibri"/>
                <a:cs typeface="Calibri"/>
              </a:rPr>
              <a:t>Campaigns turn on who manages better, and on “spectacle, image, and theater”</a:t>
            </a:r>
          </a:p>
        </p:txBody>
      </p:sp>
      <p:sp>
        <p:nvSpPr>
          <p:cNvPr id="10" name="Cartel card 2"/>
          <p:cNvSpPr/>
          <p:nvPr/>
        </p:nvSpPr>
        <p:spPr>
          <a:xfrm>
            <a:off x="4288536" y="1234440"/>
            <a:ext cx="3703320" cy="397764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artel card 2 header"/>
          <p:cNvSpPr/>
          <p:nvPr/>
        </p:nvSpPr>
        <p:spPr>
          <a:xfrm>
            <a:off x="4288536" y="1234440"/>
            <a:ext cx="3703320" cy="50292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artel card 2 header text"/>
          <p:cNvSpPr/>
          <p:nvPr/>
        </p:nvSpPr>
        <p:spPr>
          <a:xfrm>
            <a:off x="4288536" y="1234440"/>
            <a:ext cx="370332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SHARES THE MONEY</a:t>
            </a:r>
          </a:p>
        </p:txBody>
      </p:sp>
      <p:sp>
        <p:nvSpPr>
          <p:cNvPr id="13" name="Cartel card 2 text"/>
          <p:cNvSpPr/>
          <p:nvPr/>
        </p:nvSpPr>
        <p:spPr>
          <a:xfrm>
            <a:off x="4462272" y="1920240"/>
            <a:ext cx="3355848" cy="3182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2000" b="1" i="0">
                <a:solidFill>
                  <a:srgbClr val="321744"/>
                </a:solidFill>
                <a:latin typeface="Calibri"/>
                <a:cs typeface="Calibri"/>
              </a:rPr>
              <a:t>The state pays</a:t>
            </a:r>
          </a:p>
          <a:p>
            <a:pPr marL="171450" indent="-171450" algn="l">
              <a:spcAft>
                <a:spcPts val="1300"/>
              </a:spcAft>
              <a:buFont typeface="Arial"/>
              <a:buChar char="•"/>
            </a:pPr>
            <a:r>
              <a:rPr sz="1750" b="0" i="0">
                <a:solidFill>
                  <a:srgbClr val="321744"/>
                </a:solidFill>
                <a:latin typeface="Calibri"/>
                <a:cs typeface="Calibri"/>
              </a:rPr>
              <a:t>State subsidies replace members’ dues</a:t>
            </a:r>
          </a:p>
          <a:p>
            <a:pPr marL="171450" indent="-171450" algn="l">
              <a:spcAft>
                <a:spcPts val="1300"/>
              </a:spcAft>
              <a:buFont typeface="Arial"/>
              <a:buChar char="•"/>
            </a:pPr>
            <a:r>
              <a:rPr sz="1750" b="0" i="0">
                <a:solidFill>
                  <a:srgbClr val="321744"/>
                </a:solidFill>
                <a:latin typeface="Calibri"/>
                <a:cs typeface="Calibri"/>
              </a:rPr>
              <a:t>The gap between being in office and out of office shrinks: losing costs less</a:t>
            </a:r>
          </a:p>
        </p:txBody>
      </p:sp>
      <p:sp>
        <p:nvSpPr>
          <p:cNvPr id="14" name="Cartel card 3"/>
          <p:cNvSpPr/>
          <p:nvPr/>
        </p:nvSpPr>
        <p:spPr>
          <a:xfrm>
            <a:off x="8119872" y="1234440"/>
            <a:ext cx="3703320" cy="3977640"/>
          </a:xfrm>
          <a:prstGeom prst="roundRect">
            <a:avLst>
              <a:gd name="adj" fmla="val 5000"/>
            </a:avLst>
          </a:prstGeom>
          <a:solidFill>
            <a:srgbClr val="FFF6F0"/>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artel card 3 header"/>
          <p:cNvSpPr/>
          <p:nvPr/>
        </p:nvSpPr>
        <p:spPr>
          <a:xfrm>
            <a:off x="8119872" y="1234440"/>
            <a:ext cx="3703320" cy="502920"/>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artel card 3 header text"/>
          <p:cNvSpPr/>
          <p:nvPr/>
        </p:nvSpPr>
        <p:spPr>
          <a:xfrm>
            <a:off x="8119872" y="1234440"/>
            <a:ext cx="370332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KEEPS OUTSIDERS OUT</a:t>
            </a:r>
          </a:p>
        </p:txBody>
      </p:sp>
      <p:sp>
        <p:nvSpPr>
          <p:cNvPr id="17" name="Cartel card 3 text"/>
          <p:cNvSpPr/>
          <p:nvPr/>
        </p:nvSpPr>
        <p:spPr>
          <a:xfrm>
            <a:off x="8293608" y="1920240"/>
            <a:ext cx="3355848" cy="3182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2000" b="1" i="0">
                <a:solidFill>
                  <a:srgbClr val="321744"/>
                </a:solidFill>
                <a:latin typeface="Calibri"/>
                <a:cs typeface="Calibri"/>
              </a:rPr>
              <a:t>Rules that favor insiders</a:t>
            </a:r>
          </a:p>
          <a:p>
            <a:pPr marL="171450" indent="-171450" algn="l">
              <a:spcAft>
                <a:spcPts val="1300"/>
              </a:spcAft>
              <a:buFont typeface="Arial"/>
              <a:buChar char="•"/>
            </a:pPr>
            <a:r>
              <a:rPr sz="1750" b="0" i="0">
                <a:solidFill>
                  <a:srgbClr val="321744"/>
                </a:solidFill>
                <a:latin typeface="Calibri"/>
                <a:cs typeface="Calibri"/>
              </a:rPr>
              <a:t>Funding rules, ballot access and media access that “disadvantage challengers from outside”</a:t>
            </a:r>
          </a:p>
          <a:p>
            <a:pPr marL="171450" indent="-171450" algn="l">
              <a:spcAft>
                <a:spcPts val="1300"/>
              </a:spcAft>
              <a:buFont typeface="Arial"/>
              <a:buChar char="•"/>
            </a:pPr>
            <a:r>
              <a:rPr sz="1750" b="0" i="0">
                <a:solidFill>
                  <a:srgbClr val="321744"/>
                </a:solidFill>
                <a:latin typeface="Calibri"/>
                <a:cs typeface="Calibri"/>
              </a:rPr>
              <a:t>Party activists, who want sharper differences, lose influence</a:t>
            </a:r>
          </a:p>
        </p:txBody>
      </p:sp>
      <p:sp>
        <p:nvSpPr>
          <p:cNvPr id="18" name="Footnote"/>
          <p:cNvSpPr/>
          <p:nvPr/>
        </p:nvSpPr>
        <p:spPr>
          <a:xfrm>
            <a:off x="457200" y="5394960"/>
            <a:ext cx="11274552"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400" b="0" i="1">
                <a:solidFill>
                  <a:srgbClr val="5C5C5C"/>
                </a:solidFill>
                <a:latin typeface="Calibri"/>
                <a:cs typeface="Calibri"/>
              </a:rPr>
              <a:t>No conspiracy is required. Katz and Mair: it is “possible to produce the effects of collusion without any illicit communication.”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Cartel or Not?</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dirty="0">
                <a:solidFill>
                  <a:srgbClr val="321744"/>
                </a:solidFill>
                <a:latin typeface="Calibri"/>
                <a:cs typeface="Calibri"/>
              </a:rPr>
              <a:t>Cartel or not? </a:t>
            </a:r>
          </a:p>
        </p:txBody>
      </p:sp>
      <p:sp>
        <p:nvSpPr>
          <p:cNvPr id="5" name="Case 1"/>
          <p:cNvSpPr/>
          <p:nvPr/>
        </p:nvSpPr>
        <p:spPr>
          <a:xfrm>
            <a:off x="457200" y="1188720"/>
            <a:ext cx="5550408" cy="2267712"/>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ase 1 header"/>
          <p:cNvSpPr/>
          <p:nvPr/>
        </p:nvSpPr>
        <p:spPr>
          <a:xfrm>
            <a:off x="457200" y="1188720"/>
            <a:ext cx="5550408" cy="384048"/>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se 1 header text"/>
          <p:cNvSpPr/>
          <p:nvPr/>
        </p:nvSpPr>
        <p:spPr>
          <a:xfrm>
            <a:off x="457200" y="1188720"/>
            <a:ext cx="5550408"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PARTY FUNDING, GERMANY</a:t>
            </a:r>
          </a:p>
        </p:txBody>
      </p:sp>
      <p:sp>
        <p:nvSpPr>
          <p:cNvPr id="8" name="Case 1 text"/>
          <p:cNvSpPr/>
          <p:nvPr/>
        </p:nvSpPr>
        <p:spPr>
          <a:xfrm>
            <a:off x="630936" y="1618488"/>
            <a:ext cx="5202936" cy="1728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l">
              <a:spcAft>
                <a:spcPts val="1000"/>
              </a:spcAft>
              <a:buNone/>
            </a:pPr>
            <a:r>
              <a:rPr sz="1600" b="0" i="0">
                <a:solidFill>
                  <a:srgbClr val="321744"/>
                </a:solidFill>
                <a:latin typeface="Calibri"/>
                <a:cs typeface="Calibri"/>
              </a:rPr>
              <a:t>The state pays the parties about €230 million a year, roughly a third of their income. In 2018 the two governing parties raised the cap by €25 million, in a bill passed in ten days.</a:t>
            </a:r>
          </a:p>
        </p:txBody>
      </p:sp>
      <p:sp>
        <p:nvSpPr>
          <p:cNvPr id="9" name="Verdict 1"/>
          <p:cNvSpPr/>
          <p:nvPr/>
        </p:nvSpPr>
        <p:spPr>
          <a:xfrm>
            <a:off x="594360" y="2670048"/>
            <a:ext cx="5276088" cy="694944"/>
          </a:xfrm>
          <a:prstGeom prst="roundRect">
            <a:avLst>
              <a:gd name="adj" fmla="val 15000"/>
            </a:avLst>
          </a:prstGeom>
          <a:solidFill>
            <a:srgbClr val="F9C3A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bIns="27432" rtlCol="0" anchor="ctr">
            <a:normAutofit/>
          </a:bodyPr>
          <a:lstStyle/>
          <a:p>
            <a:pPr marL="0" indent="0" algn="l">
              <a:buNone/>
            </a:pPr>
            <a:r>
              <a:rPr sz="1450" b="1" i="0">
                <a:solidFill>
                  <a:srgbClr val="321744"/>
                </a:solidFill>
                <a:latin typeface="Calibri"/>
                <a:cs typeface="Calibri"/>
              </a:rPr>
              <a:t>Cartel. But the Constitutional Court struck the raise down in 2023, and it makes the state fund any party that wins 0.5%.</a:t>
            </a:r>
          </a:p>
        </p:txBody>
      </p:sp>
      <p:sp>
        <p:nvSpPr>
          <p:cNvPr id="10" name="Case 2"/>
          <p:cNvSpPr/>
          <p:nvPr/>
        </p:nvSpPr>
        <p:spPr>
          <a:xfrm>
            <a:off x="6190488" y="1188720"/>
            <a:ext cx="5550408" cy="2267712"/>
          </a:xfrm>
          <a:prstGeom prst="roundRect">
            <a:avLst>
              <a:gd name="adj" fmla="val 5000"/>
            </a:avLst>
          </a:prstGeom>
          <a:solidFill>
            <a:srgbClr val="FFF6F0"/>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ase 2 header"/>
          <p:cNvSpPr/>
          <p:nvPr/>
        </p:nvSpPr>
        <p:spPr>
          <a:xfrm>
            <a:off x="6190488" y="1188720"/>
            <a:ext cx="5550408" cy="384048"/>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ase 2 header text"/>
          <p:cNvSpPr/>
          <p:nvPr/>
        </p:nvSpPr>
        <p:spPr>
          <a:xfrm>
            <a:off x="6190488" y="1188720"/>
            <a:ext cx="5550408"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GRAND COALITION</a:t>
            </a:r>
          </a:p>
        </p:txBody>
      </p:sp>
      <p:sp>
        <p:nvSpPr>
          <p:cNvPr id="13" name="Case 2 text"/>
          <p:cNvSpPr/>
          <p:nvPr/>
        </p:nvSpPr>
        <p:spPr>
          <a:xfrm>
            <a:off x="6364224" y="1618488"/>
            <a:ext cx="5202936" cy="1728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l">
              <a:spcAft>
                <a:spcPts val="1000"/>
              </a:spcAft>
              <a:buNone/>
            </a:pPr>
            <a:r>
              <a:rPr sz="1600" b="0" i="0">
                <a:solidFill>
                  <a:srgbClr val="321744"/>
                </a:solidFill>
                <a:latin typeface="Calibri"/>
                <a:cs typeface="Calibri"/>
              </a:rPr>
              <a:t>Germany’s two big parties, the CDU/CSU and the SPD, campaign against each other. They have governed together for 13 of the last 21 years, and they do today.</a:t>
            </a:r>
          </a:p>
        </p:txBody>
      </p:sp>
      <p:sp>
        <p:nvSpPr>
          <p:cNvPr id="14" name="Verdict 2"/>
          <p:cNvSpPr/>
          <p:nvPr/>
        </p:nvSpPr>
        <p:spPr>
          <a:xfrm>
            <a:off x="6327648" y="2670048"/>
            <a:ext cx="5276088" cy="694944"/>
          </a:xfrm>
          <a:prstGeom prst="roundRect">
            <a:avLst>
              <a:gd name="adj" fmla="val 15000"/>
            </a:avLst>
          </a:prstGeom>
          <a:solidFill>
            <a:srgbClr val="F9C3A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bIns="27432" rtlCol="0" anchor="ctr">
            <a:normAutofit/>
          </a:bodyPr>
          <a:lstStyle/>
          <a:p>
            <a:pPr marL="0" indent="0" algn="l">
              <a:buNone/>
            </a:pPr>
            <a:r>
              <a:rPr sz="1450" b="1" i="0">
                <a:solidFill>
                  <a:srgbClr val="321744"/>
                </a:solidFill>
                <a:latin typeface="Calibri"/>
                <a:cs typeface="Calibri"/>
              </a:rPr>
              <a:t>It looks like one. But they won 69% together in 2005 and 45% in 2025: often no other majority exists.</a:t>
            </a:r>
          </a:p>
        </p:txBody>
      </p:sp>
      <p:sp>
        <p:nvSpPr>
          <p:cNvPr id="15" name="Case 3"/>
          <p:cNvSpPr/>
          <p:nvPr/>
        </p:nvSpPr>
        <p:spPr>
          <a:xfrm>
            <a:off x="457200" y="3566160"/>
            <a:ext cx="5550408" cy="2267712"/>
          </a:xfrm>
          <a:prstGeom prst="roundRect">
            <a:avLst>
              <a:gd name="adj" fmla="val 5000"/>
            </a:avLst>
          </a:prstGeom>
          <a:solidFill>
            <a:srgbClr val="FFF6F0"/>
          </a:solidFill>
          <a:ln w="31750">
            <a:solidFill>
              <a:srgbClr val="3217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ase 3 header"/>
          <p:cNvSpPr/>
          <p:nvPr/>
        </p:nvSpPr>
        <p:spPr>
          <a:xfrm>
            <a:off x="457200" y="3566160"/>
            <a:ext cx="5550408" cy="384048"/>
          </a:xfrm>
          <a:prstGeom prst="roundRect">
            <a:avLst>
              <a:gd name="adj" fmla="val 18000"/>
            </a:avLst>
          </a:prstGeom>
          <a:solidFill>
            <a:srgbClr val="321744"/>
          </a:solidFill>
          <a:ln w="31750">
            <a:solidFill>
              <a:srgbClr val="3217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ase 3 header text"/>
          <p:cNvSpPr/>
          <p:nvPr/>
        </p:nvSpPr>
        <p:spPr>
          <a:xfrm>
            <a:off x="457200" y="3566160"/>
            <a:ext cx="5550408"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EUROPEAN CENTRAL BANK</a:t>
            </a:r>
          </a:p>
        </p:txBody>
      </p:sp>
      <p:sp>
        <p:nvSpPr>
          <p:cNvPr id="18" name="Case 3 text"/>
          <p:cNvSpPr/>
          <p:nvPr/>
        </p:nvSpPr>
        <p:spPr>
          <a:xfrm>
            <a:off x="630936" y="3995928"/>
            <a:ext cx="5202936" cy="1728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l">
              <a:spcAft>
                <a:spcPts val="1000"/>
              </a:spcAft>
              <a:buNone/>
            </a:pPr>
            <a:r>
              <a:rPr sz="1600" b="0" i="0">
                <a:solidFill>
                  <a:srgbClr val="321744"/>
                </a:solidFill>
                <a:latin typeface="Calibri"/>
                <a:cs typeface="Calibri"/>
              </a:rPr>
              <a:t>Interest rates for 21 countries are set in Frankfurt by a central bank that no government may instruct and no election can change.</a:t>
            </a:r>
          </a:p>
        </p:txBody>
      </p:sp>
      <p:sp>
        <p:nvSpPr>
          <p:cNvPr id="19" name="Verdict 3"/>
          <p:cNvSpPr/>
          <p:nvPr/>
        </p:nvSpPr>
        <p:spPr>
          <a:xfrm>
            <a:off x="594360" y="5047488"/>
            <a:ext cx="5276088" cy="694944"/>
          </a:xfrm>
          <a:prstGeom prst="roundRect">
            <a:avLst>
              <a:gd name="adj" fmla="val 15000"/>
            </a:avLst>
          </a:prstGeom>
          <a:solidFill>
            <a:srgbClr val="F9C3A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bIns="27432" rtlCol="0" anchor="ctr">
            <a:normAutofit/>
          </a:bodyPr>
          <a:lstStyle/>
          <a:p>
            <a:pPr marL="0" indent="0" algn="l">
              <a:buNone/>
            </a:pPr>
            <a:r>
              <a:rPr sz="1450" b="1" i="0">
                <a:solidFill>
                  <a:srgbClr val="321744"/>
                </a:solidFill>
                <a:latin typeface="Calibri"/>
                <a:cs typeface="Calibri"/>
              </a:rPr>
              <a:t>The reading’s own example of an issue taken out of party competition. Defenders say independence is the purpose.</a:t>
            </a:r>
          </a:p>
        </p:txBody>
      </p:sp>
      <p:sp>
        <p:nvSpPr>
          <p:cNvPr id="20" name="Case 4"/>
          <p:cNvSpPr/>
          <p:nvPr/>
        </p:nvSpPr>
        <p:spPr>
          <a:xfrm>
            <a:off x="6190488" y="3566160"/>
            <a:ext cx="5550408" cy="2267712"/>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ase 4 header"/>
          <p:cNvSpPr/>
          <p:nvPr/>
        </p:nvSpPr>
        <p:spPr>
          <a:xfrm>
            <a:off x="6190488" y="3566160"/>
            <a:ext cx="5550408" cy="384048"/>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ase 4 header text"/>
          <p:cNvSpPr/>
          <p:nvPr/>
        </p:nvSpPr>
        <p:spPr>
          <a:xfrm>
            <a:off x="6190488" y="3566160"/>
            <a:ext cx="5550408"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FIREWALL</a:t>
            </a:r>
          </a:p>
        </p:txBody>
      </p:sp>
      <p:sp>
        <p:nvSpPr>
          <p:cNvPr id="23" name="Case 4 text"/>
          <p:cNvSpPr/>
          <p:nvPr/>
        </p:nvSpPr>
        <p:spPr>
          <a:xfrm>
            <a:off x="6364224" y="3995928"/>
            <a:ext cx="5202936" cy="1728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l">
              <a:spcAft>
                <a:spcPts val="1000"/>
              </a:spcAft>
              <a:buNone/>
            </a:pPr>
            <a:r>
              <a:rPr sz="1600" b="0" i="0">
                <a:solidFill>
                  <a:srgbClr val="321744"/>
                </a:solidFill>
                <a:latin typeface="Calibri"/>
                <a:cs typeface="Calibri"/>
              </a:rPr>
              <a:t>Every other party in the Bundestag refuses to govern with the AfD, which won 20.8% in 2025 and leads the polls today.</a:t>
            </a:r>
          </a:p>
        </p:txBody>
      </p:sp>
      <p:sp>
        <p:nvSpPr>
          <p:cNvPr id="24" name="Verdict 4"/>
          <p:cNvSpPr/>
          <p:nvPr/>
        </p:nvSpPr>
        <p:spPr>
          <a:xfrm>
            <a:off x="6327648" y="5047488"/>
            <a:ext cx="5276088" cy="694944"/>
          </a:xfrm>
          <a:prstGeom prst="roundRect">
            <a:avLst>
              <a:gd name="adj" fmla="val 15000"/>
            </a:avLst>
          </a:prstGeom>
          <a:solidFill>
            <a:srgbClr val="F9C3A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27432" bIns="27432" rtlCol="0" anchor="ctr">
            <a:normAutofit/>
          </a:bodyPr>
          <a:lstStyle/>
          <a:p>
            <a:pPr marL="0" indent="0" algn="l">
              <a:buNone/>
            </a:pPr>
            <a:r>
              <a:rPr sz="1450" b="1" i="0">
                <a:solidFill>
                  <a:srgbClr val="321744"/>
                </a:solidFill>
                <a:latin typeface="Calibri"/>
                <a:cs typeface="Calibri"/>
              </a:rPr>
              <a:t>The AfD’s 2016 program calls the political class “a political cartel.” The other parties call the firewall a defense of democracy.</a:t>
            </a:r>
          </a:p>
        </p:txBody>
      </p:sp>
      <p:sp>
        <p:nvSpPr>
          <p:cNvPr id="25" name="Footnote"/>
          <p:cNvSpPr/>
          <p:nvPr/>
        </p:nvSpPr>
        <p:spPr>
          <a:xfrm>
            <a:off x="457200" y="5943600"/>
            <a:ext cx="1127455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50" b="0" i="1">
                <a:solidFill>
                  <a:srgbClr val="5C5C5C"/>
                </a:solidFill>
                <a:latin typeface="Calibri"/>
                <a:cs typeface="Calibri"/>
              </a:rPr>
              <a:t>Katz and Mair’s test: do the parties in office use the state to protect themselves from competition?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9" grpId="0" animBg="1"/>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505" y="384048"/>
            <a:ext cx="10058400" cy="1188720"/>
          </a:xfrm>
        </p:spPr>
        <p:txBody>
          <a:bodyPr/>
          <a:lstStyle/>
          <a:p>
            <a:r>
              <a:t>The Backlash</a:t>
            </a:r>
          </a:p>
        </p:txBody>
      </p:sp>
      <p:sp>
        <p:nvSpPr>
          <p:cNvPr id="3" name="Content Placeholder 2"/>
          <p:cNvSpPr>
            <a:spLocks noGrp="1"/>
          </p:cNvSpPr>
          <p:nvPr>
            <p:ph idx="1"/>
          </p:nvPr>
        </p:nvSpPr>
        <p:spPr>
          <a:xfrm>
            <a:off x="5989320" y="1691640"/>
            <a:ext cx="5806440" cy="4023360"/>
          </a:xfrm>
        </p:spPr>
        <p:txBody>
          <a:bodyPr/>
          <a:lstStyle/>
          <a:p>
            <a:r>
              <a:rPr sz="2000"/>
              <a:t>If the big parties look alike, where do voters who want change go?</a:t>
            </a:r>
          </a:p>
          <a:p>
            <a:r>
              <a:rPr sz="2000"/>
              <a:t>Cartelization “has clearly contributed to the rise of populist anti-party-system parties”</a:t>
            </a:r>
          </a:p>
          <a:p>
            <a:r>
              <a:rPr sz="2000"/>
              <a:t>The big parties are “closer to one another … than any one of them is to the voters”</a:t>
            </a:r>
          </a:p>
          <a:p>
            <a:r>
              <a:rPr sz="2000"/>
              <a:t>“The mass party is dead.”</a:t>
            </a:r>
          </a:p>
          <a:p>
            <a:r>
              <a:rPr sz="2000"/>
              <a:t>Critics: collusion, or parties chasing the same voters?</a:t>
            </a:r>
          </a:p>
        </p:txBody>
      </p:sp>
      <p:pic>
        <p:nvPicPr>
          <p:cNvPr id="4" name="Photo (Intro Slides.pptx, slide 7, picture 3)" descr="image.jpg"/>
          <p:cNvPicPr>
            <a:picLocks noChangeAspect="1"/>
          </p:cNvPicPr>
          <p:nvPr/>
        </p:nvPicPr>
        <p:blipFill>
          <a:blip r:embed="rId2"/>
          <a:srcRect/>
          <a:stretch>
            <a:fillRect/>
          </a:stretch>
        </p:blipFill>
        <p:spPr>
          <a:xfrm>
            <a:off x="676387" y="1737360"/>
            <a:ext cx="4819426" cy="3520440"/>
          </a:xfrm>
          <a:prstGeom prst="rect">
            <a:avLst/>
          </a:prstGeom>
        </p:spPr>
      </p:pic>
      <p:sp>
        <p:nvSpPr>
          <p:cNvPr id="5" name="Photo caption"/>
          <p:cNvSpPr/>
          <p:nvPr/>
        </p:nvSpPr>
        <p:spPr>
          <a:xfrm>
            <a:off x="457200" y="5312664"/>
            <a:ext cx="525780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t">
            <a:normAutofit/>
          </a:bodyPr>
          <a:lstStyle/>
          <a:p>
            <a:pPr marL="0" indent="0" algn="ctr">
              <a:buNone/>
            </a:pPr>
            <a:r>
              <a:rPr sz="1150" b="0" i="1">
                <a:solidFill>
                  <a:srgbClr val="321744"/>
                </a:solidFill>
                <a:latin typeface="Calibri"/>
                <a:cs typeface="Calibri"/>
              </a:rPr>
              <a:t>Nigel Farage, leader of Britain’s Reform UK</a:t>
            </a:r>
          </a:p>
        </p:txBody>
      </p:sp>
      <p:sp>
        <p:nvSpPr>
          <p:cNvPr id="6" name="Reading tag"/>
          <p:cNvSpPr txBox="1"/>
          <p:nvPr/>
        </p:nvSpPr>
        <p:spPr>
          <a:xfrm>
            <a:off x="7635240" y="109728"/>
            <a:ext cx="4206240" cy="292608"/>
          </a:xfrm>
          <a:prstGeom prst="rect">
            <a:avLst/>
          </a:prstGeom>
          <a:noFill/>
        </p:spPr>
        <p:txBody>
          <a:bodyPr wrap="square">
            <a:spAutoFit/>
          </a:bodyPr>
          <a:lstStyle/>
          <a:p>
            <a:pPr algn="r"/>
            <a:r>
              <a:rPr sz="1200" b="0" i="1">
                <a:solidFill>
                  <a:srgbClr val="FFFFFF"/>
                </a:solidFill>
                <a:latin typeface="Calibri"/>
              </a:rPr>
              <a:t>From today’s reading: Katz and Mair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Guess the Number: France</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r>
              <a:rPr sz="1250" b="1" i="0">
                <a:solidFill>
                  <a:srgbClr val="F3672A"/>
                </a:solidFill>
                <a:latin typeface="Calibri"/>
                <a:cs typeface="Calibri"/>
              </a:rPr>
              <a:t>GUESS THE NUMBER  ·  3 OF 3</a:t>
            </a: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fontScale="85000" lnSpcReduction="20000"/>
          </a:bodyPr>
          <a:lstStyle/>
          <a:p>
            <a:pPr marL="0" indent="0" algn="l">
              <a:buNone/>
            </a:pPr>
            <a:r>
              <a:rPr sz="2800" b="1" i="0">
                <a:solidFill>
                  <a:srgbClr val="321744"/>
                </a:solidFill>
                <a:latin typeface="Calibri"/>
                <a:cs typeface="Calibri"/>
              </a:rPr>
              <a:t>France, 2012: the Socialist and the mainstream-right candidates for president won 55.8% between them. And in 2022?</a:t>
            </a:r>
          </a:p>
        </p:txBody>
      </p:sp>
      <p:sp>
        <p:nvSpPr>
          <p:cNvPr id="6" name="Option A"/>
          <p:cNvSpPr/>
          <p:nvPr/>
        </p:nvSpPr>
        <p:spPr>
          <a:xfrm>
            <a:off x="502920" y="146304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ption A text"/>
          <p:cNvSpPr/>
          <p:nvPr/>
        </p:nvSpPr>
        <p:spPr>
          <a:xfrm>
            <a:off x="502920" y="14630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A</a:t>
            </a:r>
          </a:p>
          <a:p>
            <a:pPr marL="0" indent="0" algn="ctr">
              <a:buNone/>
            </a:pPr>
            <a:r>
              <a:rPr sz="2800" b="1" i="0">
                <a:solidFill>
                  <a:srgbClr val="321744"/>
                </a:solidFill>
                <a:latin typeface="Calibri"/>
                <a:cs typeface="Calibri"/>
              </a:rPr>
              <a:t>41%</a:t>
            </a:r>
          </a:p>
        </p:txBody>
      </p:sp>
      <p:sp>
        <p:nvSpPr>
          <p:cNvPr id="8" name="Option B"/>
          <p:cNvSpPr/>
          <p:nvPr/>
        </p:nvSpPr>
        <p:spPr>
          <a:xfrm>
            <a:off x="3369564" y="146304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ption B text"/>
          <p:cNvSpPr/>
          <p:nvPr/>
        </p:nvSpPr>
        <p:spPr>
          <a:xfrm>
            <a:off x="3369564" y="14630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B</a:t>
            </a:r>
          </a:p>
          <a:p>
            <a:pPr marL="0" indent="0" algn="ctr">
              <a:buNone/>
            </a:pPr>
            <a:r>
              <a:rPr sz="2800" b="1" i="0">
                <a:solidFill>
                  <a:srgbClr val="321744"/>
                </a:solidFill>
                <a:latin typeface="Calibri"/>
                <a:cs typeface="Calibri"/>
              </a:rPr>
              <a:t>26%</a:t>
            </a:r>
          </a:p>
        </p:txBody>
      </p:sp>
      <p:sp>
        <p:nvSpPr>
          <p:cNvPr id="10" name="Option C"/>
          <p:cNvSpPr/>
          <p:nvPr/>
        </p:nvSpPr>
        <p:spPr>
          <a:xfrm>
            <a:off x="6236208" y="146304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ption C text"/>
          <p:cNvSpPr/>
          <p:nvPr/>
        </p:nvSpPr>
        <p:spPr>
          <a:xfrm>
            <a:off x="6236208" y="14630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C</a:t>
            </a:r>
          </a:p>
          <a:p>
            <a:pPr marL="0" indent="0" algn="ctr">
              <a:buNone/>
            </a:pPr>
            <a:r>
              <a:rPr sz="2800" b="1" i="0">
                <a:solidFill>
                  <a:srgbClr val="321744"/>
                </a:solidFill>
                <a:latin typeface="Calibri"/>
                <a:cs typeface="Calibri"/>
              </a:rPr>
              <a:t>16%</a:t>
            </a:r>
          </a:p>
        </p:txBody>
      </p:sp>
      <p:sp>
        <p:nvSpPr>
          <p:cNvPr id="12" name="Option D"/>
          <p:cNvSpPr/>
          <p:nvPr/>
        </p:nvSpPr>
        <p:spPr>
          <a:xfrm>
            <a:off x="9102852" y="146304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ption D text"/>
          <p:cNvSpPr/>
          <p:nvPr/>
        </p:nvSpPr>
        <p:spPr>
          <a:xfrm>
            <a:off x="9102852" y="14630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D</a:t>
            </a:r>
          </a:p>
          <a:p>
            <a:pPr marL="0" indent="0" algn="ctr">
              <a:buNone/>
            </a:pPr>
            <a:r>
              <a:rPr sz="2800" b="1" i="0">
                <a:solidFill>
                  <a:srgbClr val="321744"/>
                </a:solidFill>
                <a:latin typeface="Calibri"/>
                <a:cs typeface="Calibri"/>
              </a:rPr>
              <a:t>6.5%</a:t>
            </a:r>
          </a:p>
        </p:txBody>
      </p:sp>
      <p:sp>
        <p:nvSpPr>
          <p:cNvPr id="14" name="Answer highlight"/>
          <p:cNvSpPr/>
          <p:nvPr/>
        </p:nvSpPr>
        <p:spPr>
          <a:xfrm>
            <a:off x="9102852" y="1463040"/>
            <a:ext cx="2583180" cy="914400"/>
          </a:xfrm>
          <a:prstGeom prst="roundRect">
            <a:avLst>
              <a:gd name="adj" fmla="val 12000"/>
            </a:avLst>
          </a:prstGeom>
          <a:solidFill>
            <a:srgbClr val="F3672A"/>
          </a:solidFill>
          <a:ln w="1270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nswer highlight text"/>
          <p:cNvSpPr/>
          <p:nvPr/>
        </p:nvSpPr>
        <p:spPr>
          <a:xfrm>
            <a:off x="9102852" y="14630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FFFFFF"/>
                </a:solidFill>
                <a:latin typeface="Calibri"/>
                <a:cs typeface="Calibri"/>
              </a:rPr>
              <a:t>D</a:t>
            </a:r>
          </a:p>
          <a:p>
            <a:pPr marL="0" indent="0" algn="ctr">
              <a:buNone/>
            </a:pPr>
            <a:r>
              <a:rPr sz="2800" b="1" i="0">
                <a:solidFill>
                  <a:srgbClr val="FFFFFF"/>
                </a:solidFill>
                <a:latin typeface="Calibri"/>
                <a:cs typeface="Calibri"/>
              </a:rPr>
              <a:t>6.5%</a:t>
            </a:r>
          </a:p>
        </p:txBody>
      </p:sp>
      <p:sp>
        <p:nvSpPr>
          <p:cNvPr id="16" name="2012 bar"/>
          <p:cNvSpPr/>
          <p:nvPr/>
        </p:nvSpPr>
        <p:spPr>
          <a:xfrm>
            <a:off x="2011680" y="2880360"/>
            <a:ext cx="1371600" cy="2148840"/>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2012 value"/>
          <p:cNvSpPr/>
          <p:nvPr/>
        </p:nvSpPr>
        <p:spPr>
          <a:xfrm>
            <a:off x="1645920" y="2459736"/>
            <a:ext cx="210312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2200" b="1" i="0">
                <a:solidFill>
                  <a:srgbClr val="321744"/>
                </a:solidFill>
                <a:latin typeface="Calibri"/>
                <a:cs typeface="Calibri"/>
              </a:rPr>
              <a:t>55.8%</a:t>
            </a:r>
          </a:p>
        </p:txBody>
      </p:sp>
      <p:sp>
        <p:nvSpPr>
          <p:cNvPr id="18" name="2012 label"/>
          <p:cNvSpPr/>
          <p:nvPr/>
        </p:nvSpPr>
        <p:spPr>
          <a:xfrm>
            <a:off x="1325880" y="5074920"/>
            <a:ext cx="27432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600" b="1" i="0">
                <a:solidFill>
                  <a:srgbClr val="321744"/>
                </a:solidFill>
                <a:latin typeface="Calibri"/>
                <a:cs typeface="Calibri"/>
              </a:rPr>
              <a:t>2012</a:t>
            </a:r>
          </a:p>
          <a:p>
            <a:pPr marL="0" indent="0" algn="ctr">
              <a:buNone/>
            </a:pPr>
            <a:r>
              <a:rPr sz="1250" b="0" i="0">
                <a:solidFill>
                  <a:srgbClr val="5C5C5C"/>
                </a:solidFill>
                <a:latin typeface="Calibri"/>
                <a:cs typeface="Calibri"/>
              </a:rPr>
              <a:t>Socialist 28.6 + right 27.2</a:t>
            </a:r>
          </a:p>
        </p:txBody>
      </p:sp>
      <p:sp>
        <p:nvSpPr>
          <p:cNvPr id="19" name="2017 bar"/>
          <p:cNvSpPr/>
          <p:nvPr/>
        </p:nvSpPr>
        <p:spPr>
          <a:xfrm>
            <a:off x="5029200" y="4012545"/>
            <a:ext cx="1371600" cy="1016655"/>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2017 value"/>
          <p:cNvSpPr/>
          <p:nvPr/>
        </p:nvSpPr>
        <p:spPr>
          <a:xfrm>
            <a:off x="4663440" y="3591921"/>
            <a:ext cx="210312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2200" b="1" i="0">
                <a:solidFill>
                  <a:srgbClr val="321744"/>
                </a:solidFill>
                <a:latin typeface="Calibri"/>
                <a:cs typeface="Calibri"/>
              </a:rPr>
              <a:t>26.4%</a:t>
            </a:r>
          </a:p>
        </p:txBody>
      </p:sp>
      <p:sp>
        <p:nvSpPr>
          <p:cNvPr id="21" name="2017 label"/>
          <p:cNvSpPr/>
          <p:nvPr/>
        </p:nvSpPr>
        <p:spPr>
          <a:xfrm>
            <a:off x="4343400" y="5074920"/>
            <a:ext cx="27432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600" b="1" i="0">
                <a:solidFill>
                  <a:srgbClr val="321744"/>
                </a:solidFill>
                <a:latin typeface="Calibri"/>
                <a:cs typeface="Calibri"/>
              </a:rPr>
              <a:t>2017</a:t>
            </a:r>
          </a:p>
          <a:p>
            <a:pPr marL="0" indent="0" algn="ctr">
              <a:buNone/>
            </a:pPr>
            <a:r>
              <a:rPr sz="1250" b="0" i="0">
                <a:solidFill>
                  <a:srgbClr val="5C5C5C"/>
                </a:solidFill>
                <a:latin typeface="Calibri"/>
                <a:cs typeface="Calibri"/>
              </a:rPr>
              <a:t>Right 20.0 + Socialist 6.4</a:t>
            </a:r>
          </a:p>
        </p:txBody>
      </p:sp>
      <p:sp>
        <p:nvSpPr>
          <p:cNvPr id="22" name="2022 bar"/>
          <p:cNvSpPr/>
          <p:nvPr/>
        </p:nvSpPr>
        <p:spPr>
          <a:xfrm>
            <a:off x="8046720" y="4778887"/>
            <a:ext cx="1371600" cy="250313"/>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2022 value"/>
          <p:cNvSpPr/>
          <p:nvPr/>
        </p:nvSpPr>
        <p:spPr>
          <a:xfrm>
            <a:off x="7680960" y="4358263"/>
            <a:ext cx="210312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2200" b="1" i="0">
                <a:solidFill>
                  <a:srgbClr val="321744"/>
                </a:solidFill>
                <a:latin typeface="Calibri"/>
                <a:cs typeface="Calibri"/>
              </a:rPr>
              <a:t>6.5%</a:t>
            </a:r>
          </a:p>
        </p:txBody>
      </p:sp>
      <p:sp>
        <p:nvSpPr>
          <p:cNvPr id="24" name="2022 label"/>
          <p:cNvSpPr/>
          <p:nvPr/>
        </p:nvSpPr>
        <p:spPr>
          <a:xfrm>
            <a:off x="7360920" y="5074920"/>
            <a:ext cx="27432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600" b="1" i="0">
                <a:solidFill>
                  <a:srgbClr val="321744"/>
                </a:solidFill>
                <a:latin typeface="Calibri"/>
                <a:cs typeface="Calibri"/>
              </a:rPr>
              <a:t>2022</a:t>
            </a:r>
          </a:p>
          <a:p>
            <a:pPr marL="0" indent="0" algn="ctr">
              <a:buNone/>
            </a:pPr>
            <a:r>
              <a:rPr sz="1250" b="0" i="0">
                <a:solidFill>
                  <a:srgbClr val="5C5C5C"/>
                </a:solidFill>
                <a:latin typeface="Calibri"/>
                <a:cs typeface="Calibri"/>
              </a:rPr>
              <a:t>Right 4.8 + Socialist 1.8</a:t>
            </a:r>
          </a:p>
        </p:txBody>
      </p:sp>
      <p:cxnSp>
        <p:nvCxnSpPr>
          <p:cNvPr id="25" name="Baseline"/>
          <p:cNvCxnSpPr/>
          <p:nvPr/>
        </p:nvCxnSpPr>
        <p:spPr>
          <a:xfrm>
            <a:off x="1463040" y="5029200"/>
            <a:ext cx="9235440" cy="0"/>
          </a:xfrm>
          <a:prstGeom prst="line">
            <a:avLst/>
          </a:prstGeom>
          <a:ln w="19050">
            <a:solidFill>
              <a:srgbClr val="321744"/>
            </a:solidFill>
          </a:ln>
        </p:spPr>
        <p:style>
          <a:lnRef idx="2">
            <a:schemeClr val="accent1"/>
          </a:lnRef>
          <a:fillRef idx="0">
            <a:schemeClr val="accent1"/>
          </a:fillRef>
          <a:effectRef idx="1">
            <a:schemeClr val="accent1"/>
          </a:effectRef>
          <a:fontRef idx="minor">
            <a:schemeClr val="tx1"/>
          </a:fontRef>
        </p:style>
      </p:cxnSp>
      <p:sp>
        <p:nvSpPr>
          <p:cNvPr id="26" name="Footnote"/>
          <p:cNvSpPr/>
          <p:nvPr/>
        </p:nvSpPr>
        <p:spPr>
          <a:xfrm>
            <a:off x="457200" y="5760720"/>
            <a:ext cx="11274552"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00" b="0" i="1">
                <a:solidFill>
                  <a:srgbClr val="5C5C5C"/>
                </a:solidFill>
                <a:latin typeface="Calibri"/>
                <a:cs typeface="Calibri"/>
              </a:rPr>
              <a:t>First round. The top three in 2022: Emmanuel Macron, the president (28%); Marine Le Pen of the National Rally (23%); Jean-Luc Mélenchon of France Unbowed (22%). None came from the two old parties.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Big Parties, Then and Now</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The big parties’ combined share of the vote, then and now</a:t>
            </a:r>
          </a:p>
        </p:txBody>
      </p:sp>
      <p:sp>
        <p:nvSpPr>
          <p:cNvPr id="5" name="Britain 1951 bar"/>
          <p:cNvSpPr/>
          <p:nvPr/>
        </p:nvSpPr>
        <p:spPr>
          <a:xfrm>
            <a:off x="914400" y="1788201"/>
            <a:ext cx="914400" cy="2920959"/>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Britain 1951 value"/>
          <p:cNvSpPr/>
          <p:nvPr/>
        </p:nvSpPr>
        <p:spPr>
          <a:xfrm>
            <a:off x="822960" y="1422441"/>
            <a:ext cx="10972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800" b="1" i="0">
                <a:solidFill>
                  <a:srgbClr val="321744"/>
                </a:solidFill>
                <a:latin typeface="Calibri"/>
                <a:cs typeface="Calibri"/>
              </a:rPr>
              <a:t>96.8</a:t>
            </a:r>
          </a:p>
        </p:txBody>
      </p:sp>
      <p:sp>
        <p:nvSpPr>
          <p:cNvPr id="7" name="Britain 1951 year"/>
          <p:cNvSpPr/>
          <p:nvPr/>
        </p:nvSpPr>
        <p:spPr>
          <a:xfrm>
            <a:off x="822960" y="474573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0" i="0">
                <a:solidFill>
                  <a:srgbClr val="5C5C5C"/>
                </a:solidFill>
                <a:latin typeface="Calibri"/>
                <a:cs typeface="Calibri"/>
              </a:rPr>
              <a:t>1951</a:t>
            </a:r>
          </a:p>
        </p:txBody>
      </p:sp>
      <p:sp>
        <p:nvSpPr>
          <p:cNvPr id="8" name="Britain 2024 bar"/>
          <p:cNvSpPr/>
          <p:nvPr/>
        </p:nvSpPr>
        <p:spPr>
          <a:xfrm>
            <a:off x="1938528" y="2977104"/>
            <a:ext cx="914400" cy="1732056"/>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Britain 2024 value"/>
          <p:cNvSpPr/>
          <p:nvPr/>
        </p:nvSpPr>
        <p:spPr>
          <a:xfrm>
            <a:off x="1847088" y="2611344"/>
            <a:ext cx="10972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800" b="1" i="0">
                <a:solidFill>
                  <a:srgbClr val="321744"/>
                </a:solidFill>
                <a:latin typeface="Calibri"/>
                <a:cs typeface="Calibri"/>
              </a:rPr>
              <a:t>57.4</a:t>
            </a:r>
          </a:p>
        </p:txBody>
      </p:sp>
      <p:sp>
        <p:nvSpPr>
          <p:cNvPr id="10" name="Britain 2024 year"/>
          <p:cNvSpPr/>
          <p:nvPr/>
        </p:nvSpPr>
        <p:spPr>
          <a:xfrm>
            <a:off x="1847088" y="474573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0" i="0">
                <a:solidFill>
                  <a:srgbClr val="5C5C5C"/>
                </a:solidFill>
                <a:latin typeface="Calibri"/>
                <a:cs typeface="Calibri"/>
              </a:rPr>
              <a:t>2024</a:t>
            </a:r>
          </a:p>
        </p:txBody>
      </p:sp>
      <p:sp>
        <p:nvSpPr>
          <p:cNvPr id="11" name="Britain label"/>
          <p:cNvSpPr/>
          <p:nvPr/>
        </p:nvSpPr>
        <p:spPr>
          <a:xfrm>
            <a:off x="594360" y="5020056"/>
            <a:ext cx="2578608"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600" b="1" i="0">
                <a:solidFill>
                  <a:srgbClr val="321744"/>
                </a:solidFill>
                <a:latin typeface="Calibri"/>
                <a:cs typeface="Calibri"/>
              </a:rPr>
              <a:t>Britain</a:t>
            </a:r>
          </a:p>
          <a:p>
            <a:pPr marL="0" indent="0" algn="ctr">
              <a:buNone/>
            </a:pPr>
            <a:r>
              <a:rPr sz="1200" b="0" i="0">
                <a:solidFill>
                  <a:srgbClr val="5C5C5C"/>
                </a:solidFill>
                <a:latin typeface="Calibri"/>
                <a:cs typeface="Calibri"/>
              </a:rPr>
              <a:t>Conservatives + Labour</a:t>
            </a:r>
          </a:p>
        </p:txBody>
      </p:sp>
      <p:sp>
        <p:nvSpPr>
          <p:cNvPr id="12" name="Austria 1975 bar"/>
          <p:cNvSpPr/>
          <p:nvPr/>
        </p:nvSpPr>
        <p:spPr>
          <a:xfrm>
            <a:off x="3657600" y="1890796"/>
            <a:ext cx="914400" cy="2818364"/>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ustria 1975 value"/>
          <p:cNvSpPr/>
          <p:nvPr/>
        </p:nvSpPr>
        <p:spPr>
          <a:xfrm>
            <a:off x="3566160" y="1525036"/>
            <a:ext cx="10972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800" b="1" i="0">
                <a:solidFill>
                  <a:srgbClr val="321744"/>
                </a:solidFill>
                <a:latin typeface="Calibri"/>
                <a:cs typeface="Calibri"/>
              </a:rPr>
              <a:t>93.4</a:t>
            </a:r>
          </a:p>
        </p:txBody>
      </p:sp>
      <p:sp>
        <p:nvSpPr>
          <p:cNvPr id="14" name="Austria 1975 year"/>
          <p:cNvSpPr/>
          <p:nvPr/>
        </p:nvSpPr>
        <p:spPr>
          <a:xfrm>
            <a:off x="3566160" y="474573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0" i="0">
                <a:solidFill>
                  <a:srgbClr val="5C5C5C"/>
                </a:solidFill>
                <a:latin typeface="Calibri"/>
                <a:cs typeface="Calibri"/>
              </a:rPr>
              <a:t>1975</a:t>
            </a:r>
          </a:p>
        </p:txBody>
      </p:sp>
      <p:sp>
        <p:nvSpPr>
          <p:cNvPr id="15" name="Austria 2024 bar"/>
          <p:cNvSpPr/>
          <p:nvPr/>
        </p:nvSpPr>
        <p:spPr>
          <a:xfrm>
            <a:off x="4681728" y="3278856"/>
            <a:ext cx="914400" cy="1430304"/>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ustria 2024 value"/>
          <p:cNvSpPr/>
          <p:nvPr/>
        </p:nvSpPr>
        <p:spPr>
          <a:xfrm>
            <a:off x="4590288" y="2913096"/>
            <a:ext cx="10972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800" b="1" i="0">
                <a:solidFill>
                  <a:srgbClr val="321744"/>
                </a:solidFill>
                <a:latin typeface="Calibri"/>
                <a:cs typeface="Calibri"/>
              </a:rPr>
              <a:t>47.4</a:t>
            </a:r>
          </a:p>
        </p:txBody>
      </p:sp>
      <p:sp>
        <p:nvSpPr>
          <p:cNvPr id="17" name="Austria 2024 year"/>
          <p:cNvSpPr/>
          <p:nvPr/>
        </p:nvSpPr>
        <p:spPr>
          <a:xfrm>
            <a:off x="4590288" y="474573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0" i="0">
                <a:solidFill>
                  <a:srgbClr val="5C5C5C"/>
                </a:solidFill>
                <a:latin typeface="Calibri"/>
                <a:cs typeface="Calibri"/>
              </a:rPr>
              <a:t>2024</a:t>
            </a:r>
          </a:p>
        </p:txBody>
      </p:sp>
      <p:sp>
        <p:nvSpPr>
          <p:cNvPr id="18" name="Austria label"/>
          <p:cNvSpPr/>
          <p:nvPr/>
        </p:nvSpPr>
        <p:spPr>
          <a:xfrm>
            <a:off x="3337560" y="5020056"/>
            <a:ext cx="2578608"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600" b="1" i="0">
                <a:solidFill>
                  <a:srgbClr val="321744"/>
                </a:solidFill>
                <a:latin typeface="Calibri"/>
                <a:cs typeface="Calibri"/>
              </a:rPr>
              <a:t>Austria</a:t>
            </a:r>
          </a:p>
          <a:p>
            <a:pPr marL="0" indent="0" algn="ctr">
              <a:buNone/>
            </a:pPr>
            <a:r>
              <a:rPr sz="1200" b="0" i="0">
                <a:solidFill>
                  <a:srgbClr val="5C5C5C"/>
                </a:solidFill>
                <a:latin typeface="Calibri"/>
                <a:cs typeface="Calibri"/>
              </a:rPr>
              <a:t>People’s Party + Social Democrats</a:t>
            </a:r>
          </a:p>
        </p:txBody>
      </p:sp>
      <p:sp>
        <p:nvSpPr>
          <p:cNvPr id="19" name="Germany 1976 bar"/>
          <p:cNvSpPr/>
          <p:nvPr/>
        </p:nvSpPr>
        <p:spPr>
          <a:xfrm>
            <a:off x="6400800" y="1957182"/>
            <a:ext cx="914400" cy="2751978"/>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ermany 1976 value"/>
          <p:cNvSpPr/>
          <p:nvPr/>
        </p:nvSpPr>
        <p:spPr>
          <a:xfrm>
            <a:off x="6309360" y="1591422"/>
            <a:ext cx="10972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800" b="1" i="0">
                <a:solidFill>
                  <a:srgbClr val="321744"/>
                </a:solidFill>
                <a:latin typeface="Calibri"/>
                <a:cs typeface="Calibri"/>
              </a:rPr>
              <a:t>91.2</a:t>
            </a:r>
          </a:p>
        </p:txBody>
      </p:sp>
      <p:sp>
        <p:nvSpPr>
          <p:cNvPr id="21" name="Germany 1976 year"/>
          <p:cNvSpPr/>
          <p:nvPr/>
        </p:nvSpPr>
        <p:spPr>
          <a:xfrm>
            <a:off x="6309360" y="474573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0" i="0">
                <a:solidFill>
                  <a:srgbClr val="5C5C5C"/>
                </a:solidFill>
                <a:latin typeface="Calibri"/>
                <a:cs typeface="Calibri"/>
              </a:rPr>
              <a:t>1976</a:t>
            </a:r>
          </a:p>
        </p:txBody>
      </p:sp>
      <p:sp>
        <p:nvSpPr>
          <p:cNvPr id="22" name="Germany 2025 bar"/>
          <p:cNvSpPr/>
          <p:nvPr/>
        </p:nvSpPr>
        <p:spPr>
          <a:xfrm>
            <a:off x="7424928" y="3354294"/>
            <a:ext cx="914400" cy="1354866"/>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ermany 2025 value"/>
          <p:cNvSpPr/>
          <p:nvPr/>
        </p:nvSpPr>
        <p:spPr>
          <a:xfrm>
            <a:off x="7333488" y="2988534"/>
            <a:ext cx="10972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800" b="1" i="0">
                <a:solidFill>
                  <a:srgbClr val="321744"/>
                </a:solidFill>
                <a:latin typeface="Calibri"/>
                <a:cs typeface="Calibri"/>
              </a:rPr>
              <a:t>44.9</a:t>
            </a:r>
          </a:p>
        </p:txBody>
      </p:sp>
      <p:sp>
        <p:nvSpPr>
          <p:cNvPr id="24" name="Germany 2025 year"/>
          <p:cNvSpPr/>
          <p:nvPr/>
        </p:nvSpPr>
        <p:spPr>
          <a:xfrm>
            <a:off x="7333488" y="474573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0" i="0">
                <a:solidFill>
                  <a:srgbClr val="5C5C5C"/>
                </a:solidFill>
                <a:latin typeface="Calibri"/>
                <a:cs typeface="Calibri"/>
              </a:rPr>
              <a:t>2025</a:t>
            </a:r>
          </a:p>
        </p:txBody>
      </p:sp>
      <p:sp>
        <p:nvSpPr>
          <p:cNvPr id="25" name="Germany label"/>
          <p:cNvSpPr/>
          <p:nvPr/>
        </p:nvSpPr>
        <p:spPr>
          <a:xfrm>
            <a:off x="6080760" y="5020056"/>
            <a:ext cx="2578608"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600" b="1" i="0">
                <a:solidFill>
                  <a:srgbClr val="321744"/>
                </a:solidFill>
                <a:latin typeface="Calibri"/>
                <a:cs typeface="Calibri"/>
              </a:rPr>
              <a:t>Germany</a:t>
            </a:r>
          </a:p>
          <a:p>
            <a:pPr marL="0" indent="0" algn="ctr">
              <a:buNone/>
            </a:pPr>
            <a:r>
              <a:rPr sz="1200" b="0" i="0">
                <a:solidFill>
                  <a:srgbClr val="5C5C5C"/>
                </a:solidFill>
                <a:latin typeface="Calibri"/>
                <a:cs typeface="Calibri"/>
              </a:rPr>
              <a:t>CDU/CSU + SPD</a:t>
            </a:r>
          </a:p>
        </p:txBody>
      </p:sp>
      <p:sp>
        <p:nvSpPr>
          <p:cNvPr id="26" name="Netherlands 1986 bar"/>
          <p:cNvSpPr/>
          <p:nvPr/>
        </p:nvSpPr>
        <p:spPr>
          <a:xfrm>
            <a:off x="9144000" y="2135215"/>
            <a:ext cx="914400" cy="2573945"/>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Netherlands 1986 value"/>
          <p:cNvSpPr/>
          <p:nvPr/>
        </p:nvSpPr>
        <p:spPr>
          <a:xfrm>
            <a:off x="9052560" y="1769455"/>
            <a:ext cx="10972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800" b="1" i="0">
                <a:solidFill>
                  <a:srgbClr val="321744"/>
                </a:solidFill>
                <a:latin typeface="Calibri"/>
                <a:cs typeface="Calibri"/>
              </a:rPr>
              <a:t>85.3</a:t>
            </a:r>
          </a:p>
        </p:txBody>
      </p:sp>
      <p:sp>
        <p:nvSpPr>
          <p:cNvPr id="28" name="Netherlands 1986 year"/>
          <p:cNvSpPr/>
          <p:nvPr/>
        </p:nvSpPr>
        <p:spPr>
          <a:xfrm>
            <a:off x="9052560" y="474573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0" i="0">
                <a:solidFill>
                  <a:srgbClr val="5C5C5C"/>
                </a:solidFill>
                <a:latin typeface="Calibri"/>
                <a:cs typeface="Calibri"/>
              </a:rPr>
              <a:t>1986</a:t>
            </a:r>
          </a:p>
        </p:txBody>
      </p:sp>
      <p:sp>
        <p:nvSpPr>
          <p:cNvPr id="29" name="Netherlands 2025 bar"/>
          <p:cNvSpPr/>
          <p:nvPr/>
        </p:nvSpPr>
        <p:spPr>
          <a:xfrm>
            <a:off x="10168128" y="3538362"/>
            <a:ext cx="914400" cy="1170798"/>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Netherlands 2025 value"/>
          <p:cNvSpPr/>
          <p:nvPr/>
        </p:nvSpPr>
        <p:spPr>
          <a:xfrm>
            <a:off x="10076688" y="3172602"/>
            <a:ext cx="109728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800" b="1" i="0">
                <a:solidFill>
                  <a:srgbClr val="321744"/>
                </a:solidFill>
                <a:latin typeface="Calibri"/>
                <a:cs typeface="Calibri"/>
              </a:rPr>
              <a:t>38.8</a:t>
            </a:r>
          </a:p>
        </p:txBody>
      </p:sp>
      <p:sp>
        <p:nvSpPr>
          <p:cNvPr id="31" name="Netherlands 2025 year"/>
          <p:cNvSpPr/>
          <p:nvPr/>
        </p:nvSpPr>
        <p:spPr>
          <a:xfrm>
            <a:off x="10076688" y="4745736"/>
            <a:ext cx="109728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0" i="0">
                <a:solidFill>
                  <a:srgbClr val="5C5C5C"/>
                </a:solidFill>
                <a:latin typeface="Calibri"/>
                <a:cs typeface="Calibri"/>
              </a:rPr>
              <a:t>2025</a:t>
            </a:r>
          </a:p>
        </p:txBody>
      </p:sp>
      <p:sp>
        <p:nvSpPr>
          <p:cNvPr id="32" name="Netherlands label"/>
          <p:cNvSpPr/>
          <p:nvPr/>
        </p:nvSpPr>
        <p:spPr>
          <a:xfrm>
            <a:off x="8823960" y="5020056"/>
            <a:ext cx="2578608"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600" b="1" i="0">
                <a:solidFill>
                  <a:srgbClr val="321744"/>
                </a:solidFill>
                <a:latin typeface="Calibri"/>
                <a:cs typeface="Calibri"/>
              </a:rPr>
              <a:t>Netherlands</a:t>
            </a:r>
          </a:p>
          <a:p>
            <a:pPr marL="0" indent="0" algn="ctr">
              <a:buNone/>
            </a:pPr>
            <a:r>
              <a:rPr sz="1200" b="0" i="0">
                <a:solidFill>
                  <a:srgbClr val="5C5C5C"/>
                </a:solidFill>
                <a:latin typeface="Calibri"/>
                <a:cs typeface="Calibri"/>
              </a:rPr>
              <a:t>CDA + Labour + VVD</a:t>
            </a:r>
          </a:p>
        </p:txBody>
      </p:sp>
      <p:cxnSp>
        <p:nvCxnSpPr>
          <p:cNvPr id="33" name="Baseline"/>
          <p:cNvCxnSpPr/>
          <p:nvPr/>
        </p:nvCxnSpPr>
        <p:spPr>
          <a:xfrm>
            <a:off x="548640" y="4709160"/>
            <a:ext cx="11109960" cy="0"/>
          </a:xfrm>
          <a:prstGeom prst="line">
            <a:avLst/>
          </a:prstGeom>
          <a:ln w="19050">
            <a:solidFill>
              <a:srgbClr val="321744"/>
            </a:solidFill>
          </a:ln>
        </p:spPr>
        <p:style>
          <a:lnRef idx="2">
            <a:schemeClr val="accent1"/>
          </a:lnRef>
          <a:fillRef idx="0">
            <a:schemeClr val="accent1"/>
          </a:fillRef>
          <a:effectRef idx="1">
            <a:schemeClr val="accent1"/>
          </a:effectRef>
          <a:fontRef idx="minor">
            <a:schemeClr val="tx1"/>
          </a:fontRef>
        </p:style>
      </p:cxnSp>
      <p:sp>
        <p:nvSpPr>
          <p:cNvPr id="34" name="Footnote"/>
          <p:cNvSpPr/>
          <p:nvPr/>
        </p:nvSpPr>
        <p:spPr>
          <a:xfrm>
            <a:off x="457200" y="5715000"/>
            <a:ext cx="11274552"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00" b="0" i="1">
                <a:solidFill>
                  <a:srgbClr val="5C5C5C"/>
                </a:solidFill>
                <a:latin typeface="Calibri"/>
                <a:cs typeface="Calibri"/>
              </a:rPr>
              <a:t>Percent of the vote in national parliamentary elections. 1976 is West Germany. In 2025 the Dutch Labour Party ran on a joint list with the Greens.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5" grpId="0" animBg="1"/>
      <p:bldP spid="16" grpId="0" animBg="1"/>
      <p:bldP spid="17" grpId="0" animBg="1"/>
      <p:bldP spid="22" grpId="0" animBg="1"/>
      <p:bldP spid="23" grpId="0" animBg="1"/>
      <p:bldP spid="24" grpId="0" animBg="1"/>
      <p:bldP spid="29" grpId="0" animBg="1"/>
      <p:bldP spid="30" grpId="0" animBg="1"/>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Changed? The Voters</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Four changes in who the voters are</a:t>
            </a:r>
          </a:p>
        </p:txBody>
      </p:sp>
      <p:sp>
        <p:nvSpPr>
          <p:cNvPr id="5" name="Reading tag"/>
          <p:cNvSpPr txBox="1"/>
          <p:nvPr/>
        </p:nvSpPr>
        <p:spPr>
          <a:xfrm>
            <a:off x="7635240" y="109728"/>
            <a:ext cx="4206240" cy="292608"/>
          </a:xfrm>
          <a:prstGeom prst="rect">
            <a:avLst/>
          </a:prstGeom>
          <a:noFill/>
        </p:spPr>
        <p:txBody>
          <a:bodyPr wrap="square">
            <a:spAutoFit/>
          </a:bodyPr>
          <a:lstStyle/>
          <a:p>
            <a:pPr algn="r"/>
            <a:r>
              <a:rPr sz="1200" b="0" i="1">
                <a:solidFill>
                  <a:srgbClr val="5C5C5C"/>
                </a:solidFill>
                <a:latin typeface="Calibri"/>
              </a:rPr>
              <a:t>From today’s reading: Ford and Jennings</a:t>
            </a:r>
          </a:p>
        </p:txBody>
      </p:sp>
      <p:sp>
        <p:nvSpPr>
          <p:cNvPr id="6" name="Tile 1"/>
          <p:cNvSpPr/>
          <p:nvPr/>
        </p:nvSpPr>
        <p:spPr>
          <a:xfrm>
            <a:off x="457200" y="1188720"/>
            <a:ext cx="2724912" cy="4526280"/>
          </a:xfrm>
          <a:prstGeom prst="rect">
            <a:avLst/>
          </a:prstGeom>
          <a:solidFill>
            <a:srgbClr val="FFF6F0"/>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hoto (Lecture 18.pptx, slide 11, picture 1)" descr="image.jpg"/>
          <p:cNvPicPr>
            <a:picLocks noChangeAspect="1"/>
          </p:cNvPicPr>
          <p:nvPr/>
        </p:nvPicPr>
        <p:blipFill>
          <a:blip r:embed="rId2"/>
          <a:srcRect t="4288" b="4288"/>
          <a:stretch>
            <a:fillRect/>
          </a:stretch>
        </p:blipFill>
        <p:spPr>
          <a:xfrm>
            <a:off x="512064" y="1243584"/>
            <a:ext cx="2615184" cy="1591056"/>
          </a:xfrm>
          <a:prstGeom prst="rect">
            <a:avLst/>
          </a:prstGeom>
        </p:spPr>
      </p:pic>
      <p:sp>
        <p:nvSpPr>
          <p:cNvPr id="8" name="Tile 1 header"/>
          <p:cNvSpPr/>
          <p:nvPr/>
        </p:nvSpPr>
        <p:spPr>
          <a:xfrm>
            <a:off x="457200" y="2871216"/>
            <a:ext cx="2724912" cy="384048"/>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500" b="1" i="0">
                <a:solidFill>
                  <a:srgbClr val="FFFFFF"/>
                </a:solidFill>
                <a:latin typeface="Calibri"/>
                <a:cs typeface="Calibri"/>
              </a:rPr>
              <a:t>EDUCATION</a:t>
            </a:r>
          </a:p>
        </p:txBody>
      </p:sp>
      <p:sp>
        <p:nvSpPr>
          <p:cNvPr id="9" name="Tile 1 text"/>
          <p:cNvSpPr/>
          <p:nvPr/>
        </p:nvSpPr>
        <p:spPr>
          <a:xfrm>
            <a:off x="530352" y="3291840"/>
            <a:ext cx="2578608" cy="2377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36576" bIns="18288" rtlCol="0" anchor="t">
            <a:normAutofit/>
          </a:bodyPr>
          <a:lstStyle/>
          <a:p>
            <a:pPr marL="171450" indent="-171450" algn="l">
              <a:spcAft>
                <a:spcPts val="700"/>
              </a:spcAft>
              <a:buFont typeface="Arial"/>
              <a:buChar char="•"/>
            </a:pPr>
            <a:r>
              <a:rPr sz="1500" b="0" i="0">
                <a:solidFill>
                  <a:srgbClr val="321744"/>
                </a:solidFill>
                <a:latin typeface="Calibri"/>
                <a:cs typeface="Calibri"/>
              </a:rPr>
              <a:t>Graduates are 32% of adults in Western Europe; their share more than doubled from 1992 to 2018</a:t>
            </a:r>
          </a:p>
          <a:p>
            <a:pPr marL="171450" indent="-171450" algn="l">
              <a:spcAft>
                <a:spcPts val="700"/>
              </a:spcAft>
              <a:buFont typeface="Arial"/>
              <a:buChar char="•"/>
            </a:pPr>
            <a:r>
              <a:rPr sz="1500" b="0" i="0">
                <a:solidFill>
                  <a:srgbClr val="321744"/>
                </a:solidFill>
                <a:latin typeface="Calibri"/>
                <a:cs typeface="Calibri"/>
              </a:rPr>
              <a:t>Graduates lean green and liberal. White school leavers are the radical right’s core voters</a:t>
            </a:r>
          </a:p>
        </p:txBody>
      </p:sp>
      <p:sp>
        <p:nvSpPr>
          <p:cNvPr id="10" name="Tile 2"/>
          <p:cNvSpPr/>
          <p:nvPr/>
        </p:nvSpPr>
        <p:spPr>
          <a:xfrm>
            <a:off x="3310128" y="1188720"/>
            <a:ext cx="2724912" cy="4526280"/>
          </a:xfrm>
          <a:prstGeom prst="rect">
            <a:avLst/>
          </a:prstGeom>
          <a:solidFill>
            <a:srgbClr val="FFF6F0"/>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hoto (Lecture 20.pptx, slide 9, picture 1)" descr="image.jpg"/>
          <p:cNvPicPr>
            <a:picLocks noChangeAspect="1"/>
          </p:cNvPicPr>
          <p:nvPr/>
        </p:nvPicPr>
        <p:blipFill>
          <a:blip r:embed="rId3"/>
          <a:srcRect t="3018" b="5604"/>
          <a:stretch>
            <a:fillRect/>
          </a:stretch>
        </p:blipFill>
        <p:spPr>
          <a:xfrm>
            <a:off x="3364992" y="1243584"/>
            <a:ext cx="2615184" cy="1591056"/>
          </a:xfrm>
          <a:prstGeom prst="rect">
            <a:avLst/>
          </a:prstGeom>
        </p:spPr>
      </p:pic>
      <p:sp>
        <p:nvSpPr>
          <p:cNvPr id="12" name="Tile 2 header"/>
          <p:cNvSpPr/>
          <p:nvPr/>
        </p:nvSpPr>
        <p:spPr>
          <a:xfrm>
            <a:off x="3310128" y="2871216"/>
            <a:ext cx="2724912" cy="384048"/>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500" b="1" i="0">
                <a:solidFill>
                  <a:srgbClr val="FFFFFF"/>
                </a:solidFill>
                <a:latin typeface="Calibri"/>
                <a:cs typeface="Calibri"/>
              </a:rPr>
              <a:t>MIGRATION</a:t>
            </a:r>
          </a:p>
        </p:txBody>
      </p:sp>
      <p:sp>
        <p:nvSpPr>
          <p:cNvPr id="13" name="Tile 2 text"/>
          <p:cNvSpPr/>
          <p:nvPr/>
        </p:nvSpPr>
        <p:spPr>
          <a:xfrm>
            <a:off x="3383280" y="3291840"/>
            <a:ext cx="2578608" cy="2377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36576" bIns="18288" rtlCol="0" anchor="t">
            <a:normAutofit/>
          </a:bodyPr>
          <a:lstStyle/>
          <a:p>
            <a:pPr marL="171450" indent="-171450" algn="l">
              <a:spcAft>
                <a:spcPts val="700"/>
              </a:spcAft>
              <a:buFont typeface="Arial"/>
              <a:buChar char="•"/>
            </a:pPr>
            <a:r>
              <a:rPr sz="1500" b="0" i="0">
                <a:solidFill>
                  <a:srgbClr val="321744"/>
                </a:solidFill>
                <a:latin typeface="Calibri"/>
                <a:cs typeface="Calibri"/>
              </a:rPr>
              <a:t>Migrant-origin communities have grown across Western Europe</a:t>
            </a:r>
          </a:p>
          <a:p>
            <a:pPr marL="171450" indent="-171450" algn="l">
              <a:spcAft>
                <a:spcPts val="700"/>
              </a:spcAft>
              <a:buFont typeface="Arial"/>
              <a:buChar char="•"/>
            </a:pPr>
            <a:r>
              <a:rPr sz="1500" b="0" i="0">
                <a:solidFill>
                  <a:srgbClr val="321744"/>
                </a:solidFill>
                <a:latin typeface="Calibri"/>
                <a:cs typeface="Calibri"/>
              </a:rPr>
              <a:t>Minority voters have gravitated to center-left parties: in Britain, to Labour</a:t>
            </a:r>
          </a:p>
        </p:txBody>
      </p:sp>
      <p:sp>
        <p:nvSpPr>
          <p:cNvPr id="14" name="Tile 3"/>
          <p:cNvSpPr/>
          <p:nvPr/>
        </p:nvSpPr>
        <p:spPr>
          <a:xfrm>
            <a:off x="6163056" y="1188720"/>
            <a:ext cx="2724912" cy="4526280"/>
          </a:xfrm>
          <a:prstGeom prst="rect">
            <a:avLst/>
          </a:prstGeom>
          <a:solidFill>
            <a:srgbClr val="FFF6F0"/>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ogo backdrop"/>
          <p:cNvSpPr/>
          <p:nvPr/>
        </p:nvSpPr>
        <p:spPr>
          <a:xfrm>
            <a:off x="6217920" y="1243584"/>
            <a:ext cx="2615184" cy="1591056"/>
          </a:xfrm>
          <a:prstGeom prst="rect">
            <a:avLst/>
          </a:prstGeom>
          <a:solidFill>
            <a:srgbClr val="FFFFFF"/>
          </a:solidFill>
          <a:ln w="15875">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Logo (50PLUS_(nl)_Logo.webp, downloaded by Will 10/10)" descr="Logo of 50PLUS, the Dutch pensioners' party"/>
          <p:cNvPicPr>
            <a:picLocks noChangeAspect="1"/>
          </p:cNvPicPr>
          <p:nvPr/>
        </p:nvPicPr>
        <p:blipFill>
          <a:blip r:embed="rId4"/>
          <a:stretch>
            <a:fillRect/>
          </a:stretch>
        </p:blipFill>
        <p:spPr>
          <a:xfrm>
            <a:off x="6742673" y="1353312"/>
            <a:ext cx="1565678" cy="1371600"/>
          </a:xfrm>
          <a:prstGeom prst="rect">
            <a:avLst/>
          </a:prstGeom>
        </p:spPr>
      </p:pic>
      <p:sp>
        <p:nvSpPr>
          <p:cNvPr id="17" name="Tile 3 header"/>
          <p:cNvSpPr/>
          <p:nvPr/>
        </p:nvSpPr>
        <p:spPr>
          <a:xfrm>
            <a:off x="6163056" y="2871216"/>
            <a:ext cx="2724912" cy="384048"/>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500" b="1" i="0">
                <a:solidFill>
                  <a:srgbClr val="FFFFFF"/>
                </a:solidFill>
                <a:latin typeface="Calibri"/>
                <a:cs typeface="Calibri"/>
              </a:rPr>
              <a:t>AGING</a:t>
            </a:r>
          </a:p>
        </p:txBody>
      </p:sp>
      <p:sp>
        <p:nvSpPr>
          <p:cNvPr id="18" name="Tile 3 text"/>
          <p:cNvSpPr/>
          <p:nvPr/>
        </p:nvSpPr>
        <p:spPr>
          <a:xfrm>
            <a:off x="6236208" y="3291840"/>
            <a:ext cx="2578608" cy="2377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36576" bIns="18288" rtlCol="0" anchor="t">
            <a:normAutofit/>
          </a:bodyPr>
          <a:lstStyle/>
          <a:p>
            <a:pPr marL="171450" indent="-171450" algn="l">
              <a:spcAft>
                <a:spcPts val="700"/>
              </a:spcAft>
              <a:buFont typeface="Arial"/>
              <a:buChar char="•"/>
            </a:pPr>
            <a:r>
              <a:rPr sz="1500" b="0" i="0">
                <a:solidFill>
                  <a:srgbClr val="321744"/>
                </a:solidFill>
                <a:latin typeface="Calibri"/>
                <a:cs typeface="Calibri"/>
              </a:rPr>
              <a:t>One in ten Western Europeans was 65 or older in 1967; nearly one in five is now</a:t>
            </a:r>
          </a:p>
          <a:p>
            <a:pPr marL="171450" indent="-171450" algn="l">
              <a:spcAft>
                <a:spcPts val="700"/>
              </a:spcAft>
              <a:buFont typeface="Arial"/>
              <a:buChar char="•"/>
            </a:pPr>
            <a:r>
              <a:rPr sz="1500" b="0" i="0">
                <a:solidFill>
                  <a:srgbClr val="321744"/>
                </a:solidFill>
                <a:latin typeface="Calibri"/>
                <a:cs typeface="Calibri"/>
              </a:rPr>
              <a:t>Older voters turn out more, but age is “not yet being mobilized” as a divide</a:t>
            </a:r>
          </a:p>
        </p:txBody>
      </p:sp>
      <p:sp>
        <p:nvSpPr>
          <p:cNvPr id="19" name="Tile 4"/>
          <p:cNvSpPr/>
          <p:nvPr/>
        </p:nvSpPr>
        <p:spPr>
          <a:xfrm>
            <a:off x="9015984" y="1188720"/>
            <a:ext cx="2724912" cy="4526280"/>
          </a:xfrm>
          <a:prstGeom prst="rect">
            <a:avLst/>
          </a:prstGeom>
          <a:solidFill>
            <a:srgbClr val="FFF6F0"/>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hoto (Intro Slides.pptx, slide 8, picture 2)" descr="image.jpg"/>
          <p:cNvPicPr>
            <a:picLocks noChangeAspect="1"/>
          </p:cNvPicPr>
          <p:nvPr/>
        </p:nvPicPr>
        <p:blipFill>
          <a:blip r:embed="rId5"/>
          <a:srcRect t="4393" b="4393"/>
          <a:stretch>
            <a:fillRect/>
          </a:stretch>
        </p:blipFill>
        <p:spPr>
          <a:xfrm>
            <a:off x="9070848" y="1243584"/>
            <a:ext cx="2615184" cy="1591056"/>
          </a:xfrm>
          <a:prstGeom prst="rect">
            <a:avLst/>
          </a:prstGeom>
        </p:spPr>
      </p:pic>
      <p:sp>
        <p:nvSpPr>
          <p:cNvPr id="21" name="Tile 4 header"/>
          <p:cNvSpPr/>
          <p:nvPr/>
        </p:nvSpPr>
        <p:spPr>
          <a:xfrm>
            <a:off x="9015984" y="2871216"/>
            <a:ext cx="2724912" cy="384048"/>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500" b="1" i="0">
                <a:solidFill>
                  <a:srgbClr val="FFFFFF"/>
                </a:solidFill>
                <a:latin typeface="Calibri"/>
                <a:cs typeface="Calibri"/>
              </a:rPr>
              <a:t>PLACE</a:t>
            </a:r>
          </a:p>
        </p:txBody>
      </p:sp>
      <p:sp>
        <p:nvSpPr>
          <p:cNvPr id="22" name="Tile 4 text"/>
          <p:cNvSpPr/>
          <p:nvPr/>
        </p:nvSpPr>
        <p:spPr>
          <a:xfrm>
            <a:off x="9089136" y="3291840"/>
            <a:ext cx="2578608" cy="2377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36576" bIns="18288" rtlCol="0" anchor="t">
            <a:normAutofit/>
          </a:bodyPr>
          <a:lstStyle/>
          <a:p>
            <a:pPr marL="171450" indent="-171450" algn="l">
              <a:spcAft>
                <a:spcPts val="700"/>
              </a:spcAft>
              <a:buFont typeface="Arial"/>
              <a:buChar char="•"/>
            </a:pPr>
            <a:r>
              <a:rPr sz="1500" b="0" i="0">
                <a:solidFill>
                  <a:srgbClr val="321744"/>
                </a:solidFill>
                <a:latin typeface="Calibri"/>
                <a:cs typeface="Calibri"/>
              </a:rPr>
              <a:t>Big cities draw graduates, the young and the jobs; towns and the countryside lose them</a:t>
            </a:r>
          </a:p>
          <a:p>
            <a:pPr marL="171450" indent="-171450" algn="l">
              <a:spcAft>
                <a:spcPts val="700"/>
              </a:spcAft>
              <a:buFont typeface="Arial"/>
              <a:buChar char="•"/>
            </a:pPr>
            <a:r>
              <a:rPr sz="1500" b="0" i="0">
                <a:solidFill>
                  <a:srgbClr val="321744"/>
                </a:solidFill>
                <a:latin typeface="Calibri"/>
                <a:cs typeface="Calibri"/>
              </a:rPr>
              <a:t>France’s yellow vests: anger at “metropolitan Paris elites”</a:t>
            </a:r>
          </a:p>
        </p:txBody>
      </p:sp>
      <p:sp>
        <p:nvSpPr>
          <p:cNvPr id="23" name="Footnote"/>
          <p:cNvSpPr/>
          <p:nvPr/>
        </p:nvSpPr>
        <p:spPr>
          <a:xfrm>
            <a:off x="457200" y="5806440"/>
            <a:ext cx="11274552"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00" b="0" i="1">
                <a:solidFill>
                  <a:srgbClr val="5C5C5C"/>
                </a:solidFill>
                <a:latin typeface="Calibri"/>
                <a:cs typeface="Calibri"/>
              </a:rPr>
              <a:t>Robert Ford and Will Jennings, British political scientists, 2020. Education and migration already separate the parties’ voters; they expect place to matter more.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7" grpId="0" animBg="1"/>
      <p:bldP spid="18" grpId="0" animBg="1"/>
      <p:bldP spid="19" grpId="0" animBg="1"/>
      <p:bldP spid="21" grpId="0" animBg="1"/>
      <p:bldP spid="22" grpId="0" animBg="1"/>
      <p:bldP spid="2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Second Dimension</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Two dimensions: economics and culture</a:t>
            </a:r>
          </a:p>
        </p:txBody>
      </p:sp>
      <p:sp>
        <p:nvSpPr>
          <p:cNvPr id="5" name="Reading tag"/>
          <p:cNvSpPr txBox="1"/>
          <p:nvPr/>
        </p:nvSpPr>
        <p:spPr>
          <a:xfrm>
            <a:off x="7635240" y="109728"/>
            <a:ext cx="4206240" cy="292608"/>
          </a:xfrm>
          <a:prstGeom prst="rect">
            <a:avLst/>
          </a:prstGeom>
          <a:noFill/>
        </p:spPr>
        <p:txBody>
          <a:bodyPr wrap="square">
            <a:spAutoFit/>
          </a:bodyPr>
          <a:lstStyle/>
          <a:p>
            <a:pPr algn="r"/>
            <a:r>
              <a:rPr sz="1200" b="0" i="1">
                <a:solidFill>
                  <a:srgbClr val="5C5C5C"/>
                </a:solidFill>
                <a:latin typeface="Calibri"/>
              </a:rPr>
              <a:t>From today’s reading: Ford and Jennings</a:t>
            </a:r>
          </a:p>
        </p:txBody>
      </p:sp>
      <p:sp>
        <p:nvSpPr>
          <p:cNvPr id="6" name="Plot area"/>
          <p:cNvSpPr/>
          <p:nvPr/>
        </p:nvSpPr>
        <p:spPr>
          <a:xfrm>
            <a:off x="1600200" y="1234440"/>
            <a:ext cx="6035040" cy="402336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enter line vertical"/>
          <p:cNvCxnSpPr/>
          <p:nvPr/>
        </p:nvCxnSpPr>
        <p:spPr>
          <a:xfrm>
            <a:off x="4617720" y="1234440"/>
            <a:ext cx="0" cy="402336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8" name="Center line horizontal"/>
          <p:cNvCxnSpPr/>
          <p:nvPr/>
        </p:nvCxnSpPr>
        <p:spPr>
          <a:xfrm>
            <a:off x="1600200" y="3246120"/>
            <a:ext cx="6035040" cy="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9" name="X axis label"/>
          <p:cNvSpPr/>
          <p:nvPr/>
        </p:nvSpPr>
        <p:spPr>
          <a:xfrm>
            <a:off x="1600200" y="5303520"/>
            <a:ext cx="60350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321744"/>
                </a:solidFill>
                <a:latin typeface="Calibri"/>
                <a:cs typeface="Calibri"/>
              </a:rPr>
              <a:t>Economic left                                                         Economic right</a:t>
            </a:r>
          </a:p>
        </p:txBody>
      </p:sp>
      <p:sp>
        <p:nvSpPr>
          <p:cNvPr id="10" name="Y axis top label"/>
          <p:cNvSpPr/>
          <p:nvPr/>
        </p:nvSpPr>
        <p:spPr>
          <a:xfrm>
            <a:off x="320040" y="1188720"/>
            <a:ext cx="123444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73152" bIns="0" rtlCol="0" anchor="t">
            <a:normAutofit/>
          </a:bodyPr>
          <a:lstStyle/>
          <a:p>
            <a:pPr marL="0" indent="0" algn="r">
              <a:spcAft>
                <a:spcPts val="0"/>
              </a:spcAft>
              <a:buNone/>
            </a:pPr>
            <a:r>
              <a:rPr sz="1600" b="1" i="0">
                <a:solidFill>
                  <a:srgbClr val="321744"/>
                </a:solidFill>
                <a:latin typeface="Calibri"/>
                <a:cs typeface="Calibri"/>
              </a:rPr>
              <a:t>GAL</a:t>
            </a:r>
          </a:p>
          <a:p>
            <a:pPr marL="0" indent="0" algn="r">
              <a:buNone/>
            </a:pPr>
            <a:r>
              <a:rPr sz="1100" b="0" i="0">
                <a:solidFill>
                  <a:srgbClr val="5C5C5C"/>
                </a:solidFill>
                <a:latin typeface="Calibri"/>
                <a:cs typeface="Calibri"/>
              </a:rPr>
              <a:t>green, alternative, libertarian</a:t>
            </a:r>
          </a:p>
        </p:txBody>
      </p:sp>
      <p:sp>
        <p:nvSpPr>
          <p:cNvPr id="11" name="Y axis bottom label"/>
          <p:cNvSpPr/>
          <p:nvPr/>
        </p:nvSpPr>
        <p:spPr>
          <a:xfrm>
            <a:off x="320040" y="4389120"/>
            <a:ext cx="123444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73152" bIns="0" rtlCol="0" anchor="b">
            <a:normAutofit/>
          </a:bodyPr>
          <a:lstStyle/>
          <a:p>
            <a:pPr marL="0" indent="0" algn="r">
              <a:spcAft>
                <a:spcPts val="0"/>
              </a:spcAft>
              <a:buNone/>
            </a:pPr>
            <a:r>
              <a:rPr sz="1600" b="1" i="0">
                <a:solidFill>
                  <a:srgbClr val="321744"/>
                </a:solidFill>
                <a:latin typeface="Calibri"/>
                <a:cs typeface="Calibri"/>
              </a:rPr>
              <a:t>TAN</a:t>
            </a:r>
          </a:p>
          <a:p>
            <a:pPr marL="0" indent="0" algn="r">
              <a:buNone/>
            </a:pPr>
            <a:r>
              <a:rPr sz="1100" b="0" i="0">
                <a:solidFill>
                  <a:srgbClr val="5C5C5C"/>
                </a:solidFill>
                <a:latin typeface="Calibri"/>
                <a:cs typeface="Calibri"/>
              </a:rPr>
              <a:t>traditional, authoritarian, nationalist</a:t>
            </a:r>
          </a:p>
        </p:txBody>
      </p:sp>
      <p:sp>
        <p:nvSpPr>
          <p:cNvPr id="12" name="Social Democrats dot"/>
          <p:cNvSpPr/>
          <p:nvPr/>
        </p:nvSpPr>
        <p:spPr>
          <a:xfrm>
            <a:off x="3767328" y="2743201"/>
            <a:ext cx="219456" cy="219456"/>
          </a:xfrm>
          <a:prstGeom prst="ellipse">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ocial Democrats label"/>
          <p:cNvSpPr/>
          <p:nvPr/>
        </p:nvSpPr>
        <p:spPr>
          <a:xfrm>
            <a:off x="4050792" y="2685523"/>
            <a:ext cx="192024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dirty="0">
                <a:solidFill>
                  <a:srgbClr val="321744"/>
                </a:solidFill>
                <a:latin typeface="Calibri"/>
                <a:cs typeface="Calibri"/>
              </a:rPr>
              <a:t>Social Democrats</a:t>
            </a:r>
          </a:p>
        </p:txBody>
      </p:sp>
      <p:sp>
        <p:nvSpPr>
          <p:cNvPr id="14" name="Christian Democrats dot"/>
          <p:cNvSpPr/>
          <p:nvPr/>
        </p:nvSpPr>
        <p:spPr>
          <a:xfrm>
            <a:off x="6318504" y="3538728"/>
            <a:ext cx="219456" cy="219456"/>
          </a:xfrm>
          <a:prstGeom prst="ellipse">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hristian Democrats label"/>
          <p:cNvSpPr/>
          <p:nvPr/>
        </p:nvSpPr>
        <p:spPr>
          <a:xfrm>
            <a:off x="4370832" y="3474720"/>
            <a:ext cx="192024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r">
              <a:buNone/>
            </a:pPr>
            <a:r>
              <a:rPr sz="1400" b="1" i="0">
                <a:solidFill>
                  <a:srgbClr val="321744"/>
                </a:solidFill>
                <a:latin typeface="Calibri"/>
                <a:cs typeface="Calibri"/>
              </a:rPr>
              <a:t>Christian Democrats</a:t>
            </a:r>
          </a:p>
        </p:txBody>
      </p:sp>
      <p:sp>
        <p:nvSpPr>
          <p:cNvPr id="16" name="Liberals dot"/>
          <p:cNvSpPr/>
          <p:nvPr/>
        </p:nvSpPr>
        <p:spPr>
          <a:xfrm>
            <a:off x="5715000" y="2331720"/>
            <a:ext cx="219456" cy="219456"/>
          </a:xfrm>
          <a:prstGeom prst="ellipse">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iberals label"/>
          <p:cNvSpPr/>
          <p:nvPr/>
        </p:nvSpPr>
        <p:spPr>
          <a:xfrm>
            <a:off x="5971032" y="2267712"/>
            <a:ext cx="192024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Liberals</a:t>
            </a:r>
          </a:p>
        </p:txBody>
      </p:sp>
      <p:sp>
        <p:nvSpPr>
          <p:cNvPr id="18" name="Conservatives dot"/>
          <p:cNvSpPr/>
          <p:nvPr/>
        </p:nvSpPr>
        <p:spPr>
          <a:xfrm>
            <a:off x="6922008" y="3941064"/>
            <a:ext cx="219456" cy="219456"/>
          </a:xfrm>
          <a:prstGeom prst="ellipse">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onservatives label"/>
          <p:cNvSpPr/>
          <p:nvPr/>
        </p:nvSpPr>
        <p:spPr>
          <a:xfrm>
            <a:off x="4974336" y="3877056"/>
            <a:ext cx="192024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r">
              <a:buNone/>
            </a:pPr>
            <a:r>
              <a:rPr sz="1400" b="1" i="0">
                <a:solidFill>
                  <a:srgbClr val="321744"/>
                </a:solidFill>
                <a:latin typeface="Calibri"/>
                <a:cs typeface="Calibri"/>
              </a:rPr>
              <a:t>Conservatives</a:t>
            </a:r>
          </a:p>
        </p:txBody>
      </p:sp>
      <p:sp>
        <p:nvSpPr>
          <p:cNvPr id="20" name="Greens dot"/>
          <p:cNvSpPr/>
          <p:nvPr/>
        </p:nvSpPr>
        <p:spPr>
          <a:xfrm>
            <a:off x="3351276" y="1541998"/>
            <a:ext cx="219456" cy="219456"/>
          </a:xfrm>
          <a:prstGeom prst="ellipse">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Greens label"/>
          <p:cNvSpPr/>
          <p:nvPr/>
        </p:nvSpPr>
        <p:spPr>
          <a:xfrm>
            <a:off x="3694176" y="1477990"/>
            <a:ext cx="192024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dirty="0">
                <a:solidFill>
                  <a:srgbClr val="321744"/>
                </a:solidFill>
                <a:latin typeface="Calibri"/>
                <a:cs typeface="Calibri"/>
              </a:rPr>
              <a:t>Greens</a:t>
            </a:r>
          </a:p>
        </p:txBody>
      </p:sp>
      <p:sp>
        <p:nvSpPr>
          <p:cNvPr id="22" name="Radical Left dot"/>
          <p:cNvSpPr/>
          <p:nvPr/>
        </p:nvSpPr>
        <p:spPr>
          <a:xfrm>
            <a:off x="2697480" y="3136392"/>
            <a:ext cx="219456" cy="219456"/>
          </a:xfrm>
          <a:prstGeom prst="ellipse">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adical Left label"/>
          <p:cNvSpPr/>
          <p:nvPr/>
        </p:nvSpPr>
        <p:spPr>
          <a:xfrm>
            <a:off x="2953512" y="3072384"/>
            <a:ext cx="192024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Radical Left</a:t>
            </a:r>
          </a:p>
        </p:txBody>
      </p:sp>
      <p:sp>
        <p:nvSpPr>
          <p:cNvPr id="24" name="Radical Right dot"/>
          <p:cNvSpPr/>
          <p:nvPr/>
        </p:nvSpPr>
        <p:spPr>
          <a:xfrm>
            <a:off x="5020056" y="4534017"/>
            <a:ext cx="219456" cy="219456"/>
          </a:xfrm>
          <a:prstGeom prst="ellipse">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adical Right label"/>
          <p:cNvSpPr/>
          <p:nvPr/>
        </p:nvSpPr>
        <p:spPr>
          <a:xfrm>
            <a:off x="5372452" y="4494276"/>
            <a:ext cx="1920240"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dirty="0">
                <a:solidFill>
                  <a:srgbClr val="321744"/>
                </a:solidFill>
                <a:latin typeface="Calibri"/>
                <a:cs typeface="Calibri"/>
              </a:rPr>
              <a:t>Radical Right</a:t>
            </a:r>
          </a:p>
        </p:txBody>
      </p:sp>
      <p:sp>
        <p:nvSpPr>
          <p:cNvPr id="26" name="Economic card"/>
          <p:cNvSpPr/>
          <p:nvPr/>
        </p:nvSpPr>
        <p:spPr>
          <a:xfrm>
            <a:off x="8001000" y="1234440"/>
            <a:ext cx="3749040" cy="187452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Economic card header"/>
          <p:cNvSpPr/>
          <p:nvPr/>
        </p:nvSpPr>
        <p:spPr>
          <a:xfrm>
            <a:off x="8001000" y="1234440"/>
            <a:ext cx="3749040" cy="41148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Economic card header text"/>
          <p:cNvSpPr/>
          <p:nvPr/>
        </p:nvSpPr>
        <p:spPr>
          <a:xfrm>
            <a:off x="8001000" y="1234440"/>
            <a:ext cx="374904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ECONOMIC: LEFT TO RIGHT</a:t>
            </a:r>
          </a:p>
        </p:txBody>
      </p:sp>
      <p:sp>
        <p:nvSpPr>
          <p:cNvPr id="29" name="Economic card text"/>
          <p:cNvSpPr/>
          <p:nvPr/>
        </p:nvSpPr>
        <p:spPr>
          <a:xfrm>
            <a:off x="8174736" y="1828800"/>
            <a:ext cx="3401568" cy="11704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l">
              <a:spcAft>
                <a:spcPts val="1000"/>
              </a:spcAft>
              <a:buNone/>
            </a:pPr>
            <a:r>
              <a:rPr sz="1500" b="0" i="0">
                <a:solidFill>
                  <a:srgbClr val="321744"/>
                </a:solidFill>
                <a:latin typeface="Calibri"/>
                <a:cs typeface="Calibri"/>
              </a:rPr>
              <a:t>Taxes, spending, the welfare state, the role of the market</a:t>
            </a:r>
          </a:p>
        </p:txBody>
      </p:sp>
      <p:sp>
        <p:nvSpPr>
          <p:cNvPr id="30" name="Cultural card"/>
          <p:cNvSpPr/>
          <p:nvPr/>
        </p:nvSpPr>
        <p:spPr>
          <a:xfrm>
            <a:off x="8001000" y="3246120"/>
            <a:ext cx="3749040" cy="201168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ultural card header"/>
          <p:cNvSpPr/>
          <p:nvPr/>
        </p:nvSpPr>
        <p:spPr>
          <a:xfrm>
            <a:off x="8001000" y="3246120"/>
            <a:ext cx="3749040" cy="41148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ultural card header text"/>
          <p:cNvSpPr/>
          <p:nvPr/>
        </p:nvSpPr>
        <p:spPr>
          <a:xfrm>
            <a:off x="8001000" y="3246120"/>
            <a:ext cx="374904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CULTURAL: GAL TO TAN</a:t>
            </a:r>
          </a:p>
        </p:txBody>
      </p:sp>
      <p:sp>
        <p:nvSpPr>
          <p:cNvPr id="33" name="Cultural card text"/>
          <p:cNvSpPr/>
          <p:nvPr/>
        </p:nvSpPr>
        <p:spPr>
          <a:xfrm>
            <a:off x="8174736" y="3840480"/>
            <a:ext cx="3401568" cy="13075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l">
              <a:spcAft>
                <a:spcPts val="1000"/>
              </a:spcAft>
              <a:buNone/>
            </a:pPr>
            <a:r>
              <a:rPr sz="1500" b="0" i="0">
                <a:solidFill>
                  <a:srgbClr val="321744"/>
                </a:solidFill>
                <a:latin typeface="Calibri"/>
                <a:cs typeface="Calibri"/>
              </a:rPr>
              <a:t>Immigration, Europe, national identity, social values</a:t>
            </a:r>
          </a:p>
        </p:txBody>
      </p:sp>
      <p:sp>
        <p:nvSpPr>
          <p:cNvPr id="34" name="Footnote"/>
          <p:cNvSpPr/>
          <p:nvPr/>
        </p:nvSpPr>
        <p:spPr>
          <a:xfrm>
            <a:off x="457200" y="5623560"/>
            <a:ext cx="11274552"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00" b="0" i="1" dirty="0">
                <a:solidFill>
                  <a:srgbClr val="5C5C5C"/>
                </a:solidFill>
                <a:latin typeface="Calibri"/>
                <a:cs typeface="Calibri"/>
              </a:rPr>
              <a:t>GAL–TAN is the label of Liesbet </a:t>
            </a:r>
            <a:r>
              <a:rPr sz="1300" b="0" i="1" dirty="0" err="1">
                <a:solidFill>
                  <a:srgbClr val="5C5C5C"/>
                </a:solidFill>
                <a:latin typeface="Calibri"/>
                <a:cs typeface="Calibri"/>
              </a:rPr>
              <a:t>Hooghe</a:t>
            </a:r>
            <a:r>
              <a:rPr sz="1300" b="0" i="1" dirty="0">
                <a:solidFill>
                  <a:srgbClr val="5C5C5C"/>
                </a:solidFill>
                <a:latin typeface="Calibri"/>
                <a:cs typeface="Calibri"/>
              </a:rPr>
              <a:t> and Gary Marks, political scientists at the University of North Carolina. Positions are </a:t>
            </a:r>
            <a:r>
              <a:rPr lang="en-US" sz="1300" i="1" dirty="0">
                <a:solidFill>
                  <a:srgbClr val="5C5C5C"/>
                </a:solidFill>
                <a:latin typeface="Calibri"/>
                <a:cs typeface="Calibri"/>
              </a:rPr>
              <a:t>my rough estimates</a:t>
            </a:r>
            <a:r>
              <a:rPr sz="1300" b="0" i="1" dirty="0">
                <a:solidFill>
                  <a:srgbClr val="5C5C5C"/>
                </a:solidFill>
                <a:latin typeface="Calibri"/>
                <a:cs typeface="Calibri"/>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Takeaways</a:t>
            </a:r>
          </a:p>
        </p:txBody>
      </p:sp>
      <p:sp>
        <p:nvSpPr>
          <p:cNvPr id="3" name="Content Placeholder 2"/>
          <p:cNvSpPr>
            <a:spLocks noGrp="1"/>
          </p:cNvSpPr>
          <p:nvPr>
            <p:ph idx="1"/>
          </p:nvPr>
        </p:nvSpPr>
        <p:spPr/>
        <p:txBody>
          <a:bodyPr/>
          <a:lstStyle/>
          <a:p>
            <a:r>
              <a:t>Party families are useful, but imperfect labels</a:t>
            </a:r>
          </a:p>
          <a:p>
            <a:pPr lvl="1"/>
            <a:r>
              <a:t>Labour under Blair was far from the Scandinavian social democrats</a:t>
            </a:r>
          </a:p>
          <a:p>
            <a:pPr lvl="1"/>
            <a:r>
              <a:t>Social liberals and right liberals differ even more</a:t>
            </a:r>
          </a:p>
          <a:p>
            <a:r>
              <a:t>Historically: a unified mainstream left and a fragmented mainstream right</a:t>
            </a:r>
          </a:p>
          <a:p>
            <a:r>
              <a:t>Mainstream parties dominated until about 2008; they have lost ground to challengers of every type since</a:t>
            </a:r>
          </a:p>
          <a:p>
            <a:r>
              <a:t>Two explanations today: the parties changed (Katz and Mair), and the voters changed (Ford and Jennings)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9F3A67B4-7677-6D48-8A23-307ED2182D5F}" vid="{2DDAFCB2-C0F4-134B-95C2-A0AF19CD5C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55B7E29D531854B94AF162BA5E34C01" ma:contentTypeVersion="7" ma:contentTypeDescription="Create a new document." ma:contentTypeScope="" ma:versionID="a2d9ab3b17afba22fc6238f31afd41c4">
  <xsd:schema xmlns:xsd="http://www.w3.org/2001/XMLSchema" xmlns:xs="http://www.w3.org/2001/XMLSchema" xmlns:p="http://schemas.microsoft.com/office/2006/metadata/properties" xmlns:ns2="a715ae59-2f24-4114-8440-5cd12e181661" targetNamespace="http://schemas.microsoft.com/office/2006/metadata/properties" ma:root="true" ma:fieldsID="5637070ca8fd4ee77d34cf4d1beb725d" ns2:_="">
    <xsd:import namespace="a715ae59-2f24-4114-8440-5cd12e1816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15ae59-2f24-4114-8440-5cd12e1816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780447-5855-4BB0-83B6-5A98EE7B0F8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10DAE83-54CE-43D5-92CC-2BDDDDCC19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15ae59-2f24-4114-8440-5cd12e1816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2C7DAE-7229-4980-9A9B-F34468D09F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5095</TotalTime>
  <Words>2282</Words>
  <Application>Microsoft Macintosh PowerPoint</Application>
  <PresentationFormat>Widescreen</PresentationFormat>
  <Paragraphs>348</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Calibri</vt:lpstr>
      <vt:lpstr>Franklin Gothic Book</vt:lpstr>
      <vt:lpstr>Franklin Gothic Medium Cond</vt:lpstr>
      <vt:lpstr>Sabon Next LT</vt:lpstr>
      <vt:lpstr>Office Theme</vt:lpstr>
      <vt:lpstr>POSC 3710: European Politics</vt:lpstr>
      <vt:lpstr>Final Times of Clemson Poll </vt:lpstr>
      <vt:lpstr>Where We Left Off</vt:lpstr>
      <vt:lpstr>Parties and Democracy</vt:lpstr>
      <vt:lpstr>What Is a Political Party?</vt:lpstr>
      <vt:lpstr>(Why) Do We Need Parties?</vt:lpstr>
      <vt:lpstr>Guess the Number: Parties</vt:lpstr>
      <vt:lpstr>Party Families</vt:lpstr>
      <vt:lpstr>Where the Families Come From</vt:lpstr>
      <vt:lpstr>Stable Party Systems (1945–1975)</vt:lpstr>
      <vt:lpstr>Four Kinds of Party</vt:lpstr>
      <vt:lpstr>Guess the Number: Members</vt:lpstr>
      <vt:lpstr>The Cartel Party</vt:lpstr>
      <vt:lpstr>What the Cartel Does</vt:lpstr>
      <vt:lpstr>Cartel or Not?</vt:lpstr>
      <vt:lpstr>The Backlash</vt:lpstr>
      <vt:lpstr>Guess the Number: France</vt:lpstr>
      <vt:lpstr>The Big Parties, Then and Now</vt:lpstr>
      <vt:lpstr>What Changed? The Voters</vt:lpstr>
      <vt:lpstr>A Second Dimension</vt:lpstr>
      <vt:lpstr>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William Horne</dc:creator>
  <cp:lastModifiedBy>Will Horne</cp:lastModifiedBy>
  <cp:revision>20</cp:revision>
  <dcterms:created xsi:type="dcterms:W3CDTF">2025-01-14T20:27:56Z</dcterms:created>
  <dcterms:modified xsi:type="dcterms:W3CDTF">2026-10-19T17:54:43Z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0x010100555B7E29D531854B94AF162BA5E34C01</vt:lpwstr>
  </property>
</Properties>
</file>