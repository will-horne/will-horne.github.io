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6"/>
    <p:sldId id="258" r:id="rId7"/>
    <p:sldId id="278" r:id="rId8"/>
    <p:sldId id="259" r:id="rId9"/>
    <p:sldId id="260" r:id="rId10"/>
    <p:sldId id="279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80" r:id="rId34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6600"/>
    <a:srgbClr val="2E1946"/>
    <a:srgbClr val="004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20"/>
    <p:restoredTop sz="81479"/>
  </p:normalViewPr>
  <p:slideViewPr>
    <p:cSldViewPr snapToGrid="0">
      <p:cViewPr varScale="1">
        <p:scale>
          <a:sx n="92" d="100"/>
          <a:sy n="92" d="100"/>
        </p:scale>
        <p:origin x="208" y="2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1" d="100"/>
          <a:sy n="141" d="100"/>
        </p:scale>
        <p:origin x="624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29C96F-1000-C65C-C46A-DA14851133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95355-E84A-6573-5549-851D4ADC6E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FA5A5-83E0-C843-A833-1581F35400C2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27B71-4299-2D9E-4AB0-081BE29BB1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D7D83-DAF8-7574-6FD2-27143710F8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934A6-1BE6-7D49-B4FB-2D04BF758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33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2DEE5-9574-204D-9FB1-AE984D3E7C31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36EDD-184B-404C-BDB7-A0B1EB463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02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orange, yellow, bright&#10;&#10;Description automatically generated">
            <a:extLst>
              <a:ext uri="{FF2B5EF4-FFF2-40B4-BE49-F238E27FC236}">
                <a16:creationId xmlns:a16="http://schemas.microsoft.com/office/drawing/2014/main" id="{E9FCEB86-C289-BAE5-F910-E0FA7B1DD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968ABF-4D01-3D46-DD50-05AAEA7E7C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rgbClr val="2E1946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B38C7-61C8-6264-1ABC-076BA35222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 cap="all" spc="300" baseline="0">
                <a:solidFill>
                  <a:srgbClr val="2E1946"/>
                </a:solidFill>
                <a:latin typeface="Franklin Gothic Medium Cond" panose="020B06060304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Unit/Division and/or presenter’s name/title</a:t>
            </a:r>
          </a:p>
        </p:txBody>
      </p:sp>
      <p:pic>
        <p:nvPicPr>
          <p:cNvPr id="9" name="Picture 8" descr="Clemson logo">
            <a:extLst>
              <a:ext uri="{FF2B5EF4-FFF2-40B4-BE49-F238E27FC236}">
                <a16:creationId xmlns:a16="http://schemas.microsoft.com/office/drawing/2014/main" id="{8492A997-2520-187B-104E-CDFE0EF01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18743" y="5626210"/>
            <a:ext cx="2829340" cy="141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89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orange&#10;&#10;Description automatically generated">
            <a:extLst>
              <a:ext uri="{FF2B5EF4-FFF2-40B4-BE49-F238E27FC236}">
                <a16:creationId xmlns:a16="http://schemas.microsoft.com/office/drawing/2014/main" id="{3218C5B7-1B48-9220-02FD-18EAA908CD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B5D491-FFDD-12DC-F8B9-D44A9110D4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845608"/>
          </a:xfrm>
        </p:spPr>
        <p:txBody>
          <a:bodyPr/>
          <a:lstStyle>
            <a:lvl1pPr>
              <a:defRPr b="1" i="0">
                <a:solidFill>
                  <a:srgbClr val="2E1946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C60D-E7A2-1FAA-6A9A-18C3F0788B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3933"/>
            <a:ext cx="10515600" cy="4309792"/>
          </a:xfrm>
        </p:spPr>
        <p:txBody>
          <a:bodyPr/>
          <a:lstStyle>
            <a:lvl1pPr>
              <a:defRPr b="0" i="0">
                <a:solidFill>
                  <a:srgbClr val="2E1946"/>
                </a:solidFill>
                <a:latin typeface="Franklin Gothic Book" panose="020B0503020102020204" pitchFamily="34" charset="0"/>
              </a:defRPr>
            </a:lvl1pPr>
            <a:lvl2pPr>
              <a:defRPr b="0" i="0">
                <a:solidFill>
                  <a:srgbClr val="2E1946"/>
                </a:solidFill>
                <a:latin typeface="Franklin Gothic Book" panose="020B0503020102020204" pitchFamily="34" charset="0"/>
              </a:defRPr>
            </a:lvl2pPr>
            <a:lvl3pPr>
              <a:defRPr b="0" i="0">
                <a:solidFill>
                  <a:srgbClr val="2E1946"/>
                </a:solidFill>
                <a:latin typeface="Franklin Gothic Book" panose="020B0503020102020204" pitchFamily="34" charset="0"/>
              </a:defRPr>
            </a:lvl3pPr>
            <a:lvl4pPr>
              <a:defRPr b="0" i="0">
                <a:solidFill>
                  <a:srgbClr val="2E1946"/>
                </a:solidFill>
                <a:latin typeface="Franklin Gothic Book" panose="020B0503020102020204" pitchFamily="34" charset="0"/>
              </a:defRPr>
            </a:lvl4pPr>
            <a:lvl5pPr>
              <a:defRPr b="0" i="0">
                <a:solidFill>
                  <a:srgbClr val="2E1946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897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B6E6D0E5-30B8-F707-1A18-C16C1DC5F4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B611FD-8E3E-EDB6-39F7-5065D6B8B0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31242"/>
            <a:ext cx="4736123" cy="2368306"/>
          </a:xfrm>
        </p:spPr>
        <p:txBody>
          <a:bodyPr anchor="t"/>
          <a:lstStyle>
            <a:lvl1pPr>
              <a:defRPr b="1" i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514B4-B8D9-B783-92CA-1398173D2E1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2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9307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CE9A7DBE-E94F-11FE-B202-FED354F27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picture containing sky, outdoor&#10;&#10;Description automatically generated">
            <a:extLst>
              <a:ext uri="{FF2B5EF4-FFF2-40B4-BE49-F238E27FC236}">
                <a16:creationId xmlns:a16="http://schemas.microsoft.com/office/drawing/2014/main" id="{F1B14EBB-2F19-A151-9C9E-3D31472376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5988" y="0"/>
            <a:ext cx="596601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B611FD-8E3E-EDB6-39F7-5065D6B8B0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769" y="373918"/>
            <a:ext cx="5181600" cy="1542806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48D1-E40A-0169-72CA-57B7B3A4537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4769" y="2150330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2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2pPr>
            <a:lvl3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321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F2CC4E72-8006-C0E6-E5E0-5FEC74091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2497B5-26FE-AD47-D019-4EC9E788E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49" y="1709738"/>
            <a:ext cx="10665057" cy="2852737"/>
          </a:xfrm>
        </p:spPr>
        <p:txBody>
          <a:bodyPr anchor="b">
            <a:normAutofit/>
          </a:bodyPr>
          <a:lstStyle>
            <a:lvl1pPr>
              <a:defRPr sz="6600" b="1" i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980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orn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range, yellow, bright&#10;&#10;Description automatically generated">
            <a:extLst>
              <a:ext uri="{FF2B5EF4-FFF2-40B4-BE49-F238E27FC236}">
                <a16:creationId xmlns:a16="http://schemas.microsoft.com/office/drawing/2014/main" id="{07D40A01-AAA7-1D91-B3D8-4DE6503492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2497B5-26FE-AD47-D019-4EC9E788E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709662" cy="2852737"/>
          </a:xfrm>
        </p:spPr>
        <p:txBody>
          <a:bodyPr anchor="b">
            <a:normAutofit/>
          </a:bodyPr>
          <a:lstStyle>
            <a:lvl1pPr>
              <a:defRPr sz="6600" b="1" i="0">
                <a:solidFill>
                  <a:srgbClr val="2E1946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928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CCDDC-A064-45DD-7CCA-04B7253A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DDB838-EF86-B949-B36C-251AD94A1C8E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C43AE-8F9F-7A45-8622-0BC97234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72D84-1CD8-E501-7962-0A18C3B5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E3CDEB-8119-314D-8B42-1AC764E01F9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orange, yellow, bright&#10;&#10;Description automatically generated">
            <a:extLst>
              <a:ext uri="{FF2B5EF4-FFF2-40B4-BE49-F238E27FC236}">
                <a16:creationId xmlns:a16="http://schemas.microsoft.com/office/drawing/2014/main" id="{D9B3203B-93E8-5265-CEB3-C3D7347A2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B491ABA-1768-D306-08E1-704F99EE3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58532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2671816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A8D12DF9-9FA3-E494-C157-ADFC07CB50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7923E18-677B-DA18-379C-72DE7A6C23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58532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3116068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Orange - p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CCDDC-A064-45DD-7CCA-04B7253A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DDB838-EF86-B949-B36C-251AD94A1C8E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C43AE-8F9F-7A45-8622-0BC97234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72D84-1CD8-E501-7962-0A18C3B5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E3CDEB-8119-314D-8B42-1AC764E01F9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orange, yellow, bright&#10;&#10;Description automatically generated">
            <a:extLst>
              <a:ext uri="{FF2B5EF4-FFF2-40B4-BE49-F238E27FC236}">
                <a16:creationId xmlns:a16="http://schemas.microsoft.com/office/drawing/2014/main" id="{D9B3203B-93E8-5265-CEB3-C3D7347A2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clemson tiger paw">
            <a:extLst>
              <a:ext uri="{FF2B5EF4-FFF2-40B4-BE49-F238E27FC236}">
                <a16:creationId xmlns:a16="http://schemas.microsoft.com/office/drawing/2014/main" id="{BABE5E18-0A7D-6738-AA9B-DF1C834AE1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2800" y="685800"/>
            <a:ext cx="5486400" cy="5486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FA5162E-6C6D-4D42-4654-84BA23B0D4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58532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65433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 - P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A8D12DF9-9FA3-E494-C157-ADFC07CB50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clemson tiger paw">
            <a:extLst>
              <a:ext uri="{FF2B5EF4-FFF2-40B4-BE49-F238E27FC236}">
                <a16:creationId xmlns:a16="http://schemas.microsoft.com/office/drawing/2014/main" id="{38594F7C-BC73-84BE-106F-7C6CA81D33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2800" y="685800"/>
            <a:ext cx="5486400" cy="5486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55C7694-CA6D-1C42-3EDC-56CD2759BC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58532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274408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20BE7E-501E-6569-CA9C-A5BF6CDFD8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3F628C4-4CB5-F4A0-BBA3-9F4EBCE4D3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58532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2071880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loudy&#10;&#10;Description automatically generated">
            <a:extLst>
              <a:ext uri="{FF2B5EF4-FFF2-40B4-BE49-F238E27FC236}">
                <a16:creationId xmlns:a16="http://schemas.microsoft.com/office/drawing/2014/main" id="{2EC047A0-1136-7375-8BB3-BB258DE36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0" y="3048"/>
            <a:ext cx="121886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6EDC1F1-6562-EE88-8B6C-254F9F3FF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79080"/>
            <a:ext cx="9396046" cy="358532"/>
          </a:xfrm>
        </p:spPr>
        <p:txBody>
          <a:bodyPr>
            <a:normAutofit/>
          </a:bodyPr>
          <a:lstStyle>
            <a:lvl1pPr>
              <a:defRPr sz="1600" b="0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Title (required for accessibility – will not be visible)</a:t>
            </a:r>
          </a:p>
        </p:txBody>
      </p:sp>
    </p:spTree>
    <p:extLst>
      <p:ext uri="{BB962C8B-B14F-4D97-AF65-F5344CB8AC3E}">
        <p14:creationId xmlns:p14="http://schemas.microsoft.com/office/powerpoint/2010/main" val="3774534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75CCEF-8DA5-EF9F-63FD-5F01C214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B8550-F7BB-8CD4-BFDC-64295DB6E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762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3" r:id="rId4"/>
    <p:sldLayoutId id="2147483651" r:id="rId5"/>
    <p:sldLayoutId id="2147483662" r:id="rId6"/>
    <p:sldLayoutId id="2147483655" r:id="rId7"/>
    <p:sldLayoutId id="2147483666" r:id="rId8"/>
    <p:sldLayoutId id="2147483660" r:id="rId9"/>
    <p:sldLayoutId id="2147483667" r:id="rId10"/>
    <p:sldLayoutId id="2147483664" r:id="rId11"/>
    <p:sldLayoutId id="214748366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Sabon Next LT" panose="02000500000000000000" pitchFamily="2" charset="0"/>
          <a:ea typeface="+mj-ea"/>
          <a:cs typeface="Sabon Next LT" panose="02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embed/qz2-X1LrOPg?start=193&amp;end=507&amp;autoplay=1&amp;rel=0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POSC 3710: European Politics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8/26/2026: How Did Europe Democratize?</a:t>
            </a:r>
          </a:p>
          <a:p>
            <a:r>
              <a:t>Dr. Will Horne</a:t>
            </a:r>
          </a:p>
          <a:p>
            <a:r>
              <a:t>Clemson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Monday was </a:t>
            </a:r>
            <a:r>
              <a:rPr lang="en-US" dirty="0"/>
              <a:t>about how to manage markets</a:t>
            </a:r>
            <a:r>
              <a:rPr dirty="0"/>
              <a:t>: abolish </a:t>
            </a:r>
            <a:r>
              <a:rPr lang="en-US" dirty="0"/>
              <a:t>them</a:t>
            </a:r>
            <a:r>
              <a:rPr dirty="0"/>
              <a:t>, protect </a:t>
            </a:r>
            <a:r>
              <a:rPr lang="en-US" dirty="0"/>
              <a:t>them</a:t>
            </a:r>
            <a:r>
              <a:rPr dirty="0"/>
              <a:t>, or tame </a:t>
            </a:r>
            <a:r>
              <a:rPr lang="en-US" dirty="0"/>
              <a:t>them</a:t>
            </a:r>
            <a:endParaRPr dirty="0"/>
          </a:p>
          <a:p>
            <a:r>
              <a:rPr dirty="0"/>
              <a:t>A</a:t>
            </a:r>
            <a:r>
              <a:rPr lang="en-US" dirty="0"/>
              <a:t>ny answer </a:t>
            </a:r>
            <a:r>
              <a:rPr dirty="0"/>
              <a:t>assume</a:t>
            </a:r>
            <a:r>
              <a:rPr lang="en-US" dirty="0"/>
              <a:t>s</a:t>
            </a:r>
            <a:r>
              <a:rPr dirty="0"/>
              <a:t> somebody gets to decide</a:t>
            </a:r>
            <a:r>
              <a:rPr lang="en-US" dirty="0"/>
              <a:t>: </a:t>
            </a:r>
            <a:r>
              <a:rPr dirty="0"/>
              <a:t>an electorate, a parliament, a </a:t>
            </a:r>
            <a:r>
              <a:rPr lang="en-US" dirty="0"/>
              <a:t>president</a:t>
            </a:r>
          </a:p>
          <a:p>
            <a:r>
              <a:rPr dirty="0"/>
              <a:t>But when Marx wrote in 1848, almost nobody in Europe could vote</a:t>
            </a:r>
            <a:endParaRPr lang="en-US" dirty="0"/>
          </a:p>
          <a:p>
            <a:pPr lvl="1"/>
            <a:r>
              <a:rPr lang="en-US" dirty="0"/>
              <a:t>When Hayek wrote, Europe was emerging from WWII</a:t>
            </a:r>
            <a:endParaRPr dirty="0"/>
          </a:p>
          <a:p>
            <a:r>
              <a:rPr dirty="0"/>
              <a:t>Today: </a:t>
            </a:r>
            <a:r>
              <a:rPr lang="en-US" dirty="0"/>
              <a:t>How did Europe become a continent of democracies?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has to be true before you would call a country a democracy?</a:t>
            </a:r>
          </a:p>
          <a:p>
            <a:r>
              <a:rPr dirty="0"/>
              <a:t>Suppose everyone can vote, but the government does not answer to the people they elect. </a:t>
            </a:r>
            <a:r>
              <a:rPr lang="en-US" dirty="0"/>
              <a:t>Is that a democracy?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Counts as a Democracy?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2670048" y="1600200"/>
            <a:ext cx="6858000" cy="3749039"/>
          </a:xfrm>
          <a:prstGeom prst="roundRect">
            <a:avLst>
              <a:gd name="adj" fmla="val 6000"/>
            </a:avLst>
          </a:prstGeom>
          <a:solidFill>
            <a:srgbClr val="2E1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hlinkClick r:id="rId2"/>
          </p:cNvPr>
          <p:cNvSpPr/>
          <p:nvPr/>
        </p:nvSpPr>
        <p:spPr>
          <a:xfrm>
            <a:off x="5573268" y="2103120"/>
            <a:ext cx="1051560" cy="1051560"/>
          </a:xfrm>
          <a:prstGeom prst="ellipse">
            <a:avLst/>
          </a:prstGeom>
          <a:solidFill>
            <a:srgbClr val="F5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>
            <a:hlinkClick r:id="rId2"/>
          </p:cNvPr>
          <p:cNvSpPr/>
          <p:nvPr/>
        </p:nvSpPr>
        <p:spPr>
          <a:xfrm rot="5400000">
            <a:off x="5943600" y="2400300"/>
            <a:ext cx="384048" cy="45720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3127248" y="3383280"/>
            <a:ext cx="5943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abon Next LT"/>
              </a:rPr>
              <a:t>Where Did Democracy Come From, and Does It Still Work?</a:t>
            </a:r>
          </a:p>
          <a:p>
            <a:pPr algn="ctr">
              <a:spcBef>
                <a:spcPts val="1000"/>
              </a:spcBef>
            </a:pPr>
            <a:r>
              <a:rPr sz="1500">
                <a:solidFill>
                  <a:srgbClr val="D9CEE8"/>
                </a:solidFill>
                <a:latin typeface="Franklin Gothic Book"/>
              </a:rPr>
              <a:t>CrashCourse Political Theory</a:t>
            </a:r>
          </a:p>
          <a:p>
            <a:pPr algn="ctr">
              <a:spcBef>
                <a:spcPts val="600"/>
              </a:spcBef>
            </a:pPr>
            <a:r>
              <a:rPr sz="1500" b="1">
                <a:solidFill>
                  <a:srgbClr val="F56600"/>
                </a:solidFill>
                <a:latin typeface="Franklin Gothic Book"/>
              </a:rPr>
              <a:t>▶  Plays 3:13 – 8:27  ·  about 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5458967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E1946"/>
                </a:solidFill>
                <a:latin typeface="Franklin Gothic Book"/>
              </a:rPr>
              <a:t>Click the card to play · fallback: youtube.com/watch?v=qz2-X1LrOPg (start at 3:13, stop at 8:27)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47472"/>
            <a:ext cx="11155680" cy="566928"/>
          </a:xfrm>
        </p:spPr>
        <p:txBody>
          <a:bodyPr wrap="square"/>
          <a:lstStyle/>
          <a:p>
            <a:r>
              <a:rPr sz="2400" b="1">
                <a:solidFill>
                  <a:srgbClr val="321744"/>
                </a:solidFill>
                <a:latin typeface="Franklin Gothic Book"/>
              </a:rPr>
              <a:t>Who could vote in 1912?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601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Franklin Gothic Book"/>
              </a:rPr>
              <a:t>Universal male suffrage at 25 for the Reichstag, against about 60% of adult men in Britain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68880" y="1600200"/>
            <a:ext cx="0" cy="3566160"/>
          </a:xfrm>
          <a:prstGeom prst="line">
            <a:avLst/>
          </a:prstGeom>
          <a:ln w="12700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94560" y="5239512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21744"/>
                </a:solidFill>
                <a:latin typeface="Franklin Gothic Book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70248" y="1600200"/>
            <a:ext cx="0" cy="356616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95928" y="5239512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21744"/>
                </a:solidFill>
                <a:latin typeface="Franklin Gothic Book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71616" y="1600200"/>
            <a:ext cx="0" cy="356616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97296" y="5239512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21744"/>
                </a:solidFill>
                <a:latin typeface="Franklin Gothic Book"/>
              </a:rPr>
              <a:t>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72984" y="1600200"/>
            <a:ext cx="0" cy="356616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98664" y="5239512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21744"/>
                </a:solidFill>
                <a:latin typeface="Franklin Gothic Book"/>
              </a:rPr>
              <a:t>30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74352" y="1600200"/>
            <a:ext cx="0" cy="356616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00032" y="5239512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21744"/>
                </a:solidFill>
                <a:latin typeface="Franklin Gothic Book"/>
              </a:rPr>
              <a:t>40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475720" y="1600200"/>
            <a:ext cx="0" cy="356616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01400" y="5239512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21744"/>
                </a:solidFill>
                <a:latin typeface="Franklin Gothic Book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1965960"/>
            <a:ext cx="7565745" cy="777240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130552"/>
            <a:ext cx="19385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321744"/>
                </a:solidFill>
                <a:latin typeface="Franklin Gothic Book"/>
              </a:rPr>
              <a:t>German Empire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71785" y="2093976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21744"/>
                </a:solidFill>
                <a:latin typeface="Franklin Gothic Book"/>
              </a:rPr>
              <a:t>~42%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3749039"/>
            <a:ext cx="5223967" cy="777240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913631"/>
            <a:ext cx="19385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321744"/>
                </a:solidFill>
                <a:latin typeface="Franklin Gothic Book"/>
              </a:rPr>
              <a:t>Great Britain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0007" y="3877055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21744"/>
                </a:solidFill>
                <a:latin typeface="Franklin Gothic Book"/>
              </a:rPr>
              <a:t>~29%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687568"/>
            <a:ext cx="9006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321744"/>
                </a:solidFill>
                <a:latin typeface="Franklin Gothic Book"/>
              </a:rPr>
              <a:t>Share of the adult population entitled to vote (%)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629107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Franklin Gothic Book"/>
              </a:rPr>
              <a:t>Adults = population aged 21 and over, estimated from the 1910–11 censuses. Voting ages differ: 25 in Germany, 21 in Britain; women could not vote in either country.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Questions, Not One</a:t>
            </a:r>
          </a:p>
        </p:txBody>
      </p:sp>
      <p:sp>
        <p:nvSpPr>
          <p:cNvPr id="501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endParaRPr lang="en-US"/>
          </a:p>
        </p:txBody>
      </p:sp>
      <p:sp>
        <p:nvSpPr>
          <p:cNvPr id="502" name="Heading"/>
          <p:cNvSpPr/>
          <p:nvPr/>
        </p:nvSpPr>
        <p:spPr>
          <a:xfrm>
            <a:off x="685800" y="335280"/>
            <a:ext cx="10820400" cy="7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21744"/>
                </a:solidFill>
                <a:latin typeface="Calibri"/>
                <a:cs typeface="Calibri"/>
              </a:rPr>
              <a:t>Two ways to think about democracy?</a:t>
            </a:r>
          </a:p>
        </p:txBody>
      </p:sp>
      <p:sp>
        <p:nvSpPr>
          <p:cNvPr id="503" name="Card 1"/>
          <p:cNvSpPr/>
          <p:nvPr/>
        </p:nvSpPr>
        <p:spPr>
          <a:xfrm>
            <a:off x="685800" y="1500000"/>
            <a:ext cx="5210175" cy="375000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301A41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endParaRPr lang="en-US"/>
          </a:p>
        </p:txBody>
      </p:sp>
      <p:sp>
        <p:nvSpPr>
          <p:cNvPr id="504" name="Card 1 header"/>
          <p:cNvSpPr/>
          <p:nvPr/>
        </p:nvSpPr>
        <p:spPr>
          <a:xfrm>
            <a:off x="685800" y="1500000"/>
            <a:ext cx="5210175" cy="620000"/>
          </a:xfrm>
          <a:prstGeom prst="roundRect">
            <a:avLst>
              <a:gd name="adj" fmla="val 26000"/>
            </a:avLst>
          </a:prstGeom>
          <a:solidFill>
            <a:srgbClr val="301A41"/>
          </a:solidFill>
          <a:ln w="31750">
            <a:solidFill>
              <a:srgbClr val="301A41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SUFFRAGE</a:t>
            </a:r>
          </a:p>
        </p:txBody>
      </p:sp>
      <p:sp>
        <p:nvSpPr>
          <p:cNvPr id="505" name="Card 1 text"/>
          <p:cNvSpPr/>
          <p:nvPr/>
        </p:nvSpPr>
        <p:spPr>
          <a:xfrm>
            <a:off x="876300" y="2280000"/>
            <a:ext cx="4829175" cy="281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0" rIns="45720" bIns="91440" anchor="ctr">
            <a:normAutofit/>
          </a:bodyPr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301A41"/>
                </a:solidFill>
                <a:latin typeface="Calibri"/>
                <a:cs typeface="Calibri"/>
              </a:rPr>
              <a:t>Who is allowed to vote?</a:t>
            </a:r>
          </a:p>
          <a:p>
            <a:pPr marL="171450" indent="-1714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21744"/>
                </a:solidFill>
                <a:latin typeface="Calibri"/>
                <a:cs typeface="Calibri"/>
              </a:rPr>
              <a:t>Property, income or tax thresholds</a:t>
            </a:r>
          </a:p>
          <a:p>
            <a:pPr marL="171450" indent="-1714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21744"/>
                </a:solidFill>
                <a:latin typeface="Calibri"/>
                <a:cs typeface="Calibri"/>
              </a:rPr>
              <a:t>Age, sex, residence, military service</a:t>
            </a:r>
          </a:p>
          <a:p>
            <a:pPr marL="171450" indent="-1714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21744"/>
                </a:solidFill>
                <a:latin typeface="Calibri"/>
                <a:cs typeface="Calibri"/>
              </a:rPr>
              <a:t>Gender or racial equality?</a:t>
            </a:r>
          </a:p>
        </p:txBody>
      </p:sp>
      <p:sp>
        <p:nvSpPr>
          <p:cNvPr id="506" name="Card 2"/>
          <p:cNvSpPr/>
          <p:nvPr/>
        </p:nvSpPr>
        <p:spPr>
          <a:xfrm>
            <a:off x="6296025" y="1500000"/>
            <a:ext cx="5210175" cy="3750000"/>
          </a:xfrm>
          <a:prstGeom prst="roundRect">
            <a:avLst>
              <a:gd name="adj" fmla="val 5000"/>
            </a:avLst>
          </a:prstGeom>
          <a:solidFill>
            <a:srgbClr val="FFF6F0"/>
          </a:solidFill>
          <a:ln w="31750">
            <a:solidFill>
              <a:srgbClr val="F3672A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endParaRPr lang="en-US"/>
          </a:p>
        </p:txBody>
      </p:sp>
      <p:sp>
        <p:nvSpPr>
          <p:cNvPr id="507" name="Card 2 header"/>
          <p:cNvSpPr/>
          <p:nvPr/>
        </p:nvSpPr>
        <p:spPr>
          <a:xfrm>
            <a:off x="6296025" y="1500000"/>
            <a:ext cx="5210175" cy="620000"/>
          </a:xfrm>
          <a:prstGeom prst="roundRect">
            <a:avLst>
              <a:gd name="adj" fmla="val 26000"/>
            </a:avLst>
          </a:prstGeom>
          <a:solidFill>
            <a:srgbClr val="F3672A"/>
          </a:solidFill>
          <a:ln w="31750">
            <a:solidFill>
              <a:srgbClr val="F3672A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RESPONSIBLE GOVERNMENT</a:t>
            </a:r>
          </a:p>
        </p:txBody>
      </p:sp>
      <p:sp>
        <p:nvSpPr>
          <p:cNvPr id="508" name="Card 2 text"/>
          <p:cNvSpPr/>
          <p:nvPr/>
        </p:nvSpPr>
        <p:spPr>
          <a:xfrm>
            <a:off x="6486525" y="2280000"/>
            <a:ext cx="4829175" cy="281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0" rIns="45720" bIns="91440" anchor="ctr">
            <a:normAutofit/>
          </a:bodyPr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3672A"/>
                </a:solidFill>
                <a:latin typeface="Calibri"/>
                <a:cs typeface="Calibri"/>
              </a:rPr>
              <a:t>Who does the government answer to?</a:t>
            </a:r>
          </a:p>
          <a:p>
            <a:pPr marL="171450" indent="-1714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21744"/>
                </a:solidFill>
                <a:latin typeface="Calibri"/>
                <a:cs typeface="Calibri"/>
              </a:rPr>
              <a:t>Can the elected chamber remove the executive?</a:t>
            </a:r>
          </a:p>
          <a:p>
            <a:pPr marL="171450" indent="-1714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21744"/>
                </a:solidFill>
                <a:latin typeface="Calibri"/>
                <a:cs typeface="Calibri"/>
              </a:rPr>
              <a:t>Who controls the budget, the army, the ministers?</a:t>
            </a:r>
          </a:p>
          <a:p>
            <a:pPr marL="171450" indent="-1714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21744"/>
                </a:solidFill>
                <a:latin typeface="Calibri"/>
                <a:cs typeface="Calibri"/>
              </a:rPr>
              <a:t>Free Press? Free assembly? Fair treatment of opposition?</a:t>
            </a:r>
          </a:p>
        </p:txBody>
      </p:sp>
      <p:sp>
        <p:nvSpPr>
          <p:cNvPr id="509" name="Footnote"/>
          <p:cNvSpPr/>
          <p:nvPr/>
        </p:nvSpPr>
        <p:spPr>
          <a:xfrm>
            <a:off x="685800" y="5470000"/>
            <a:ext cx="10820400" cy="52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endParaRPr lang="en-US" sz="1500" i="1" dirty="0">
              <a:solidFill>
                <a:srgbClr val="5C5C5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" grpId="0" build="p"/>
      <p:bldP spid="50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C480B5-5C6E-ED35-3DE4-89085BA4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we get here?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41684-F1EF-4348-406C-189B357F1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a bit crazy that we have democracy at all!</a:t>
            </a:r>
          </a:p>
          <a:p>
            <a:pPr lvl="1"/>
            <a:r>
              <a:rPr lang="en-US" dirty="0"/>
              <a:t>Why would the elite ever cede power</a:t>
            </a:r>
          </a:p>
          <a:p>
            <a:r>
              <a:rPr lang="en-US" dirty="0"/>
              <a:t>American Story: Democracy via revolution</a:t>
            </a:r>
          </a:p>
          <a:p>
            <a:pPr lvl="1"/>
            <a:r>
              <a:rPr lang="en-US" dirty="0"/>
              <a:t>Kind of…</a:t>
            </a:r>
          </a:p>
          <a:p>
            <a:r>
              <a:rPr lang="en-US" dirty="0"/>
              <a:t>Europe is much more complicated</a:t>
            </a:r>
          </a:p>
          <a:p>
            <a:pPr lvl="1"/>
            <a:r>
              <a:rPr lang="en-US" dirty="0"/>
              <a:t>Mostly slow and steady expansion of the franchise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8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Europe Democratize (1)?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Barrington Moore, Social Origins of Dictatorship and Democracy (1966)</a:t>
            </a:r>
          </a:p>
          <a:p>
            <a:r>
              <a:rPr dirty="0"/>
              <a:t>Three routes out of the agrarian world: democracy, fascism, communism</a:t>
            </a:r>
          </a:p>
          <a:p>
            <a:r>
              <a:rPr dirty="0"/>
              <a:t>Democracy where a commercial middle class broke the landed aristocracy</a:t>
            </a:r>
          </a:p>
          <a:p>
            <a:r>
              <a:rPr dirty="0"/>
              <a:t>Fascism where a weak bourgeoisie allied with coercive landlords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Europe Democratize (2)?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Elites facing revolution cannot credibly promise redistribution</a:t>
            </a:r>
          </a:p>
          <a:p>
            <a:r>
              <a:rPr dirty="0"/>
              <a:t>A promise made under threat dies once the threat does</a:t>
            </a:r>
          </a:p>
          <a:p>
            <a:r>
              <a:rPr dirty="0"/>
              <a:t>Handing over the vote hands over the machinery, so it binds</a:t>
            </a:r>
          </a:p>
          <a:p>
            <a:r>
              <a:rPr dirty="0"/>
              <a:t>Boix</a:t>
            </a:r>
            <a:r>
              <a:rPr lang="en-US" dirty="0"/>
              <a:t> (2003)</a:t>
            </a:r>
            <a:r>
              <a:rPr dirty="0"/>
              <a:t>: capital can leave the country; land cannot</a:t>
            </a:r>
          </a:p>
          <a:p>
            <a:r>
              <a:rPr dirty="0"/>
              <a:t>High inequality plus immobile assets is the authoritarian mix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Europe Democratize (3)?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Capitalism </a:t>
            </a:r>
            <a:r>
              <a:rPr dirty="0"/>
              <a:t>changes the class structure</a:t>
            </a:r>
          </a:p>
          <a:p>
            <a:pPr lvl="1"/>
            <a:r>
              <a:rPr dirty="0"/>
              <a:t>It builds an </a:t>
            </a:r>
            <a:r>
              <a:rPr dirty="0" err="1"/>
              <a:t>organised</a:t>
            </a:r>
            <a:r>
              <a:rPr dirty="0"/>
              <a:t> working class and weakens landed elites</a:t>
            </a:r>
          </a:p>
          <a:p>
            <a:r>
              <a:rPr dirty="0"/>
              <a:t>The bourgeoisie wants protection from arbitrary rule, not inclusion</a:t>
            </a:r>
          </a:p>
          <a:p>
            <a:r>
              <a:rPr dirty="0"/>
              <a:t>Przeworski: “the poorer classes fought their way in”</a:t>
            </a:r>
          </a:p>
          <a:p>
            <a:r>
              <a:rPr dirty="0"/>
              <a:t>But women’s suffrage, he finds, was granted for partisan advantage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Europe Democratize (4)?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Ziblatt asks about the losers, not the winners</a:t>
            </a:r>
          </a:p>
          <a:p>
            <a:r>
              <a:rPr dirty="0"/>
              <a:t>Where the old right built a strong party, it could lose and survive</a:t>
            </a:r>
            <a:endParaRPr lang="en-US" dirty="0"/>
          </a:p>
          <a:p>
            <a:pPr lvl="1"/>
            <a:r>
              <a:rPr lang="en-US" dirty="0"/>
              <a:t>Key point: Losers have to be willing to concede</a:t>
            </a:r>
            <a:endParaRPr dirty="0"/>
          </a:p>
          <a:p>
            <a:r>
              <a:rPr dirty="0"/>
              <a:t>Where it could not, it reached for the crown, the army, the street</a:t>
            </a:r>
          </a:p>
          <a:p>
            <a:r>
              <a:rPr dirty="0"/>
              <a:t>Britain’s Tories </a:t>
            </a:r>
            <a:r>
              <a:rPr lang="en-US" dirty="0"/>
              <a:t>a strong political organization</a:t>
            </a:r>
            <a:endParaRPr dirty="0"/>
          </a:p>
          <a:p>
            <a:r>
              <a:rPr dirty="0"/>
              <a:t>The German Conservatives were captured by the Agrarian League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Britain: Eighty-Six Years, Four Acts</a:t>
            </a:r>
          </a:p>
        </p:txBody>
      </p:sp>
      <p:pic>
        <p:nvPicPr>
          <p:cNvPr id="3" name="Picture 2" descr="uk_franch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Why Britain’s Right Could Live With </a:t>
            </a:r>
            <a:r>
              <a:rPr lang="en-US" dirty="0"/>
              <a:t>Democracy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Each step was small enough for the Conservatives to absorb</a:t>
            </a:r>
          </a:p>
          <a:p>
            <a:r>
              <a:rPr dirty="0"/>
              <a:t>1867 was carried by the Tories, under Disraeli</a:t>
            </a:r>
          </a:p>
          <a:p>
            <a:r>
              <a:rPr dirty="0"/>
              <a:t>The party built professional organization</a:t>
            </a:r>
          </a:p>
          <a:p>
            <a:r>
              <a:rPr dirty="0"/>
              <a:t>Losing an election was survivable, so elections were acceptable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Germany: The Vote Without the Power</a:t>
            </a:r>
          </a:p>
        </p:txBody>
      </p:sp>
      <p:pic>
        <p:nvPicPr>
          <p:cNvPr id="3" name="Picture 2" descr="two_tra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Insurance Policy: Prussia’s Three-Class Franchise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Reichstag had universal male suffrage. Prussia did not</a:t>
            </a:r>
          </a:p>
          <a:p>
            <a:r>
              <a:rPr dirty="0"/>
              <a:t>Voters were sorted into three classes by direct tax paid</a:t>
            </a:r>
          </a:p>
          <a:p>
            <a:r>
              <a:rPr dirty="0"/>
              <a:t>Each class chose a third of the electors, whatever its size</a:t>
            </a:r>
          </a:p>
          <a:p>
            <a:r>
              <a:rPr dirty="0"/>
              <a:t>Voting was indirect, and public — you said your vote out loud</a:t>
            </a:r>
          </a:p>
          <a:p>
            <a:r>
              <a:rPr dirty="0"/>
              <a:t>In force 1849–1918, in three fifths of the Empire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Insurance Bought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first-class vote weighed about ten times a third-class vote</a:t>
            </a:r>
          </a:p>
          <a:p>
            <a:r>
              <a:t>In 1908, in 2,214 of Prussia’s 29,028 primary districts, the entire first class was one voter</a:t>
            </a:r>
          </a:p>
          <a:p>
            <a:r>
              <a:t>Prussia was three-fifths of the Empire; its king was the Kaiser, its minister-president usually the Chancellor</a:t>
            </a:r>
          </a:p>
          <a:p>
            <a:r>
              <a:t>In the Bundesrat, Prussia held 17 of 58 votes — and 14 votes blocked any constitutional amendment</a:t>
            </a:r>
          </a:p>
          <a:p>
            <a:r>
              <a:t>A permanent, unilateral veto on reform, held by the people reform would dispossess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Insurance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Sheltered by Prussia and the Bundesrat, the Conservatives never built a mass party of their own</a:t>
            </a:r>
            <a:endParaRPr dirty="0"/>
          </a:p>
          <a:p>
            <a:r>
              <a:t>The Agrarian League supplied the mass base — then captured the party</a:t>
            </a:r>
          </a:p>
          <a:p>
            <a:r>
              <a:t>It pushed them toward protectionism, militarism, and antisemitism</a:t>
            </a:r>
          </a:p>
          <a:p>
            <a:r>
              <a:t>Britain’s Tories built a machine and could afford to lose; Germany’s right bought insurance and could not</a:t>
            </a:r>
          </a:p>
          <a:p>
            <a:r>
              <a:rPr b="1"/>
              <a:t>A right that cannot win elections will not support democracy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Scorecard</a:t>
            </a:r>
          </a:p>
        </p:txBody>
      </p:sp>
      <p:sp>
        <p:nvSpPr>
          <p:cNvPr id="524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endParaRPr lang="en-US"/>
          </a:p>
        </p:txBody>
      </p:sp>
      <p:sp>
        <p:nvSpPr>
          <p:cNvPr id="525" name="Heading"/>
          <p:cNvSpPr/>
          <p:nvPr/>
        </p:nvSpPr>
        <p:spPr>
          <a:xfrm>
            <a:off x="685800" y="335280"/>
            <a:ext cx="10820400" cy="7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21744"/>
                </a:solidFill>
                <a:latin typeface="Calibri"/>
                <a:cs typeface="Calibri"/>
              </a:rPr>
              <a:t>Does it explain Britain and Germany?</a:t>
            </a:r>
          </a:p>
        </p:txBody>
      </p:sp>
      <p:sp>
        <p:nvSpPr>
          <p:cNvPr id="526" name="Row 1 label"/>
          <p:cNvSpPr/>
          <p:nvPr/>
        </p:nvSpPr>
        <p:spPr>
          <a:xfrm>
            <a:off x="571500" y="1420000"/>
            <a:ext cx="3000000" cy="1080000"/>
          </a:xfrm>
          <a:prstGeom prst="roundRect">
            <a:avLst>
              <a:gd name="adj" fmla="val 12000"/>
            </a:avLst>
          </a:prstGeom>
          <a:solidFill>
            <a:srgbClr val="301A41"/>
          </a:solidFill>
          <a:ln w="25400">
            <a:solidFill>
              <a:srgbClr val="301A41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MOORE</a:t>
            </a:r>
          </a:p>
        </p:txBody>
      </p:sp>
      <p:sp>
        <p:nvSpPr>
          <p:cNvPr id="527" name="Row 1 text"/>
          <p:cNvSpPr/>
          <p:nvPr/>
        </p:nvSpPr>
        <p:spPr>
          <a:xfrm>
            <a:off x="3771500" y="1420000"/>
            <a:ext cx="7849000" cy="1080000"/>
          </a:xfrm>
          <a:prstGeom prst="roundRect">
            <a:avLst>
              <a:gd name="adj" fmla="val 8000"/>
            </a:avLst>
          </a:prstGeom>
          <a:solidFill>
            <a:srgbClr val="FFF6F0"/>
          </a:solidFill>
          <a:ln w="19050">
            <a:solidFill>
              <a:srgbClr val="E2DCE6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21744"/>
                </a:solidFill>
                <a:latin typeface="Calibri"/>
                <a:cs typeface="Calibri"/>
              </a:rPr>
              <a:t>Germany had a large industrial bourgeoisie by 1900, but went fascist. Why?</a:t>
            </a:r>
          </a:p>
        </p:txBody>
      </p:sp>
      <p:sp>
        <p:nvSpPr>
          <p:cNvPr id="528" name="Row 2 label"/>
          <p:cNvSpPr/>
          <p:nvPr/>
        </p:nvSpPr>
        <p:spPr>
          <a:xfrm>
            <a:off x="571500" y="2620000"/>
            <a:ext cx="3000000" cy="1080000"/>
          </a:xfrm>
          <a:prstGeom prst="roundRect">
            <a:avLst>
              <a:gd name="adj" fmla="val 12000"/>
            </a:avLst>
          </a:prstGeom>
          <a:solidFill>
            <a:srgbClr val="5B4468"/>
          </a:solidFill>
          <a:ln w="25400">
            <a:solidFill>
              <a:srgbClr val="5B4468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BOIX; ACEMOGLU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AND ROBINSON</a:t>
            </a:r>
          </a:p>
        </p:txBody>
      </p:sp>
      <p:sp>
        <p:nvSpPr>
          <p:cNvPr id="529" name="Row 2 text"/>
          <p:cNvSpPr/>
          <p:nvPr/>
        </p:nvSpPr>
        <p:spPr>
          <a:xfrm>
            <a:off x="3771500" y="2620000"/>
            <a:ext cx="7849000" cy="1080000"/>
          </a:xfrm>
          <a:prstGeom prst="roundRect">
            <a:avLst>
              <a:gd name="adj" fmla="val 8000"/>
            </a:avLst>
          </a:prstGeom>
          <a:solidFill>
            <a:srgbClr val="FFF6F0"/>
          </a:solidFill>
          <a:ln w="19050">
            <a:solidFill>
              <a:srgbClr val="E2DCE6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21744"/>
                </a:solidFill>
                <a:latin typeface="Calibri"/>
                <a:cs typeface="Calibri"/>
              </a:rPr>
              <a:t>Good on when the vote gets extended, but unclear on backsliding</a:t>
            </a:r>
          </a:p>
        </p:txBody>
      </p:sp>
      <p:sp>
        <p:nvSpPr>
          <p:cNvPr id="530" name="Row 3 label"/>
          <p:cNvSpPr/>
          <p:nvPr/>
        </p:nvSpPr>
        <p:spPr>
          <a:xfrm>
            <a:off x="571500" y="3820000"/>
            <a:ext cx="3000000" cy="1080000"/>
          </a:xfrm>
          <a:prstGeom prst="roundRect">
            <a:avLst>
              <a:gd name="adj" fmla="val 12000"/>
            </a:avLst>
          </a:prstGeom>
          <a:solidFill>
            <a:srgbClr val="6B5478"/>
          </a:solidFill>
          <a:ln w="25400">
            <a:solidFill>
              <a:srgbClr val="6B5478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RUESCHEMEYER ET AL.;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PRZEWORSKI</a:t>
            </a:r>
          </a:p>
        </p:txBody>
      </p:sp>
      <p:sp>
        <p:nvSpPr>
          <p:cNvPr id="531" name="Row 3 text"/>
          <p:cNvSpPr/>
          <p:nvPr/>
        </p:nvSpPr>
        <p:spPr>
          <a:xfrm>
            <a:off x="3771500" y="3820000"/>
            <a:ext cx="7849000" cy="1080000"/>
          </a:xfrm>
          <a:prstGeom prst="roundRect">
            <a:avLst>
              <a:gd name="adj" fmla="val 8000"/>
            </a:avLst>
          </a:prstGeom>
          <a:solidFill>
            <a:srgbClr val="FFF6F0"/>
          </a:solidFill>
          <a:ln w="19050">
            <a:solidFill>
              <a:srgbClr val="E2DCE6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21744"/>
                </a:solidFill>
                <a:latin typeface="Calibri"/>
                <a:cs typeface="Calibri"/>
              </a:rPr>
              <a:t>Germany had Europe’s strongest labour movement. If that were sufficient why did it democratize late?</a:t>
            </a:r>
          </a:p>
        </p:txBody>
      </p:sp>
      <p:sp>
        <p:nvSpPr>
          <p:cNvPr id="532" name="Row 4 label"/>
          <p:cNvSpPr/>
          <p:nvPr/>
        </p:nvSpPr>
        <p:spPr>
          <a:xfrm>
            <a:off x="571500" y="5020000"/>
            <a:ext cx="3000000" cy="1080000"/>
          </a:xfrm>
          <a:prstGeom prst="roundRect">
            <a:avLst>
              <a:gd name="adj" fmla="val 12000"/>
            </a:avLst>
          </a:prstGeom>
          <a:solidFill>
            <a:srgbClr val="F3672A"/>
          </a:solidFill>
          <a:ln w="25400">
            <a:solidFill>
              <a:srgbClr val="F3672A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ZIBLATT</a:t>
            </a:r>
          </a:p>
        </p:txBody>
      </p:sp>
      <p:sp>
        <p:nvSpPr>
          <p:cNvPr id="533" name="Row 4 text"/>
          <p:cNvSpPr/>
          <p:nvPr/>
        </p:nvSpPr>
        <p:spPr>
          <a:xfrm>
            <a:off x="3771500" y="5020000"/>
            <a:ext cx="7849000" cy="1080000"/>
          </a:xfrm>
          <a:prstGeom prst="roundRect">
            <a:avLst>
              <a:gd name="adj" fmla="val 8000"/>
            </a:avLst>
          </a:prstGeom>
          <a:solidFill>
            <a:srgbClr val="FFF6F0"/>
          </a:solidFill>
          <a:ln w="19050">
            <a:solidFill>
              <a:srgbClr val="E2DCE6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21744"/>
                </a:solidFill>
                <a:latin typeface="Calibri"/>
                <a:cs typeface="Calibri"/>
              </a:rPr>
              <a:t>Built to explain exactly this divergence. Does it travel?</a:t>
            </a:r>
          </a:p>
        </p:txBody>
      </p:sp>
      <p:sp>
        <p:nvSpPr>
          <p:cNvPr id="534" name="Footnote"/>
          <p:cNvSpPr/>
          <p:nvPr/>
        </p:nvSpPr>
        <p:spPr>
          <a:xfrm>
            <a:off x="571500" y="6280000"/>
            <a:ext cx="11049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endParaRPr lang="en-US" sz="1400" i="1" dirty="0">
              <a:solidFill>
                <a:srgbClr val="5C5C5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" grpId="0" build="p"/>
      <p:bldP spid="530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the Review Essay Argues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Ziblatt, World Politics 58:2 (2006): 311–338, on four books</a:t>
            </a:r>
          </a:p>
          <a:p>
            <a:r>
              <a:t>His complaint: “the rich,” “the poor” are too abstract to be actors</a:t>
            </a:r>
          </a:p>
          <a:p>
            <a:r>
              <a:t>Real history has landlords, industrialists, officers, organisers</a:t>
            </a:r>
          </a:p>
          <a:p>
            <a:r>
              <a:t>The models explain arrival far better than survival</a:t>
            </a:r>
          </a:p>
          <a:p>
            <a:r>
              <a:t>Democracy’s first wave was “neither exceptional nor inevitable”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1918–19: Both Arrive, One Survives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Britain 1918: virtually all men at 21, women at 30 — 78% of adults</a:t>
            </a:r>
          </a:p>
          <a:p>
            <a:r>
              <a:rPr dirty="0"/>
              <a:t>Britain 1928: women at 21, on the same terms as men</a:t>
            </a:r>
          </a:p>
          <a:p>
            <a:r>
              <a:rPr dirty="0"/>
              <a:t>Germany, October 1918: the Chancellor answers to the Reichstag</a:t>
            </a:r>
          </a:p>
          <a:p>
            <a:r>
              <a:rPr dirty="0"/>
              <a:t>Germany 1919: men and women at 20, PR, an elected president</a:t>
            </a:r>
          </a:p>
          <a:p>
            <a:r>
              <a:rPr dirty="0"/>
              <a:t>On paper, Weimar was the more democratic of the two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Germany had the wider franchise and the stronger </a:t>
            </a:r>
            <a:r>
              <a:rPr lang="en-US" dirty="0"/>
              <a:t>L</a:t>
            </a:r>
            <a:r>
              <a:rPr dirty="0"/>
              <a:t>abour movement. Why was that not enough?</a:t>
            </a:r>
          </a:p>
          <a:p>
            <a:r>
              <a:rPr dirty="0"/>
              <a:t>Ziblatt says look at the right. Does that argument travel to the present?</a:t>
            </a:r>
            <a:endParaRPr lang="en-US" dirty="0"/>
          </a:p>
          <a:p>
            <a:pPr lvl="1"/>
            <a:r>
              <a:rPr lang="en-US" dirty="0"/>
              <a:t>Is the European populist right committed to democracy?</a:t>
            </a:r>
            <a:endParaRPr dirty="0"/>
          </a:p>
          <a:p>
            <a:r>
              <a:rPr dirty="0"/>
              <a:t>What do you call a country that holds real elections but whose government </a:t>
            </a:r>
            <a:r>
              <a:rPr lang="en-US" dirty="0"/>
              <a:t>is not responsive</a:t>
            </a:r>
            <a:r>
              <a:rPr dirty="0"/>
              <a:t>?</a:t>
            </a:r>
            <a:endParaRPr lang="en-US" dirty="0"/>
          </a:p>
          <a:p>
            <a:pPr lvl="1"/>
            <a:r>
              <a:rPr lang="en-US" dirty="0"/>
              <a:t>Who do ‘democratic’ countries answer to today? Why?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Go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Weimar </a:t>
            </a:r>
            <a:r>
              <a:rPr lang="en-US" dirty="0"/>
              <a:t>Republic only </a:t>
            </a:r>
            <a:r>
              <a:rPr dirty="0"/>
              <a:t>lasted fourteen years</a:t>
            </a:r>
            <a:r>
              <a:rPr lang="en-US" dirty="0"/>
              <a:t>; early European democracy was fragile! </a:t>
            </a:r>
            <a:endParaRPr dirty="0"/>
          </a:p>
          <a:p>
            <a:r>
              <a:rPr dirty="0"/>
              <a:t>Monday 8/31: interwar breakdown, and defending democracy costs</a:t>
            </a:r>
          </a:p>
          <a:p>
            <a:r>
              <a:rPr dirty="0"/>
              <a:t>11/23: </a:t>
            </a:r>
            <a:r>
              <a:rPr lang="en-US" dirty="0"/>
              <a:t>We return to the challenges of maintaining a democracy, now</a:t>
            </a:r>
            <a:r>
              <a:rPr dirty="0"/>
              <a:t> </a:t>
            </a:r>
            <a:r>
              <a:rPr lang="en-US" dirty="0"/>
              <a:t>in</a:t>
            </a:r>
            <a:r>
              <a:rPr dirty="0"/>
              <a:t> present, under the name democratic backsliding</a:t>
            </a:r>
          </a:p>
          <a:p>
            <a:r>
              <a:rPr dirty="0"/>
              <a:t>Keep Ziblatt’s question in </a:t>
            </a:r>
            <a:r>
              <a:rPr lang="en-US" dirty="0"/>
              <a:t>mind</a:t>
            </a:r>
            <a:r>
              <a:rPr dirty="0"/>
              <a:t> all semester: what does the losing side do when it loses?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Federal Republic of Clemson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Role preference survey is due Friday 8/28</a:t>
            </a:r>
          </a:p>
          <a:p>
            <a:r>
              <a:rPr lang="en-US" dirty="0"/>
              <a:t>Rank </a:t>
            </a:r>
            <a:r>
              <a:rPr dirty="0"/>
              <a:t>your preferences</a:t>
            </a:r>
            <a:r>
              <a:rPr lang="en-US" dirty="0"/>
              <a:t>, I will aim to give everyone a top-2 if possible</a:t>
            </a:r>
          </a:p>
          <a:p>
            <a:pPr lvl="1"/>
            <a:r>
              <a:rPr lang="en-US" dirty="0"/>
              <a:t>May be impossible…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47472"/>
            <a:ext cx="11155680" cy="566928"/>
          </a:xfrm>
        </p:spPr>
        <p:txBody>
          <a:bodyPr/>
          <a:lstStyle/>
          <a:p>
            <a:r>
              <a:rPr sz="2400" b="1">
                <a:solidFill>
                  <a:srgbClr val="321744"/>
                </a:solidFill>
                <a:latin typeface="Franklin Gothic Book"/>
              </a:rPr>
              <a:t>A Right That Could Not Win Fair Elections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Franklin Gothic Book"/>
              </a:rPr>
              <a:t>Same two parties, one year apart, under two sets of rules.  Hollow bars: share of votes — solid bars: share of seats.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321744"/>
                </a:solidFill>
                <a:latin typeface="Franklin Gothic Book"/>
              </a:rPr>
              <a:t>Reichstag, 1912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0136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6B6B"/>
                </a:solidFill>
                <a:latin typeface="Franklin Gothic Book"/>
              </a:rPr>
              <a:t>universal male suffrage  ·  secret ballot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423409"/>
            <a:ext cx="4892040" cy="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3726179"/>
            <a:ext cx="4892040" cy="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3028949"/>
            <a:ext cx="4892040" cy="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2331720"/>
            <a:ext cx="4892040" cy="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5120640"/>
            <a:ext cx="4892040" cy="0"/>
          </a:xfrm>
          <a:prstGeom prst="line">
            <a:avLst/>
          </a:prstGeom>
          <a:ln w="15875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449324" y="4541939"/>
            <a:ext cx="658368" cy="5787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9595" y="4212755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B6B6B"/>
                </a:solidFill>
                <a:latin typeface="Franklin Gothic Book"/>
              </a:rPr>
              <a:t>8.3%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9132" y="4402493"/>
            <a:ext cx="658368" cy="718146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9403" y="4073309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21744"/>
                </a:solidFill>
                <a:latin typeface="Franklin Gothic Book"/>
              </a:rPr>
              <a:t>10.3%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4732" y="521207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21744"/>
                </a:solidFill>
                <a:latin typeface="Franklin Gothic Book"/>
              </a:rPr>
              <a:t>Conservatives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3339" y="2694279"/>
            <a:ext cx="658368" cy="242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612" y="2365095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B6B6B"/>
                </a:solidFill>
                <a:latin typeface="Franklin Gothic Book"/>
              </a:rPr>
              <a:t>34.8%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3147" y="3189312"/>
            <a:ext cx="658368" cy="1931327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3419" y="286012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21744"/>
                </a:solidFill>
                <a:latin typeface="Franklin Gothic Book"/>
              </a:rPr>
              <a:t>27.7%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8747" y="521207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21744"/>
                </a:solidFill>
                <a:latin typeface="Franklin Gothic Book"/>
              </a:rPr>
              <a:t>SPD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4630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321744"/>
                </a:solidFill>
                <a:latin typeface="Franklin Gothic Book"/>
              </a:rPr>
              <a:t>Prussian Landtag, 1913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80136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6B6B"/>
                </a:solidFill>
                <a:latin typeface="Franklin Gothic Book"/>
              </a:rPr>
              <a:t>three-class franchise  ·  public voting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37960" y="4423409"/>
            <a:ext cx="4892040" cy="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37960" y="3726179"/>
            <a:ext cx="4892040" cy="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37960" y="3028949"/>
            <a:ext cx="4892040" cy="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37960" y="2331720"/>
            <a:ext cx="4892040" cy="0"/>
          </a:xfrm>
          <a:prstGeom prst="line">
            <a:avLst/>
          </a:prstGeom>
          <a:ln w="12700">
            <a:solidFill>
              <a:srgbClr val="E8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37960" y="5120640"/>
            <a:ext cx="4892040" cy="0"/>
          </a:xfrm>
          <a:prstGeom prst="line">
            <a:avLst/>
          </a:prstGeom>
          <a:ln w="15875">
            <a:solidFill>
              <a:srgbClr val="6B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072884" y="4088739"/>
            <a:ext cx="658368" cy="10319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3156" y="3759555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B6B6B"/>
                </a:solidFill>
                <a:latin typeface="Franklin Gothic Book"/>
              </a:rPr>
              <a:t>14.8%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22692" y="2777947"/>
            <a:ext cx="658368" cy="2342692"/>
          </a:xfrm>
          <a:prstGeom prst="rect">
            <a:avLst/>
          </a:prstGeom>
          <a:solidFill>
            <a:srgbClr val="301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2963" y="2448763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21744"/>
                </a:solidFill>
                <a:latin typeface="Franklin Gothic Book"/>
              </a:rPr>
              <a:t>33.6%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8292" y="521207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21744"/>
                </a:solidFill>
                <a:latin typeface="Franklin Gothic Book"/>
              </a:rPr>
              <a:t>Conservatives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86900" y="3140506"/>
            <a:ext cx="658368" cy="1980133"/>
          </a:xfrm>
          <a:prstGeom prst="rect">
            <a:avLst/>
          </a:prstGeom>
          <a:solidFill>
            <a:srgbClr val="FFFFFF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7172" y="281132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B6B6B"/>
                </a:solidFill>
                <a:latin typeface="Franklin Gothic Book"/>
              </a:rPr>
              <a:t>28.4%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36708" y="4960277"/>
            <a:ext cx="658368" cy="160362"/>
          </a:xfrm>
          <a:prstGeom prst="rect">
            <a:avLst/>
          </a:prstGeom>
          <a:solidFill>
            <a:srgbClr val="F36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6980" y="4631093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21744"/>
                </a:solidFill>
                <a:latin typeface="Franklin Gothic Book"/>
              </a:rPr>
              <a:t>2.3%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2308" y="521207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21744"/>
                </a:solidFill>
                <a:latin typeface="Franklin Gothic Book"/>
              </a:rPr>
              <a:t>SPD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" y="63093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6B6B"/>
                </a:solidFill>
                <a:latin typeface="Franklin Gothic Book"/>
              </a:rPr>
              <a:t>Seats: 41 and 110 of 397 (Reichstag); 149 and 10 of 443 (Prussia). Prussian shares are primary-elector votes; a first-class vote weighed about ten times a third-class vote.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F3A67B4-7677-6D48-8A23-307ED2182D5F}" vid="{2DDAFCB2-C0F4-134B-95C2-A0AF19CD5CF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5B7E29D531854B94AF162BA5E34C01" ma:contentTypeVersion="7" ma:contentTypeDescription="Create a new document." ma:contentTypeScope="" ma:versionID="a2d9ab3b17afba22fc6238f31afd41c4">
  <xsd:schema xmlns:xsd="http://www.w3.org/2001/XMLSchema" xmlns:xs="http://www.w3.org/2001/XMLSchema" xmlns:p="http://schemas.microsoft.com/office/2006/metadata/properties" xmlns:ns2="a715ae59-2f24-4114-8440-5cd12e181661" targetNamespace="http://schemas.microsoft.com/office/2006/metadata/properties" ma:root="true" ma:fieldsID="5637070ca8fd4ee77d34cf4d1beb725d" ns2:_="">
    <xsd:import namespace="a715ae59-2f24-4114-8440-5cd12e1816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5ae59-2f24-4114-8440-5cd12e1816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2C7DAE-7229-4980-9A9B-F34468D09F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0DAE83-54CE-43D5-92CC-2BDDDDCC19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15ae59-2f24-4114-8440-5cd12e1816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780447-5855-4BB0-83B6-5A98EE7B0F8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1486</TotalTime>
  <Words>1251</Words>
  <Application>Microsoft Macintosh PowerPoint</Application>
  <PresentationFormat>Widescreen</PresentationFormat>
  <Paragraphs>139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Franklin Gothic Book</vt:lpstr>
      <vt:lpstr>Franklin Gothic Medium Cond</vt:lpstr>
      <vt:lpstr>Sabon Next LT</vt:lpstr>
      <vt:lpstr>Office Theme</vt:lpstr>
      <vt:lpstr>POSC 3710: European Politics </vt:lpstr>
      <vt:lpstr>Where We Left Off</vt:lpstr>
      <vt:lpstr>Opening Discussion</vt:lpstr>
      <vt:lpstr>What Counts as a Democracy?</vt:lpstr>
      <vt:lpstr>Who could vote in 1912?</vt:lpstr>
      <vt:lpstr>Two Questions, Not One</vt:lpstr>
      <vt:lpstr>How did we get here?</vt:lpstr>
      <vt:lpstr>How Did Europe Democratize (1)? </vt:lpstr>
      <vt:lpstr>How did Europe Democratize (2)?</vt:lpstr>
      <vt:lpstr>How did Europe Democratize (3)?</vt:lpstr>
      <vt:lpstr>How did Europe Democratize (4)?</vt:lpstr>
      <vt:lpstr>Britain: Eighty-Six Years, Four Acts</vt:lpstr>
      <vt:lpstr>Why Britain’s Right Could Live With Democracy</vt:lpstr>
      <vt:lpstr>Germany: The Vote Without the Power</vt:lpstr>
      <vt:lpstr>The Prussian Three-Class Franchise</vt:lpstr>
      <vt:lpstr>What That Bought, 1913</vt:lpstr>
      <vt:lpstr>A Right That Could Not Win Elections</vt:lpstr>
      <vt:lpstr>The Scorecard</vt:lpstr>
      <vt:lpstr>What the Review Essay Argues</vt:lpstr>
      <vt:lpstr>1918–19: Both Arrive, One Survives</vt:lpstr>
      <vt:lpstr>Discussion</vt:lpstr>
      <vt:lpstr>Where We Go Next</vt:lpstr>
      <vt:lpstr>The Federal Republic of Clemson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William Horne</dc:creator>
  <cp:lastModifiedBy>Will Horne</cp:lastModifiedBy>
  <cp:revision>16</cp:revision>
  <dcterms:created xsi:type="dcterms:W3CDTF">2025-01-14T20:27:56Z</dcterms:created>
  <dcterms:modified xsi:type="dcterms:W3CDTF">2026-08-26T16:26:57Z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0x010100555B7E29D531854B94AF162BA5E34C01</vt:lpwstr>
  </property>
</Properties>
</file>