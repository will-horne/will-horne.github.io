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600"/>
    <a:srgbClr val="2E1946"/>
    <a:srgbClr val="004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223"/>
    <p:restoredTop sz="79599"/>
  </p:normalViewPr>
  <p:slideViewPr>
    <p:cSldViewPr snapToGrid="0">
      <p:cViewPr varScale="1">
        <p:scale>
          <a:sx n="73" d="100"/>
          <a:sy n="73" d="100"/>
        </p:scale>
        <p:origin x="208" y="5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41" d="100"/>
          <a:sy n="141" d="100"/>
        </p:scale>
        <p:origin x="624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29C96F-1000-C65C-C46A-DA14851133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95355-E84A-6573-5549-851D4ADC6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BFA5A5-83E0-C843-A833-1581F35400C2}" type="datetimeFigureOut">
              <a:rPr lang="en-US" smtClean="0"/>
              <a:t>10/26/26</a:t>
            </a:fld>
            <a:endParaRPr lang="en-US"/>
          </a:p>
        </p:txBody>
      </p:sp>
      <p:sp>
        <p:nvSpPr>
          <p:cNvPr id="4" name="Footer Placeholder 3">
            <a:extLst>
              <a:ext uri="{FF2B5EF4-FFF2-40B4-BE49-F238E27FC236}">
                <a16:creationId xmlns:a16="http://schemas.microsoft.com/office/drawing/2014/main" id="{3B227B71-4299-2D9E-4AB0-081BE29BB1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63D7D83-DAF8-7574-6FD2-27143710F8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8934A6-1BE6-7D49-B4FB-2D04BF75834E}" type="slidenum">
              <a:rPr lang="en-US" smtClean="0"/>
              <a:t>‹#›</a:t>
            </a:fld>
            <a:endParaRPr lang="en-US"/>
          </a:p>
        </p:txBody>
      </p:sp>
    </p:spTree>
    <p:extLst>
      <p:ext uri="{BB962C8B-B14F-4D97-AF65-F5344CB8AC3E}">
        <p14:creationId xmlns:p14="http://schemas.microsoft.com/office/powerpoint/2010/main" val="40131333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2DEE5-9574-204D-9FB1-AE984D3E7C31}" type="datetimeFigureOut">
              <a:rPr lang="en-US" smtClean="0"/>
              <a:t>10/26/26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36EDD-184B-404C-BDB7-A0B1EB463AAB}" type="slidenum">
              <a:rPr lang="en-US" smtClean="0"/>
              <a:t>‹#›</a:t>
            </a:fld>
            <a:endParaRPr lang="en-US"/>
          </a:p>
        </p:txBody>
      </p:sp>
    </p:spTree>
    <p:extLst>
      <p:ext uri="{BB962C8B-B14F-4D97-AF65-F5344CB8AC3E}">
        <p14:creationId xmlns:p14="http://schemas.microsoft.com/office/powerpoint/2010/main" val="515602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D36EDD-184B-404C-BDB7-A0B1EB463AAB}" type="slidenum">
              <a:rPr lang="en-US" smtClean="0"/>
              <a:t>2</a:t>
            </a:fld>
            <a:endParaRPr lang="en-US"/>
          </a:p>
        </p:txBody>
      </p:sp>
    </p:spTree>
    <p:extLst>
      <p:ext uri="{BB962C8B-B14F-4D97-AF65-F5344CB8AC3E}">
        <p14:creationId xmlns:p14="http://schemas.microsoft.com/office/powerpoint/2010/main" val="2478999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D36EDD-184B-404C-BDB7-A0B1EB463AAB}" type="slidenum">
              <a:rPr lang="en-US" smtClean="0"/>
              <a:t>5</a:t>
            </a:fld>
            <a:endParaRPr lang="en-US"/>
          </a:p>
        </p:txBody>
      </p:sp>
    </p:spTree>
    <p:extLst>
      <p:ext uri="{BB962C8B-B14F-4D97-AF65-F5344CB8AC3E}">
        <p14:creationId xmlns:p14="http://schemas.microsoft.com/office/powerpoint/2010/main" val="4692303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icture containing orange, yellow, bright&#10;&#10;Description automatically generated">
            <a:extLst>
              <a:ext uri="{FF2B5EF4-FFF2-40B4-BE49-F238E27FC236}">
                <a16:creationId xmlns:a16="http://schemas.microsoft.com/office/drawing/2014/main" id="{E9FCEB86-C289-BAE5-F910-E0FA7B1DD4A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968ABF-4D01-3D46-DD50-05AAEA7E7CDB}"/>
              </a:ext>
            </a:extLst>
          </p:cNvPr>
          <p:cNvSpPr>
            <a:spLocks noGrp="1"/>
          </p:cNvSpPr>
          <p:nvPr>
            <p:ph type="ctrTitle" hasCustomPrompt="1"/>
          </p:nvPr>
        </p:nvSpPr>
        <p:spPr>
          <a:xfrm>
            <a:off x="1524000" y="1122363"/>
            <a:ext cx="9144000" cy="2387600"/>
          </a:xfrm>
        </p:spPr>
        <p:txBody>
          <a:bodyPr anchor="b"/>
          <a:lstStyle>
            <a:lvl1pPr algn="l">
              <a:defRPr sz="6000" b="1" i="0">
                <a:solidFill>
                  <a:srgbClr val="2E1946"/>
                </a:solidFill>
                <a:latin typeface="Sabon Next LT" panose="02000500000000000000" pitchFamily="2" charset="0"/>
                <a:cs typeface="Sabon Next LT" panose="02000500000000000000" pitchFamily="2" charset="0"/>
              </a:defRPr>
            </a:lvl1pPr>
          </a:lstStyle>
          <a:p>
            <a:r>
              <a:rPr lang="en-US" dirty="0"/>
              <a:t>Click to add </a:t>
            </a:r>
            <a:br>
              <a:rPr lang="en-US" dirty="0"/>
            </a:br>
            <a:r>
              <a:rPr lang="en-US" dirty="0"/>
              <a:t>Presentation Title</a:t>
            </a:r>
          </a:p>
        </p:txBody>
      </p:sp>
      <p:sp>
        <p:nvSpPr>
          <p:cNvPr id="3" name="Subtitle 2">
            <a:extLst>
              <a:ext uri="{FF2B5EF4-FFF2-40B4-BE49-F238E27FC236}">
                <a16:creationId xmlns:a16="http://schemas.microsoft.com/office/drawing/2014/main" id="{896B38C7-61C8-6264-1ABC-076BA3522294}"/>
              </a:ext>
            </a:extLst>
          </p:cNvPr>
          <p:cNvSpPr>
            <a:spLocks noGrp="1"/>
          </p:cNvSpPr>
          <p:nvPr>
            <p:ph type="subTitle" idx="1" hasCustomPrompt="1"/>
          </p:nvPr>
        </p:nvSpPr>
        <p:spPr>
          <a:xfrm>
            <a:off x="1524000" y="3602038"/>
            <a:ext cx="9144000" cy="1655762"/>
          </a:xfrm>
        </p:spPr>
        <p:txBody>
          <a:bodyPr>
            <a:normAutofit/>
          </a:bodyPr>
          <a:lstStyle>
            <a:lvl1pPr marL="0" indent="0" algn="l">
              <a:buNone/>
              <a:defRPr sz="1600" b="0" i="0" cap="all" spc="300" baseline="0">
                <a:solidFill>
                  <a:srgbClr val="2E1946"/>
                </a:solidFill>
                <a:latin typeface="Franklin Gothic Medium Cond" panose="020B06060304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Unit/Division and/or presenter’s name/title</a:t>
            </a:r>
          </a:p>
        </p:txBody>
      </p:sp>
      <p:pic>
        <p:nvPicPr>
          <p:cNvPr id="9" name="Picture 8" descr="Clemson logo">
            <a:extLst>
              <a:ext uri="{FF2B5EF4-FFF2-40B4-BE49-F238E27FC236}">
                <a16:creationId xmlns:a16="http://schemas.microsoft.com/office/drawing/2014/main" id="{8492A997-2520-187B-104E-CDFE0EF01BD1}"/>
              </a:ext>
            </a:extLst>
          </p:cNvPr>
          <p:cNvPicPr>
            <a:picLocks noChangeAspect="1"/>
          </p:cNvPicPr>
          <p:nvPr userDrawn="1"/>
        </p:nvPicPr>
        <p:blipFill>
          <a:blip r:embed="rId3"/>
          <a:stretch>
            <a:fillRect/>
          </a:stretch>
        </p:blipFill>
        <p:spPr>
          <a:xfrm>
            <a:off x="9218743" y="5626210"/>
            <a:ext cx="2829340" cy="1414670"/>
          </a:xfrm>
          <a:prstGeom prst="rect">
            <a:avLst/>
          </a:prstGeom>
        </p:spPr>
      </p:pic>
    </p:spTree>
    <p:extLst>
      <p:ext uri="{BB962C8B-B14F-4D97-AF65-F5344CB8AC3E}">
        <p14:creationId xmlns:p14="http://schemas.microsoft.com/office/powerpoint/2010/main" val="4002389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pic>
        <p:nvPicPr>
          <p:cNvPr id="7" name="Picture 6" descr="A picture containing text, orange&#10;&#10;Description automatically generated">
            <a:extLst>
              <a:ext uri="{FF2B5EF4-FFF2-40B4-BE49-F238E27FC236}">
                <a16:creationId xmlns:a16="http://schemas.microsoft.com/office/drawing/2014/main" id="{3218C5B7-1B48-9220-02FD-18EAA908CD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6B5D491-FFDD-12DC-F8B9-D44A9110D405}"/>
              </a:ext>
            </a:extLst>
          </p:cNvPr>
          <p:cNvSpPr>
            <a:spLocks noGrp="1"/>
          </p:cNvSpPr>
          <p:nvPr>
            <p:ph type="title" hasCustomPrompt="1"/>
          </p:nvPr>
        </p:nvSpPr>
        <p:spPr>
          <a:xfrm>
            <a:off x="838200" y="365126"/>
            <a:ext cx="10515600" cy="845608"/>
          </a:xfrm>
        </p:spPr>
        <p:txBody>
          <a:bodyPr/>
          <a:lstStyle>
            <a:lvl1pPr>
              <a:defRPr b="1" i="0">
                <a:solidFill>
                  <a:srgbClr val="2E1946"/>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3983C60D-E7A2-1FAA-6A9A-18C3F0788B1A}"/>
              </a:ext>
            </a:extLst>
          </p:cNvPr>
          <p:cNvSpPr>
            <a:spLocks noGrp="1"/>
          </p:cNvSpPr>
          <p:nvPr>
            <p:ph idx="1" hasCustomPrompt="1"/>
          </p:nvPr>
        </p:nvSpPr>
        <p:spPr>
          <a:xfrm>
            <a:off x="838200" y="1413933"/>
            <a:ext cx="10515600" cy="4309792"/>
          </a:xfrm>
        </p:spPr>
        <p:txBody>
          <a:bodyPr/>
          <a:lstStyle>
            <a:lvl1pPr>
              <a:defRPr b="0" i="0">
                <a:solidFill>
                  <a:srgbClr val="2E1946"/>
                </a:solidFill>
                <a:latin typeface="Franklin Gothic Book" panose="020B0503020102020204" pitchFamily="34" charset="0"/>
              </a:defRPr>
            </a:lvl1pPr>
            <a:lvl2pPr>
              <a:defRPr b="0" i="0">
                <a:solidFill>
                  <a:srgbClr val="2E1946"/>
                </a:solidFill>
                <a:latin typeface="Franklin Gothic Book" panose="020B0503020102020204" pitchFamily="34" charset="0"/>
              </a:defRPr>
            </a:lvl2pPr>
            <a:lvl3pPr>
              <a:defRPr b="0" i="0">
                <a:solidFill>
                  <a:srgbClr val="2E1946"/>
                </a:solidFill>
                <a:latin typeface="Franklin Gothic Book" panose="020B0503020102020204" pitchFamily="34" charset="0"/>
              </a:defRPr>
            </a:lvl3pPr>
            <a:lvl4pPr>
              <a:defRPr b="0" i="0">
                <a:solidFill>
                  <a:srgbClr val="2E1946"/>
                </a:solidFill>
                <a:latin typeface="Franklin Gothic Book" panose="020B0503020102020204" pitchFamily="34" charset="0"/>
              </a:defRPr>
            </a:lvl4pPr>
            <a:lvl5pPr>
              <a:defRPr b="0" i="0">
                <a:solidFill>
                  <a:srgbClr val="2E1946"/>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8970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B6E6D0E5-30B8-F707-1A18-C16C1DC5F4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838200" y="1831242"/>
            <a:ext cx="4736123" cy="2368306"/>
          </a:xfrm>
        </p:spPr>
        <p:txBody>
          <a:bodyPr anchor="t"/>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4" name="Content Placeholder 3">
            <a:extLst>
              <a:ext uri="{FF2B5EF4-FFF2-40B4-BE49-F238E27FC236}">
                <a16:creationId xmlns:a16="http://schemas.microsoft.com/office/drawing/2014/main" id="{C02514B4-B8D9-B783-92CA-1398173D2E17}"/>
              </a:ext>
            </a:extLst>
          </p:cNvPr>
          <p:cNvSpPr>
            <a:spLocks noGrp="1"/>
          </p:cNvSpPr>
          <p:nvPr>
            <p:ph sz="half" idx="2" hasCustomPrompt="1"/>
          </p:nvPr>
        </p:nvSpPr>
        <p:spPr>
          <a:xfrm>
            <a:off x="6172200" y="1825625"/>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8930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ft Content">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CE9A7DBE-E94F-11FE-B202-FED354F27875}"/>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0" name="Picture 9" descr="A picture containing sky, outdoor&#10;&#10;Description automatically generated">
            <a:extLst>
              <a:ext uri="{FF2B5EF4-FFF2-40B4-BE49-F238E27FC236}">
                <a16:creationId xmlns:a16="http://schemas.microsoft.com/office/drawing/2014/main" id="{F1B14EBB-2F19-A151-9C9E-3D3147237618}"/>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6225988" y="0"/>
            <a:ext cx="5966012"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644769" y="373918"/>
            <a:ext cx="5181600" cy="1542806"/>
          </a:xfrm>
        </p:spPr>
        <p:txBody>
          <a:bodyPr/>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AA6848D1-E40A-0169-72CA-57B7B3A4537D}"/>
              </a:ext>
            </a:extLst>
          </p:cNvPr>
          <p:cNvSpPr>
            <a:spLocks noGrp="1"/>
          </p:cNvSpPr>
          <p:nvPr>
            <p:ph sz="half" idx="1" hasCustomPrompt="1"/>
          </p:nvPr>
        </p:nvSpPr>
        <p:spPr>
          <a:xfrm>
            <a:off x="644769" y="2150330"/>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214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purple">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F2CC4E72-8006-C0E6-E5E0-5FEC7409108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49" y="1709738"/>
            <a:ext cx="10665057" cy="2852737"/>
          </a:xfrm>
        </p:spPr>
        <p:txBody>
          <a:bodyPr anchor="b">
            <a:normAutofit/>
          </a:bodyPr>
          <a:lstStyle>
            <a:lvl1pPr>
              <a:defRPr sz="6600" b="1" i="0">
                <a:solidFill>
                  <a:schemeClr val="bg1"/>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80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section ornage">
    <p:spTree>
      <p:nvGrpSpPr>
        <p:cNvPr id="1" name=""/>
        <p:cNvGrpSpPr/>
        <p:nvPr/>
      </p:nvGrpSpPr>
      <p:grpSpPr>
        <a:xfrm>
          <a:off x="0" y="0"/>
          <a:ext cx="0" cy="0"/>
          <a:chOff x="0" y="0"/>
          <a:chExt cx="0" cy="0"/>
        </a:xfrm>
      </p:grpSpPr>
      <p:pic>
        <p:nvPicPr>
          <p:cNvPr id="3" name="Picture 2" descr="A picture containing orange, yellow, bright&#10;&#10;Description automatically generated">
            <a:extLst>
              <a:ext uri="{FF2B5EF4-FFF2-40B4-BE49-F238E27FC236}">
                <a16:creationId xmlns:a16="http://schemas.microsoft.com/office/drawing/2014/main" id="{07D40A01-AAA7-1D91-B3D8-4DE65034923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50" y="1709738"/>
            <a:ext cx="10709662" cy="2852737"/>
          </a:xfrm>
        </p:spPr>
        <p:txBody>
          <a:bodyPr anchor="b">
            <a:normAutofit/>
          </a:bodyPr>
          <a:lstStyle>
            <a:lvl1pPr>
              <a:defRPr sz="6600" b="1" i="0">
                <a:solidFill>
                  <a:srgbClr val="2E1946"/>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28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oran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10/26/26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7B491ABA-1768-D306-08E1-704F99EE3F9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671816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87923E18-677B-DA18-379C-72DE7A6C2382}"/>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11606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Orange - paw">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10/26/26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descr="clemson tiger paw">
            <a:extLst>
              <a:ext uri="{FF2B5EF4-FFF2-40B4-BE49-F238E27FC236}">
                <a16:creationId xmlns:a16="http://schemas.microsoft.com/office/drawing/2014/main" id="{BABE5E18-0A7D-6738-AA9B-DF1C834AE10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BFA5162E-6C6D-4D42-4654-84BA23B0D46C}"/>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65433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urple - Pa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clemson tiger paw">
            <a:extLst>
              <a:ext uri="{FF2B5EF4-FFF2-40B4-BE49-F238E27FC236}">
                <a16:creationId xmlns:a16="http://schemas.microsoft.com/office/drawing/2014/main" id="{38594F7C-BC73-84BE-106F-7C6CA81D33F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455C7694-CA6D-1C42-3EDC-56CD2759BC7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744084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 arro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20BE7E-501E-6569-CA9C-A5BF6CDFD8D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B3F628C4-4CB5-F4A0-BBA3-9F4EBCE4D3C6}"/>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07188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hite - texture">
    <p:spTree>
      <p:nvGrpSpPr>
        <p:cNvPr id="1" name=""/>
        <p:cNvGrpSpPr/>
        <p:nvPr/>
      </p:nvGrpSpPr>
      <p:grpSpPr>
        <a:xfrm>
          <a:off x="0" y="0"/>
          <a:ext cx="0" cy="0"/>
          <a:chOff x="0" y="0"/>
          <a:chExt cx="0" cy="0"/>
        </a:xfrm>
      </p:grpSpPr>
      <p:pic>
        <p:nvPicPr>
          <p:cNvPr id="4" name="Picture 3" descr="A picture containing cloudy&#10;&#10;Description automatically generated">
            <a:extLst>
              <a:ext uri="{FF2B5EF4-FFF2-40B4-BE49-F238E27FC236}">
                <a16:creationId xmlns:a16="http://schemas.microsoft.com/office/drawing/2014/main" id="{2EC047A0-1136-7375-8BB3-BB258DE360D1}"/>
              </a:ext>
            </a:extLst>
          </p:cNvPr>
          <p:cNvPicPr>
            <a:picLocks noChangeAspect="1"/>
          </p:cNvPicPr>
          <p:nvPr userDrawn="1"/>
        </p:nvPicPr>
        <p:blipFill>
          <a:blip r:embed="rId2"/>
          <a:stretch>
            <a:fillRect/>
          </a:stretch>
        </p:blipFill>
        <p:spPr>
          <a:xfrm>
            <a:off x="3400" y="3048"/>
            <a:ext cx="12188600" cy="6858000"/>
          </a:xfrm>
          <a:prstGeom prst="rect">
            <a:avLst/>
          </a:prstGeom>
        </p:spPr>
      </p:pic>
      <p:sp>
        <p:nvSpPr>
          <p:cNvPr id="5" name="Title 1">
            <a:extLst>
              <a:ext uri="{FF2B5EF4-FFF2-40B4-BE49-F238E27FC236}">
                <a16:creationId xmlns:a16="http://schemas.microsoft.com/office/drawing/2014/main" id="{26EDC1F1-6562-EE88-8B6C-254F9F3FFE20}"/>
              </a:ext>
            </a:extLst>
          </p:cNvPr>
          <p:cNvSpPr>
            <a:spLocks noGrp="1"/>
          </p:cNvSpPr>
          <p:nvPr>
            <p:ph type="title" hasCustomPrompt="1"/>
          </p:nvPr>
        </p:nvSpPr>
        <p:spPr>
          <a:xfrm>
            <a:off x="0" y="-379080"/>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7745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5CCEF-8DA5-EF9F-63FD-5F01C214F6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B2B8550-F7BB-8CD4-BFDC-64295DB6E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7620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3" r:id="rId4"/>
    <p:sldLayoutId id="2147483651" r:id="rId5"/>
    <p:sldLayoutId id="2147483662" r:id="rId6"/>
    <p:sldLayoutId id="2147483655" r:id="rId7"/>
    <p:sldLayoutId id="2147483666" r:id="rId8"/>
    <p:sldLayoutId id="2147483660" r:id="rId9"/>
    <p:sldLayoutId id="2147483667" r:id="rId10"/>
    <p:sldLayoutId id="2147483664" r:id="rId11"/>
    <p:sldLayoutId id="2147483665" r:id="rId12"/>
  </p:sldLayoutIdLst>
  <p:txStyles>
    <p:titleStyle>
      <a:lvl1pPr algn="l" defTabSz="914400" rtl="0" eaLnBrk="1" latinLnBrk="0" hangingPunct="1">
        <a:lnSpc>
          <a:spcPct val="90000"/>
        </a:lnSpc>
        <a:spcBef>
          <a:spcPct val="0"/>
        </a:spcBef>
        <a:buNone/>
        <a:defRPr sz="4400" b="1" i="0" kern="1200">
          <a:solidFill>
            <a:schemeClr val="tx1"/>
          </a:solidFill>
          <a:latin typeface="Sabon Next LT" panose="02000500000000000000" pitchFamily="2" charset="0"/>
          <a:ea typeface="+mj-ea"/>
          <a:cs typeface="Sabon Next LT" panose="02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POSC 3710: European Politics</a:t>
            </a:r>
          </a:p>
        </p:txBody>
      </p:sp>
      <p:sp>
        <p:nvSpPr>
          <p:cNvPr id="3" name="Subtitle 2"/>
          <p:cNvSpPr>
            <a:spLocks noGrp="1"/>
          </p:cNvSpPr>
          <p:nvPr>
            <p:ph type="subTitle" idx="1"/>
          </p:nvPr>
        </p:nvSpPr>
        <p:spPr/>
        <p:txBody>
          <a:bodyPr/>
          <a:lstStyle/>
          <a:p>
            <a:r>
              <a:t>10/26/2026: How Governments Form</a:t>
            </a:r>
          </a:p>
          <a:p>
            <a:r>
              <a:t>Dr. Will Horne</a:t>
            </a:r>
          </a:p>
          <a:p>
            <a:r>
              <a:t>Clemson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Happening Now: Sweden</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Happening now: Sweden is waiting for a government</a:t>
            </a:r>
          </a:p>
        </p:txBody>
      </p:sp>
      <p:sp>
        <p:nvSpPr>
          <p:cNvPr id="5" name="Strip title"/>
          <p:cNvSpPr/>
          <p:nvPr/>
        </p:nvSpPr>
        <p:spPr>
          <a:xfrm>
            <a:off x="457200" y="1143000"/>
            <a:ext cx="74066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350" b="1" i="0">
                <a:solidFill>
                  <a:srgbClr val="5C5C5C"/>
                </a:solidFill>
                <a:latin typeface="Calibri"/>
                <a:cs typeface="Calibri"/>
              </a:rPr>
              <a:t>The Riksdag elected on September 13, 2026: 349 seats</a:t>
            </a:r>
          </a:p>
        </p:txBody>
      </p:sp>
      <p:sp>
        <p:nvSpPr>
          <p:cNvPr id="6" name="Riksdag The left bloc"/>
          <p:cNvSpPr/>
          <p:nvPr/>
        </p:nvSpPr>
        <p:spPr>
          <a:xfrm>
            <a:off x="457200" y="1463040"/>
            <a:ext cx="3735154" cy="731520"/>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700" b="1" i="0">
                <a:solidFill>
                  <a:srgbClr val="FFFFFF"/>
                </a:solidFill>
                <a:latin typeface="Calibri"/>
                <a:cs typeface="Calibri"/>
              </a:rPr>
              <a:t>The left bloc</a:t>
            </a:r>
          </a:p>
          <a:p>
            <a:pPr marL="0" indent="0" algn="ctr">
              <a:buNone/>
            </a:pPr>
            <a:r>
              <a:rPr sz="1500" b="0" i="0">
                <a:solidFill>
                  <a:srgbClr val="FFFFFF"/>
                </a:solidFill>
                <a:latin typeface="Calibri"/>
                <a:cs typeface="Calibri"/>
              </a:rPr>
              <a:t>176</a:t>
            </a:r>
          </a:p>
        </p:txBody>
      </p:sp>
      <p:sp>
        <p:nvSpPr>
          <p:cNvPr id="7" name="Riksdag The right bloc"/>
          <p:cNvSpPr/>
          <p:nvPr/>
        </p:nvSpPr>
        <p:spPr>
          <a:xfrm>
            <a:off x="4192354" y="1463040"/>
            <a:ext cx="3671486" cy="731520"/>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700" b="1" i="0">
                <a:solidFill>
                  <a:srgbClr val="FFFFFF"/>
                </a:solidFill>
                <a:latin typeface="Calibri"/>
                <a:cs typeface="Calibri"/>
              </a:rPr>
              <a:t>The right bloc</a:t>
            </a:r>
          </a:p>
          <a:p>
            <a:pPr marL="0" indent="0" algn="ctr">
              <a:buNone/>
            </a:pPr>
            <a:r>
              <a:rPr sz="1500" b="0" i="0">
                <a:solidFill>
                  <a:srgbClr val="FFFFFF"/>
                </a:solidFill>
                <a:latin typeface="Calibri"/>
                <a:cs typeface="Calibri"/>
              </a:rPr>
              <a:t>173</a:t>
            </a:r>
          </a:p>
        </p:txBody>
      </p:sp>
      <p:sp>
        <p:nvSpPr>
          <p:cNvPr id="8" name="Left bloc parties"/>
          <p:cNvSpPr/>
          <p:nvPr/>
        </p:nvSpPr>
        <p:spPr>
          <a:xfrm>
            <a:off x="457200" y="2221992"/>
            <a:ext cx="3735154"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marL="0" indent="0" algn="ctr">
              <a:buNone/>
            </a:pPr>
            <a:r>
              <a:rPr sz="1250" b="0" i="0">
                <a:solidFill>
                  <a:srgbClr val="321744"/>
                </a:solidFill>
                <a:latin typeface="Calibri"/>
                <a:cs typeface="Calibri"/>
              </a:rPr>
              <a:t>Social Democrats, Left Party, Greens, Centre Party</a:t>
            </a:r>
          </a:p>
        </p:txBody>
      </p:sp>
      <p:sp>
        <p:nvSpPr>
          <p:cNvPr id="9" name="Right bloc parties"/>
          <p:cNvSpPr/>
          <p:nvPr/>
        </p:nvSpPr>
        <p:spPr>
          <a:xfrm>
            <a:off x="4192354" y="2221992"/>
            <a:ext cx="3671486"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marL="0" indent="0" algn="ctr">
              <a:buNone/>
            </a:pPr>
            <a:r>
              <a:rPr sz="1250" b="0" i="0">
                <a:solidFill>
                  <a:srgbClr val="321744"/>
                </a:solidFill>
                <a:latin typeface="Calibri"/>
                <a:cs typeface="Calibri"/>
              </a:rPr>
              <a:t>Moderates, Sweden Democrats, Christian Democrats, Liberals</a:t>
            </a:r>
          </a:p>
        </p:txBody>
      </p:sp>
      <p:sp>
        <p:nvSpPr>
          <p:cNvPr id="10" name="Sweden card 1"/>
          <p:cNvSpPr/>
          <p:nvPr/>
        </p:nvSpPr>
        <p:spPr>
          <a:xfrm>
            <a:off x="457200" y="2834640"/>
            <a:ext cx="3639312" cy="237744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weden card 1 header"/>
          <p:cNvSpPr/>
          <p:nvPr/>
        </p:nvSpPr>
        <p:spPr>
          <a:xfrm>
            <a:off x="457200" y="2834640"/>
            <a:ext cx="3639312" cy="41148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weden card 1 header text"/>
          <p:cNvSpPr/>
          <p:nvPr/>
        </p:nvSpPr>
        <p:spPr>
          <a:xfrm>
            <a:off x="457200" y="2834640"/>
            <a:ext cx="3639312"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WHY 176 IS NOT ENOUGH</a:t>
            </a:r>
          </a:p>
        </p:txBody>
      </p:sp>
      <p:sp>
        <p:nvSpPr>
          <p:cNvPr id="13" name="Sweden card 1 text"/>
          <p:cNvSpPr/>
          <p:nvPr/>
        </p:nvSpPr>
        <p:spPr>
          <a:xfrm>
            <a:off x="630936" y="3319272"/>
            <a:ext cx="3291840"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800"/>
              </a:spcAft>
              <a:buFont typeface="Arial"/>
              <a:buChar char="•"/>
            </a:pPr>
            <a:r>
              <a:rPr sz="1600" b="0" i="0">
                <a:solidFill>
                  <a:srgbClr val="321744"/>
                </a:solidFill>
                <a:latin typeface="Calibri"/>
                <a:cs typeface="Calibri"/>
              </a:rPr>
              <a:t>The Centre Party will not back a government that depends on the far left</a:t>
            </a:r>
          </a:p>
          <a:p>
            <a:pPr marL="171450" indent="-171450" algn="l">
              <a:spcAft>
                <a:spcPts val="800"/>
              </a:spcAft>
              <a:buFont typeface="Arial"/>
              <a:buChar char="•"/>
            </a:pPr>
            <a:r>
              <a:rPr sz="1600" b="0" i="0">
                <a:solidFill>
                  <a:srgbClr val="321744"/>
                </a:solidFill>
                <a:latin typeface="Calibri"/>
                <a:cs typeface="Calibri"/>
              </a:rPr>
              <a:t>The Left Party wants seats in the cabinet</a:t>
            </a:r>
          </a:p>
        </p:txBody>
      </p:sp>
      <p:sp>
        <p:nvSpPr>
          <p:cNvPr id="14" name="Sweden card 2"/>
          <p:cNvSpPr/>
          <p:nvPr/>
        </p:nvSpPr>
        <p:spPr>
          <a:xfrm>
            <a:off x="4224528" y="2834640"/>
            <a:ext cx="3639312" cy="237744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weden card 2 header"/>
          <p:cNvSpPr/>
          <p:nvPr/>
        </p:nvSpPr>
        <p:spPr>
          <a:xfrm>
            <a:off x="4224528" y="2834640"/>
            <a:ext cx="3639312" cy="41148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weden card 2 header text"/>
          <p:cNvSpPr/>
          <p:nvPr/>
        </p:nvSpPr>
        <p:spPr>
          <a:xfrm>
            <a:off x="4224528" y="2834640"/>
            <a:ext cx="3639312"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lang="en-US" sz="1400" b="1" i="0" dirty="0">
                <a:solidFill>
                  <a:srgbClr val="FFFFFF"/>
                </a:solidFill>
                <a:latin typeface="Calibri"/>
                <a:cs typeface="Calibri"/>
              </a:rPr>
              <a:t>Rules</a:t>
            </a:r>
            <a:endParaRPr sz="1400" b="1" i="0" dirty="0">
              <a:solidFill>
                <a:srgbClr val="FFFFFF"/>
              </a:solidFill>
              <a:latin typeface="Calibri"/>
              <a:cs typeface="Calibri"/>
            </a:endParaRPr>
          </a:p>
        </p:txBody>
      </p:sp>
      <p:sp>
        <p:nvSpPr>
          <p:cNvPr id="17" name="Sweden card 2 text"/>
          <p:cNvSpPr/>
          <p:nvPr/>
        </p:nvSpPr>
        <p:spPr>
          <a:xfrm>
            <a:off x="4398264" y="3319272"/>
            <a:ext cx="3291840"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800"/>
              </a:spcAft>
              <a:buFont typeface="Arial"/>
              <a:buChar char="•"/>
            </a:pPr>
            <a:r>
              <a:rPr sz="1600" b="0" i="0" dirty="0">
                <a:solidFill>
                  <a:srgbClr val="321744"/>
                </a:solidFill>
                <a:latin typeface="Calibri"/>
                <a:cs typeface="Calibri"/>
              </a:rPr>
              <a:t>The speaker proposes a prime minister, who takes office unless 175 members vote no</a:t>
            </a:r>
          </a:p>
          <a:p>
            <a:pPr marL="171450" indent="-171450" algn="l">
              <a:spcAft>
                <a:spcPts val="800"/>
              </a:spcAft>
              <a:buFont typeface="Arial"/>
              <a:buChar char="•"/>
            </a:pPr>
            <a:r>
              <a:rPr sz="1600" b="0" i="0" dirty="0">
                <a:solidFill>
                  <a:srgbClr val="321744"/>
                </a:solidFill>
                <a:latin typeface="Calibri"/>
                <a:cs typeface="Calibri"/>
              </a:rPr>
              <a:t>Four failed proposals: a new election</a:t>
            </a:r>
          </a:p>
        </p:txBody>
      </p:sp>
      <p:sp>
        <p:nvSpPr>
          <p:cNvPr id="19" name="Image placeholder 1 text"/>
          <p:cNvSpPr/>
          <p:nvPr/>
        </p:nvSpPr>
        <p:spPr>
          <a:xfrm>
            <a:off x="8275320" y="1188720"/>
            <a:ext cx="3383280" cy="3017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400"/>
              </a:spcAft>
              <a:buNone/>
            </a:pPr>
            <a:r>
              <a:rPr sz="1100" b="1" i="0">
                <a:solidFill>
                  <a:srgbClr val="5C5C5C"/>
                </a:solidFill>
                <a:latin typeface="Calibri"/>
                <a:cs typeface="Calibri"/>
              </a:rPr>
              <a:t>IMAGE PLACEHOLDER</a:t>
            </a:r>
          </a:p>
          <a:p>
            <a:pPr marL="0" indent="0" algn="ctr">
              <a:spcAft>
                <a:spcPts val="400"/>
              </a:spcAft>
              <a:buNone/>
            </a:pPr>
            <a:r>
              <a:rPr sz="1350" b="0" i="0">
                <a:solidFill>
                  <a:srgbClr val="321744"/>
                </a:solidFill>
                <a:latin typeface="Calibri"/>
                <a:cs typeface="Calibri"/>
              </a:rPr>
              <a:t>Magdalena Andersson, leader of Sweden’s Social Democrats</a:t>
            </a:r>
          </a:p>
          <a:p>
            <a:pPr marL="0" indent="0" algn="ctr">
              <a:buNone/>
            </a:pPr>
            <a:r>
              <a:rPr sz="1000" b="0" i="1">
                <a:solidFill>
                  <a:srgbClr val="5C5C5C"/>
                </a:solidFill>
                <a:latin typeface="Calibri"/>
                <a:cs typeface="Calibri"/>
              </a:rPr>
              <a:t>Her Wikipedia page has an official portrait; or a news photo from September 28, 2026</a:t>
            </a:r>
          </a:p>
        </p:txBody>
      </p:sp>
      <p:sp>
        <p:nvSpPr>
          <p:cNvPr id="20" name="Photo caption"/>
          <p:cNvSpPr/>
          <p:nvPr/>
        </p:nvSpPr>
        <p:spPr>
          <a:xfrm>
            <a:off x="8183880" y="4297680"/>
            <a:ext cx="356616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l">
              <a:buNone/>
            </a:pPr>
            <a:r>
              <a:rPr sz="1250" b="0" i="1" dirty="0">
                <a:solidFill>
                  <a:srgbClr val="321744"/>
                </a:solidFill>
                <a:latin typeface="Calibri"/>
                <a:cs typeface="Calibri"/>
              </a:rPr>
              <a:t>Magdalena Andersson, leader of the Social Democrats and prime minister in 2021–22. On September 28 she gave up her first attempt to form a government.</a:t>
            </a:r>
            <a:r>
              <a:rPr lang="en-US" sz="1250" b="0" i="1" dirty="0">
                <a:solidFill>
                  <a:srgbClr val="321744"/>
                </a:solidFill>
                <a:latin typeface="Calibri"/>
                <a:cs typeface="Calibri"/>
              </a:rPr>
              <a:t> Lost a vote 10/15. </a:t>
            </a:r>
            <a:endParaRPr sz="1250" b="0" i="1" dirty="0">
              <a:solidFill>
                <a:srgbClr val="321744"/>
              </a:solidFill>
              <a:latin typeface="Calibri"/>
              <a:cs typeface="Calibri"/>
            </a:endParaRPr>
          </a:p>
        </p:txBody>
      </p:sp>
      <p:sp>
        <p:nvSpPr>
          <p:cNvPr id="22" name="Verdict question"/>
          <p:cNvSpPr/>
          <p:nvPr/>
        </p:nvSpPr>
        <p:spPr>
          <a:xfrm>
            <a:off x="640080" y="5367528"/>
            <a:ext cx="5513832"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800" b="1" i="0" dirty="0">
                <a:solidFill>
                  <a:srgbClr val="FFFFFF"/>
                </a:solidFill>
                <a:latin typeface="Calibri"/>
                <a:cs typeface="Calibri"/>
              </a:rPr>
              <a:t>Who is Sweden’s prime minister at Christmas?</a:t>
            </a:r>
          </a:p>
        </p:txBody>
      </p:sp>
      <p:sp>
        <p:nvSpPr>
          <p:cNvPr id="23" name="Verdict option 1"/>
          <p:cNvSpPr/>
          <p:nvPr/>
        </p:nvSpPr>
        <p:spPr>
          <a:xfrm>
            <a:off x="6245352" y="5495544"/>
            <a:ext cx="164592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endParaRPr sz="1600" b="1" i="0" dirty="0">
              <a:solidFill>
                <a:srgbClr val="321744"/>
              </a:solidFill>
              <a:latin typeface="Calibri"/>
              <a:cs typeface="Calibri"/>
            </a:endParaRPr>
          </a:p>
        </p:txBody>
      </p:sp>
      <p:sp>
        <p:nvSpPr>
          <p:cNvPr id="24" name="Verdict option 2"/>
          <p:cNvSpPr/>
          <p:nvPr/>
        </p:nvSpPr>
        <p:spPr>
          <a:xfrm>
            <a:off x="8028432" y="5495544"/>
            <a:ext cx="164592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endParaRPr sz="1600" b="1" i="0" dirty="0">
              <a:solidFill>
                <a:srgbClr val="321744"/>
              </a:solidFill>
              <a:latin typeface="Calibri"/>
              <a:cs typeface="Calibri"/>
            </a:endParaRPr>
          </a:p>
        </p:txBody>
      </p:sp>
      <p:sp>
        <p:nvSpPr>
          <p:cNvPr id="25" name="Verdict option 3"/>
          <p:cNvSpPr/>
          <p:nvPr/>
        </p:nvSpPr>
        <p:spPr>
          <a:xfrm>
            <a:off x="9811512" y="5495544"/>
            <a:ext cx="164592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endParaRPr sz="1600" b="1" i="0" dirty="0">
              <a:solidFill>
                <a:srgbClr val="321744"/>
              </a:solidFill>
              <a:latin typeface="Calibri"/>
              <a:cs typeface="Calibri"/>
            </a:endParaRPr>
          </a:p>
        </p:txBody>
      </p:sp>
      <p:sp>
        <p:nvSpPr>
          <p:cNvPr id="26" name="The latest"/>
          <p:cNvSpPr/>
          <p:nvPr/>
        </p:nvSpPr>
        <p:spPr>
          <a:xfrm>
            <a:off x="457200" y="6172200"/>
            <a:ext cx="1127455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400" b="1" i="0">
                <a:solidFill>
                  <a:srgbClr val="F3672A"/>
                </a:solidFill>
                <a:latin typeface="Calibri"/>
                <a:cs typeface="Calibri"/>
              </a:rPr>
              <a:t>The latest:</a:t>
            </a:r>
          </a:p>
        </p:txBody>
      </p:sp>
      <p:pic>
        <p:nvPicPr>
          <p:cNvPr id="21" name="Picture 20">
            <a:extLst>
              <a:ext uri="{FF2B5EF4-FFF2-40B4-BE49-F238E27FC236}">
                <a16:creationId xmlns:a16="http://schemas.microsoft.com/office/drawing/2014/main" id="{71F3E5A6-579C-93F0-6735-EFF86CA6CB9D}"/>
              </a:ext>
            </a:extLst>
          </p:cNvPr>
          <p:cNvPicPr>
            <a:picLocks noChangeAspect="1"/>
          </p:cNvPicPr>
          <p:nvPr/>
        </p:nvPicPr>
        <p:blipFill>
          <a:blip r:embed="rId3"/>
          <a:stretch>
            <a:fillRect/>
          </a:stretch>
        </p:blipFill>
        <p:spPr>
          <a:xfrm>
            <a:off x="8275320" y="939572"/>
            <a:ext cx="3383280" cy="3383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515600" cy="1188720"/>
          </a:xfrm>
        </p:spPr>
        <p:txBody>
          <a:bodyPr/>
          <a:lstStyle/>
          <a:p>
            <a:r>
              <a:t>Coalition Bargaining</a:t>
            </a:r>
          </a:p>
        </p:txBody>
      </p:sp>
      <p:sp>
        <p:nvSpPr>
          <p:cNvPr id="3" name="Content Placeholder 2"/>
          <p:cNvSpPr>
            <a:spLocks noGrp="1"/>
          </p:cNvSpPr>
          <p:nvPr>
            <p:ph idx="1"/>
          </p:nvPr>
        </p:nvSpPr>
        <p:spPr>
          <a:xfrm>
            <a:off x="685800" y="1691640"/>
            <a:ext cx="5806440" cy="4023360"/>
          </a:xfrm>
        </p:spPr>
        <p:txBody>
          <a:bodyPr/>
          <a:lstStyle/>
          <a:p>
            <a:r>
              <a:rPr sz="2000"/>
              <a:t>A party without a majority of the seats cannot elect a prime minister alone</a:t>
            </a:r>
          </a:p>
          <a:p>
            <a:r>
              <a:rPr sz="2000"/>
              <a:t>Usually the largest party gets the first chance to form a coalition</a:t>
            </a:r>
          </a:p>
          <a:p>
            <a:pPr lvl="1"/>
            <a:r>
              <a:rPr sz="1700"/>
              <a:t>If it fails, the next party tries</a:t>
            </a:r>
          </a:p>
          <a:p>
            <a:r>
              <a:rPr sz="2000"/>
              <a:t>Smaller parties bargain for specific concessions and specific ministries</a:t>
            </a:r>
          </a:p>
          <a:p>
            <a:r>
              <a:rPr sz="2000"/>
              <a:t>If no government can be formed, there is a new election</a:t>
            </a:r>
          </a:p>
        </p:txBody>
      </p:sp>
      <p:pic>
        <p:nvPicPr>
          <p:cNvPr id="4" name="Photo (Lecture 8a.pptx, slide 12, picture 1)" descr="image.jpg"/>
          <p:cNvPicPr>
            <a:picLocks noChangeAspect="1"/>
          </p:cNvPicPr>
          <p:nvPr/>
        </p:nvPicPr>
        <p:blipFill>
          <a:blip r:embed="rId2"/>
          <a:srcRect t="7411" b="15752"/>
          <a:stretch>
            <a:fillRect/>
          </a:stretch>
        </p:blipFill>
        <p:spPr>
          <a:xfrm>
            <a:off x="7483637" y="1737360"/>
            <a:ext cx="3457886" cy="3520440"/>
          </a:xfrm>
          <a:prstGeom prst="rect">
            <a:avLst/>
          </a:prstGeom>
        </p:spPr>
      </p:pic>
      <p:sp>
        <p:nvSpPr>
          <p:cNvPr id="5" name="Photo caption"/>
          <p:cNvSpPr/>
          <p:nvPr/>
        </p:nvSpPr>
        <p:spPr>
          <a:xfrm>
            <a:off x="6675120" y="5312664"/>
            <a:ext cx="507492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sz="1150" b="0" i="1">
                <a:solidFill>
                  <a:srgbClr val="321744"/>
                </a:solidFill>
                <a:latin typeface="Calibri"/>
                <a:cs typeface="Calibri"/>
              </a:rPr>
              <a:t>Pedro Sánchez, prime minister of Spain. In 2019 no government could be formed, and Spain voted twice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Accounts of Coalition Formation</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lang="en-US" sz="2800" b="1" i="0" dirty="0">
                <a:solidFill>
                  <a:srgbClr val="321744"/>
                </a:solidFill>
                <a:latin typeface="Calibri"/>
                <a:cs typeface="Calibri"/>
              </a:rPr>
              <a:t>Accounts </a:t>
            </a:r>
            <a:r>
              <a:rPr sz="2800" b="1" i="0" dirty="0">
                <a:solidFill>
                  <a:srgbClr val="321744"/>
                </a:solidFill>
                <a:latin typeface="Calibri"/>
                <a:cs typeface="Calibri"/>
              </a:rPr>
              <a:t>of how coalitions form</a:t>
            </a:r>
          </a:p>
        </p:txBody>
      </p:sp>
      <p:sp>
        <p:nvSpPr>
          <p:cNvPr id="5" name="Account 1"/>
          <p:cNvSpPr/>
          <p:nvPr/>
        </p:nvSpPr>
        <p:spPr>
          <a:xfrm>
            <a:off x="457200" y="1234440"/>
            <a:ext cx="3675888" cy="416052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ccount 1 header"/>
          <p:cNvSpPr/>
          <p:nvPr/>
        </p:nvSpPr>
        <p:spPr>
          <a:xfrm>
            <a:off x="457200" y="1234440"/>
            <a:ext cx="3675888" cy="50292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Account 1 header text"/>
          <p:cNvSpPr/>
          <p:nvPr/>
        </p:nvSpPr>
        <p:spPr>
          <a:xfrm>
            <a:off x="457200" y="1234440"/>
            <a:ext cx="36758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OFFICE</a:t>
            </a:r>
          </a:p>
        </p:txBody>
      </p:sp>
      <p:sp>
        <p:nvSpPr>
          <p:cNvPr id="8" name="Account 1 text"/>
          <p:cNvSpPr/>
          <p:nvPr/>
        </p:nvSpPr>
        <p:spPr>
          <a:xfrm>
            <a:off x="630936" y="1920240"/>
            <a:ext cx="3328416" cy="3364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200" b="1" i="0" dirty="0">
                <a:solidFill>
                  <a:srgbClr val="321744"/>
                </a:solidFill>
                <a:latin typeface="Calibri"/>
                <a:cs typeface="Calibri"/>
              </a:rPr>
              <a:t>Parties want power</a:t>
            </a:r>
          </a:p>
          <a:p>
            <a:pPr marL="171450" indent="-171450" algn="l">
              <a:spcAft>
                <a:spcPts val="1300"/>
              </a:spcAft>
              <a:buFont typeface="Arial"/>
              <a:buChar char="•"/>
            </a:pPr>
            <a:r>
              <a:rPr sz="1950" b="0" i="0" dirty="0">
                <a:solidFill>
                  <a:srgbClr val="321744"/>
                </a:solidFill>
                <a:latin typeface="Calibri"/>
                <a:cs typeface="Calibri"/>
              </a:rPr>
              <a:t>They build the smallest coalition that wins</a:t>
            </a:r>
          </a:p>
          <a:p>
            <a:pPr marL="171450" indent="-171450" algn="l">
              <a:spcAft>
                <a:spcPts val="1300"/>
              </a:spcAft>
              <a:buFont typeface="Arial"/>
              <a:buChar char="•"/>
            </a:pPr>
            <a:r>
              <a:rPr sz="1950" b="0" i="0" dirty="0">
                <a:solidFill>
                  <a:srgbClr val="321744"/>
                </a:solidFill>
                <a:latin typeface="Calibri"/>
                <a:cs typeface="Calibri"/>
              </a:rPr>
              <a:t>They split the cabinet in proportion to seats</a:t>
            </a:r>
          </a:p>
          <a:p>
            <a:pPr marL="171450" indent="-171450" algn="l">
              <a:spcAft>
                <a:spcPts val="1300"/>
              </a:spcAft>
              <a:buFont typeface="Arial"/>
              <a:buChar char="•"/>
            </a:pPr>
            <a:r>
              <a:rPr lang="en-US" sz="1950" b="0" i="0" dirty="0">
                <a:solidFill>
                  <a:srgbClr val="321744"/>
                </a:solidFill>
                <a:latin typeface="Calibri"/>
                <a:cs typeface="Calibri"/>
              </a:rPr>
              <a:t>Implication</a:t>
            </a:r>
            <a:r>
              <a:rPr lang="en-US" sz="1950" dirty="0">
                <a:solidFill>
                  <a:srgbClr val="321744"/>
                </a:solidFill>
                <a:latin typeface="Calibri"/>
                <a:cs typeface="Calibri"/>
              </a:rPr>
              <a:t>: Take </a:t>
            </a:r>
            <a:r>
              <a:rPr sz="1950" b="0" i="0" dirty="0">
                <a:solidFill>
                  <a:srgbClr val="321744"/>
                </a:solidFill>
                <a:latin typeface="Calibri"/>
                <a:cs typeface="Calibri"/>
              </a:rPr>
              <a:t>any party out, and the majority is gone</a:t>
            </a:r>
          </a:p>
        </p:txBody>
      </p:sp>
      <p:sp>
        <p:nvSpPr>
          <p:cNvPr id="9" name="Account 2"/>
          <p:cNvSpPr/>
          <p:nvPr/>
        </p:nvSpPr>
        <p:spPr>
          <a:xfrm>
            <a:off x="4261104" y="1234440"/>
            <a:ext cx="3675888" cy="416052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Account 2 header"/>
          <p:cNvSpPr/>
          <p:nvPr/>
        </p:nvSpPr>
        <p:spPr>
          <a:xfrm>
            <a:off x="4261104" y="1234440"/>
            <a:ext cx="3675888" cy="50292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Account 2 header text"/>
          <p:cNvSpPr/>
          <p:nvPr/>
        </p:nvSpPr>
        <p:spPr>
          <a:xfrm>
            <a:off x="4261104" y="1234440"/>
            <a:ext cx="36758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POLICY</a:t>
            </a:r>
          </a:p>
        </p:txBody>
      </p:sp>
      <p:sp>
        <p:nvSpPr>
          <p:cNvPr id="12" name="Account 2 text"/>
          <p:cNvSpPr/>
          <p:nvPr/>
        </p:nvSpPr>
        <p:spPr>
          <a:xfrm>
            <a:off x="4434840" y="1920240"/>
            <a:ext cx="3328416" cy="3364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200" b="1" i="0">
                <a:solidFill>
                  <a:srgbClr val="321744"/>
                </a:solidFill>
                <a:latin typeface="Calibri"/>
                <a:cs typeface="Calibri"/>
              </a:rPr>
              <a:t>Parties want policy</a:t>
            </a:r>
          </a:p>
          <a:p>
            <a:pPr marL="171450" indent="-171450" algn="l">
              <a:spcAft>
                <a:spcPts val="1300"/>
              </a:spcAft>
              <a:buFont typeface="Arial"/>
              <a:buChar char="•"/>
            </a:pPr>
            <a:r>
              <a:rPr sz="1950" b="0" i="0">
                <a:solidFill>
                  <a:srgbClr val="321744"/>
                </a:solidFill>
                <a:latin typeface="Calibri"/>
                <a:cs typeface="Calibri"/>
              </a:rPr>
              <a:t>They build coalitions of ideological neighbors</a:t>
            </a:r>
          </a:p>
          <a:p>
            <a:pPr marL="171450" indent="-171450" algn="l">
              <a:spcAft>
                <a:spcPts val="1300"/>
              </a:spcAft>
              <a:buFont typeface="Arial"/>
              <a:buChar char="•"/>
            </a:pPr>
            <a:r>
              <a:rPr sz="1950" b="0" i="0">
                <a:solidFill>
                  <a:srgbClr val="321744"/>
                </a:solidFill>
                <a:latin typeface="Calibri"/>
                <a:cs typeface="Calibri"/>
              </a:rPr>
              <a:t>The party in the middle sets the terms</a:t>
            </a:r>
          </a:p>
          <a:p>
            <a:pPr marL="171450" indent="-171450" algn="l">
              <a:spcAft>
                <a:spcPts val="1300"/>
              </a:spcAft>
              <a:buFont typeface="Arial"/>
              <a:buChar char="•"/>
            </a:pPr>
            <a:r>
              <a:rPr sz="1950" b="0" i="0">
                <a:solidFill>
                  <a:srgbClr val="321744"/>
                </a:solidFill>
                <a:latin typeface="Calibri"/>
                <a:cs typeface="Calibri"/>
              </a:rPr>
              <a:t>The test: the partners sit side by side, from left to right</a:t>
            </a:r>
          </a:p>
        </p:txBody>
      </p:sp>
      <p:sp>
        <p:nvSpPr>
          <p:cNvPr id="13" name="Account 3"/>
          <p:cNvSpPr/>
          <p:nvPr/>
        </p:nvSpPr>
        <p:spPr>
          <a:xfrm>
            <a:off x="8065008" y="1234440"/>
            <a:ext cx="3675888" cy="416052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Account 3 header"/>
          <p:cNvSpPr/>
          <p:nvPr/>
        </p:nvSpPr>
        <p:spPr>
          <a:xfrm>
            <a:off x="8065008" y="1234440"/>
            <a:ext cx="3675888" cy="50292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ccount 3 header text"/>
          <p:cNvSpPr/>
          <p:nvPr/>
        </p:nvSpPr>
        <p:spPr>
          <a:xfrm>
            <a:off x="8065008" y="1234440"/>
            <a:ext cx="36758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SOMETHING MESSIER</a:t>
            </a:r>
          </a:p>
        </p:txBody>
      </p:sp>
      <p:sp>
        <p:nvSpPr>
          <p:cNvPr id="16" name="Account 3 text"/>
          <p:cNvSpPr/>
          <p:nvPr/>
        </p:nvSpPr>
        <p:spPr>
          <a:xfrm>
            <a:off x="8238744" y="1920240"/>
            <a:ext cx="3328416" cy="3364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200" b="1" i="0" dirty="0">
                <a:solidFill>
                  <a:srgbClr val="321744"/>
                </a:solidFill>
                <a:latin typeface="Calibri"/>
                <a:cs typeface="Calibri"/>
              </a:rPr>
              <a:t>Neither explains it all</a:t>
            </a:r>
          </a:p>
          <a:p>
            <a:pPr marL="171450" indent="-171450" algn="l">
              <a:spcAft>
                <a:spcPts val="1300"/>
              </a:spcAft>
              <a:buFont typeface="Arial"/>
              <a:buChar char="•"/>
            </a:pPr>
            <a:r>
              <a:rPr sz="1950" b="0" i="0" dirty="0">
                <a:solidFill>
                  <a:srgbClr val="321744"/>
                </a:solidFill>
                <a:latin typeface="Calibri"/>
                <a:cs typeface="Calibri"/>
              </a:rPr>
              <a:t>Personalities, mistakes and deadlines</a:t>
            </a:r>
          </a:p>
          <a:p>
            <a:pPr marL="171450" indent="-171450" algn="l">
              <a:spcAft>
                <a:spcPts val="1300"/>
              </a:spcAft>
              <a:buFont typeface="Arial"/>
              <a:buChar char="•"/>
            </a:pPr>
            <a:r>
              <a:rPr sz="1950" b="0" i="0" dirty="0">
                <a:solidFill>
                  <a:srgbClr val="321744"/>
                </a:solidFill>
                <a:latin typeface="Calibri"/>
                <a:cs typeface="Calibri"/>
              </a:rPr>
              <a:t>Parties that refuse to sit with each other</a:t>
            </a:r>
          </a:p>
        </p:txBody>
      </p:sp>
      <p:sp>
        <p:nvSpPr>
          <p:cNvPr id="17" name="Footnote"/>
          <p:cNvSpPr/>
          <p:nvPr/>
        </p:nvSpPr>
        <p:spPr>
          <a:xfrm>
            <a:off x="457200" y="5532120"/>
            <a:ext cx="1127455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endParaRPr sz="1450" b="0" i="1" dirty="0">
              <a:solidFill>
                <a:srgbClr val="5C5C5C"/>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nodePh="1">
                                  <p:stCondLst>
                                    <p:cond delay="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Germany 2025: Build a Majority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endParaRPr sz="1250" b="1" i="0" dirty="0">
              <a:solidFill>
                <a:srgbClr val="F3672A"/>
              </a:solidFill>
              <a:latin typeface="Calibri"/>
              <a:cs typeface="Calibri"/>
            </a:endParaRP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Germany 2025: build a majority</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Stoeckel</a:t>
            </a:r>
          </a:p>
        </p:txBody>
      </p:sp>
      <p:sp>
        <p:nvSpPr>
          <p:cNvPr id="7" name="Task"/>
          <p:cNvSpPr/>
          <p:nvPr/>
        </p:nvSpPr>
        <p:spPr>
          <a:xfrm>
            <a:off x="457200" y="1005840"/>
            <a:ext cx="1127455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600" b="1" i="0" dirty="0">
                <a:solidFill>
                  <a:srgbClr val="321744"/>
                </a:solidFill>
                <a:latin typeface="Calibri"/>
                <a:cs typeface="Calibri"/>
              </a:rPr>
              <a:t>630 seats, so 316 make a majority. Which coalitions of neighbors get there?</a:t>
            </a:r>
          </a:p>
        </p:txBody>
      </p:sp>
      <p:sp>
        <p:nvSpPr>
          <p:cNvPr id="8" name="Left end"/>
          <p:cNvSpPr/>
          <p:nvPr/>
        </p:nvSpPr>
        <p:spPr>
          <a:xfrm>
            <a:off x="548640" y="1481328"/>
            <a:ext cx="1828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LEFT</a:t>
            </a:r>
          </a:p>
        </p:txBody>
      </p:sp>
      <p:sp>
        <p:nvSpPr>
          <p:cNvPr id="9" name="Right end"/>
          <p:cNvSpPr/>
          <p:nvPr/>
        </p:nvSpPr>
        <p:spPr>
          <a:xfrm>
            <a:off x="9784080" y="1481328"/>
            <a:ext cx="1828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r">
              <a:buNone/>
            </a:pPr>
            <a:r>
              <a:rPr sz="1150" b="1" i="0">
                <a:solidFill>
                  <a:srgbClr val="5C5C5C"/>
                </a:solidFill>
                <a:latin typeface="Calibri"/>
                <a:cs typeface="Calibri"/>
              </a:rPr>
              <a:t>RIGHT</a:t>
            </a:r>
          </a:p>
        </p:txBody>
      </p:sp>
      <p:sp>
        <p:nvSpPr>
          <p:cNvPr id="10" name="Bundestag The Left"/>
          <p:cNvSpPr/>
          <p:nvPr/>
        </p:nvSpPr>
        <p:spPr>
          <a:xfrm>
            <a:off x="548640" y="1755648"/>
            <a:ext cx="1123986" cy="822960"/>
          </a:xfrm>
          <a:prstGeom prst="rect">
            <a:avLst/>
          </a:prstGeom>
          <a:solidFill>
            <a:srgbClr val="B9AC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650" b="1" i="0">
                <a:solidFill>
                  <a:srgbClr val="321744"/>
                </a:solidFill>
                <a:latin typeface="Calibri"/>
                <a:cs typeface="Calibri"/>
              </a:rPr>
              <a:t>The Left</a:t>
            </a:r>
          </a:p>
          <a:p>
            <a:pPr marL="0" indent="0" algn="ctr">
              <a:buNone/>
            </a:pPr>
            <a:r>
              <a:rPr sz="1400" b="0" i="0">
                <a:solidFill>
                  <a:srgbClr val="321744"/>
                </a:solidFill>
                <a:latin typeface="Calibri"/>
                <a:cs typeface="Calibri"/>
              </a:rPr>
              <a:t>64</a:t>
            </a:r>
          </a:p>
        </p:txBody>
      </p:sp>
      <p:sp>
        <p:nvSpPr>
          <p:cNvPr id="11" name="Bundestag Greens"/>
          <p:cNvSpPr/>
          <p:nvPr/>
        </p:nvSpPr>
        <p:spPr>
          <a:xfrm>
            <a:off x="1672626" y="1755648"/>
            <a:ext cx="1492794" cy="822960"/>
          </a:xfrm>
          <a:prstGeom prst="rect">
            <a:avLst/>
          </a:prstGeom>
          <a:solidFill>
            <a:srgbClr val="F9C3A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650" b="1" i="0">
                <a:solidFill>
                  <a:srgbClr val="321744"/>
                </a:solidFill>
                <a:latin typeface="Calibri"/>
                <a:cs typeface="Calibri"/>
              </a:rPr>
              <a:t>Greens</a:t>
            </a:r>
          </a:p>
          <a:p>
            <a:pPr marL="0" indent="0" algn="ctr">
              <a:buNone/>
            </a:pPr>
            <a:r>
              <a:rPr sz="1400" b="0" i="0">
                <a:solidFill>
                  <a:srgbClr val="321744"/>
                </a:solidFill>
                <a:latin typeface="Calibri"/>
                <a:cs typeface="Calibri"/>
              </a:rPr>
              <a:t>85</a:t>
            </a:r>
          </a:p>
        </p:txBody>
      </p:sp>
      <p:sp>
        <p:nvSpPr>
          <p:cNvPr id="12" name="Bundestag SPD"/>
          <p:cNvSpPr/>
          <p:nvPr/>
        </p:nvSpPr>
        <p:spPr>
          <a:xfrm>
            <a:off x="3165421" y="1755648"/>
            <a:ext cx="2107474" cy="822960"/>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650" b="1" i="0">
                <a:solidFill>
                  <a:srgbClr val="FFFFFF"/>
                </a:solidFill>
                <a:latin typeface="Calibri"/>
                <a:cs typeface="Calibri"/>
              </a:rPr>
              <a:t>SPD</a:t>
            </a:r>
          </a:p>
          <a:p>
            <a:pPr marL="0" indent="0" algn="ctr">
              <a:buNone/>
            </a:pPr>
            <a:r>
              <a:rPr sz="1400" b="0" i="0">
                <a:solidFill>
                  <a:srgbClr val="FFFFFF"/>
                </a:solidFill>
                <a:latin typeface="Calibri"/>
                <a:cs typeface="Calibri"/>
              </a:rPr>
              <a:t>120</a:t>
            </a:r>
          </a:p>
        </p:txBody>
      </p:sp>
      <p:sp>
        <p:nvSpPr>
          <p:cNvPr id="13" name="Bundestag SSW"/>
          <p:cNvSpPr/>
          <p:nvPr/>
        </p:nvSpPr>
        <p:spPr>
          <a:xfrm>
            <a:off x="5272895" y="1755648"/>
            <a:ext cx="17562" cy="822960"/>
          </a:xfrm>
          <a:prstGeom prst="rect">
            <a:avLst/>
          </a:prstGeom>
          <a:solidFill>
            <a:srgbClr val="5C5C5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undestag CDU/CSU"/>
          <p:cNvSpPr/>
          <p:nvPr/>
        </p:nvSpPr>
        <p:spPr>
          <a:xfrm>
            <a:off x="5290457" y="1755648"/>
            <a:ext cx="3652955" cy="822960"/>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650" b="1" i="0">
                <a:solidFill>
                  <a:srgbClr val="FFFFFF"/>
                </a:solidFill>
                <a:latin typeface="Calibri"/>
                <a:cs typeface="Calibri"/>
              </a:rPr>
              <a:t>CDU/CSU</a:t>
            </a:r>
          </a:p>
          <a:p>
            <a:pPr marL="0" indent="0" algn="ctr">
              <a:buNone/>
            </a:pPr>
            <a:r>
              <a:rPr sz="1400" b="0" i="0">
                <a:solidFill>
                  <a:srgbClr val="FFFFFF"/>
                </a:solidFill>
                <a:latin typeface="Calibri"/>
                <a:cs typeface="Calibri"/>
              </a:rPr>
              <a:t>208</a:t>
            </a:r>
          </a:p>
        </p:txBody>
      </p:sp>
      <p:sp>
        <p:nvSpPr>
          <p:cNvPr id="15" name="Bundestag AfD"/>
          <p:cNvSpPr/>
          <p:nvPr/>
        </p:nvSpPr>
        <p:spPr>
          <a:xfrm>
            <a:off x="8943413" y="1755648"/>
            <a:ext cx="2669467" cy="822960"/>
          </a:xfrm>
          <a:prstGeom prst="rect">
            <a:avLst/>
          </a:prstGeom>
          <a:solidFill>
            <a:srgbClr val="5C5C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650" b="1" i="0">
                <a:solidFill>
                  <a:srgbClr val="FFFFFF"/>
                </a:solidFill>
                <a:latin typeface="Calibri"/>
                <a:cs typeface="Calibri"/>
              </a:rPr>
              <a:t>AfD</a:t>
            </a:r>
          </a:p>
          <a:p>
            <a:pPr marL="0" indent="0" algn="ctr">
              <a:buNone/>
            </a:pPr>
            <a:r>
              <a:rPr sz="1400" b="0" i="0">
                <a:solidFill>
                  <a:srgbClr val="FFFFFF"/>
                </a:solidFill>
                <a:latin typeface="Calibri"/>
                <a:cs typeface="Calibri"/>
              </a:rPr>
              <a:t>152</a:t>
            </a:r>
          </a:p>
        </p:txBody>
      </p:sp>
      <p:cxnSp>
        <p:nvCxnSpPr>
          <p:cNvPr id="16" name="Majority line"/>
          <p:cNvCxnSpPr/>
          <p:nvPr/>
        </p:nvCxnSpPr>
        <p:spPr>
          <a:xfrm>
            <a:off x="6080760" y="1463040"/>
            <a:ext cx="0" cy="3063240"/>
          </a:xfrm>
          <a:prstGeom prst="line">
            <a:avLst/>
          </a:prstGeom>
          <a:ln w="19050">
            <a:solidFill>
              <a:srgbClr val="321744"/>
            </a:solidFill>
            <a:prstDash val="dash"/>
          </a:ln>
        </p:spPr>
        <p:style>
          <a:lnRef idx="2">
            <a:schemeClr val="accent1"/>
          </a:lnRef>
          <a:fillRef idx="0">
            <a:schemeClr val="accent1"/>
          </a:fillRef>
          <a:effectRef idx="1">
            <a:schemeClr val="accent1"/>
          </a:effectRef>
          <a:fontRef idx="minor">
            <a:schemeClr val="tx1"/>
          </a:fontRef>
        </p:style>
      </p:cxnSp>
      <p:sp>
        <p:nvSpPr>
          <p:cNvPr id="17" name="Majority label"/>
          <p:cNvSpPr/>
          <p:nvPr/>
        </p:nvSpPr>
        <p:spPr>
          <a:xfrm>
            <a:off x="4343400" y="1426464"/>
            <a:ext cx="3474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1" i="0">
                <a:solidFill>
                  <a:srgbClr val="321744"/>
                </a:solidFill>
                <a:latin typeface="Calibri"/>
                <a:cs typeface="Calibri"/>
              </a:rPr>
              <a:t>316 seats</a:t>
            </a:r>
          </a:p>
        </p:txBody>
      </p:sp>
      <p:sp>
        <p:nvSpPr>
          <p:cNvPr id="18" name="Option 1"/>
          <p:cNvSpPr/>
          <p:nvPr/>
        </p:nvSpPr>
        <p:spPr>
          <a:xfrm>
            <a:off x="548640" y="2743200"/>
            <a:ext cx="4724255" cy="457200"/>
          </a:xfrm>
          <a:prstGeom prst="roundRect">
            <a:avLst>
              <a:gd name="adj" fmla="val 30000"/>
            </a:avLst>
          </a:prstGeom>
          <a:solidFill>
            <a:srgbClr val="B9ACC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rmAutofit/>
          </a:bodyPr>
          <a:lstStyle/>
          <a:p>
            <a:pPr marL="0" indent="0" algn="ctr">
              <a:buNone/>
            </a:pPr>
            <a:r>
              <a:rPr sz="1500" b="1" i="0">
                <a:solidFill>
                  <a:srgbClr val="321744"/>
                </a:solidFill>
                <a:latin typeface="Calibri"/>
                <a:cs typeface="Calibri"/>
              </a:rPr>
              <a:t>The Left + Greens + SPD = 269: short</a:t>
            </a:r>
          </a:p>
        </p:txBody>
      </p:sp>
      <p:sp>
        <p:nvSpPr>
          <p:cNvPr id="19" name="Option 2"/>
          <p:cNvSpPr/>
          <p:nvPr/>
        </p:nvSpPr>
        <p:spPr>
          <a:xfrm>
            <a:off x="5290457" y="3310128"/>
            <a:ext cx="6322423" cy="457200"/>
          </a:xfrm>
          <a:prstGeom prst="roundRect">
            <a:avLst>
              <a:gd name="adj" fmla="val 30000"/>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rmAutofit/>
          </a:bodyPr>
          <a:lstStyle/>
          <a:p>
            <a:pPr marL="0" indent="0" algn="ctr">
              <a:buNone/>
            </a:pPr>
            <a:r>
              <a:rPr sz="1500" b="1" i="0">
                <a:solidFill>
                  <a:srgbClr val="FFFFFF"/>
                </a:solidFill>
                <a:latin typeface="Calibri"/>
                <a:cs typeface="Calibri"/>
              </a:rPr>
              <a:t>CDU/CSU + AfD = 360: ruled out before the election</a:t>
            </a:r>
          </a:p>
        </p:txBody>
      </p:sp>
      <p:sp>
        <p:nvSpPr>
          <p:cNvPr id="20" name="Option 3"/>
          <p:cNvSpPr/>
          <p:nvPr/>
        </p:nvSpPr>
        <p:spPr>
          <a:xfrm>
            <a:off x="3165421" y="3877056"/>
            <a:ext cx="5777992" cy="457200"/>
          </a:xfrm>
          <a:prstGeom prst="roundRect">
            <a:avLst>
              <a:gd name="adj" fmla="val 30000"/>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normAutofit/>
          </a:bodyPr>
          <a:lstStyle/>
          <a:p>
            <a:pPr marL="0" indent="0" algn="ctr">
              <a:buNone/>
            </a:pPr>
            <a:r>
              <a:rPr sz="1500" b="1" i="0">
                <a:solidFill>
                  <a:srgbClr val="FFFFFF"/>
                </a:solidFill>
                <a:latin typeface="Calibri"/>
                <a:cs typeface="Calibri"/>
              </a:rPr>
              <a:t>SPD + CDU/CSU = 328: the government</a:t>
            </a:r>
          </a:p>
        </p:txBody>
      </p:sp>
      <p:sp>
        <p:nvSpPr>
          <p:cNvPr id="21" name="Result"/>
          <p:cNvSpPr/>
          <p:nvPr/>
        </p:nvSpPr>
        <p:spPr>
          <a:xfrm>
            <a:off x="457200" y="4663440"/>
            <a:ext cx="11274552" cy="868680"/>
          </a:xfrm>
          <a:prstGeom prst="roundRect">
            <a:avLst>
              <a:gd name="adj" fmla="val 12000"/>
            </a:avLst>
          </a:prstGeom>
          <a:solidFill>
            <a:srgbClr val="FFF6F0"/>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normAutofit/>
          </a:bodyPr>
          <a:lstStyle/>
          <a:p>
            <a:pPr marL="0" indent="0" algn="ctr">
              <a:spcAft>
                <a:spcPts val="200"/>
              </a:spcAft>
              <a:buNone/>
            </a:pPr>
            <a:r>
              <a:rPr sz="1700" b="1" i="0">
                <a:solidFill>
                  <a:srgbClr val="321744"/>
                </a:solidFill>
                <a:latin typeface="Calibri"/>
                <a:cs typeface="Calibri"/>
              </a:rPr>
              <a:t>The smallest coalition that wins: yes. Neighbors: yes. The only two-party majority without the AfD: yes.</a:t>
            </a:r>
          </a:p>
          <a:p>
            <a:pPr marL="0" indent="0" algn="ctr">
              <a:buNone/>
            </a:pPr>
            <a:r>
              <a:rPr sz="1550" b="0" i="0">
                <a:solidFill>
                  <a:srgbClr val="321744"/>
                </a:solidFill>
                <a:latin typeface="Calibri"/>
                <a:cs typeface="Calibri"/>
              </a:rPr>
              <a:t>All three accounts fit this case, so it cannot choose between them.</a:t>
            </a:r>
          </a:p>
        </p:txBody>
      </p:sp>
      <p:sp>
        <p:nvSpPr>
          <p:cNvPr id="22" name="Footnote"/>
          <p:cNvSpPr/>
          <p:nvPr/>
        </p:nvSpPr>
        <p:spPr>
          <a:xfrm>
            <a:off x="457200" y="5623560"/>
            <a:ext cx="11274552"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50" b="0" i="1">
                <a:solidFill>
                  <a:srgbClr val="5C5C5C"/>
                </a:solidFill>
                <a:latin typeface="Calibri"/>
                <a:cs typeface="Calibri"/>
              </a:rPr>
              <a:t>“Friedrich Merz has repeatedly ruled out forming a coalition with the far-right party.” Merz, the leader of the CDU, has been chancellor since May 2025.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Minimum Winning, Oversized, Minority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lang="en-US" sz="2800" b="1" i="0" dirty="0">
                <a:solidFill>
                  <a:srgbClr val="321744"/>
                </a:solidFill>
                <a:latin typeface="Calibri"/>
                <a:cs typeface="Calibri"/>
              </a:rPr>
              <a:t>Types of Government</a:t>
            </a:r>
            <a:endParaRPr sz="2800" b="1" i="0" dirty="0">
              <a:solidFill>
                <a:srgbClr val="321744"/>
              </a:solidFill>
              <a:latin typeface="Calibri"/>
              <a:cs typeface="Calibri"/>
            </a:endParaRPr>
          </a:p>
        </p:txBody>
      </p:sp>
      <p:sp>
        <p:nvSpPr>
          <p:cNvPr id="5" name="Kind 1"/>
          <p:cNvSpPr/>
          <p:nvPr/>
        </p:nvSpPr>
        <p:spPr>
          <a:xfrm>
            <a:off x="457200" y="1234440"/>
            <a:ext cx="3675888" cy="420624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Kind 1 header"/>
          <p:cNvSpPr/>
          <p:nvPr/>
        </p:nvSpPr>
        <p:spPr>
          <a:xfrm>
            <a:off x="457200" y="1234440"/>
            <a:ext cx="3675888" cy="50292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Kind 1 header text"/>
          <p:cNvSpPr/>
          <p:nvPr/>
        </p:nvSpPr>
        <p:spPr>
          <a:xfrm>
            <a:off x="457200" y="1234440"/>
            <a:ext cx="36758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MINIMUM WINNING</a:t>
            </a:r>
          </a:p>
        </p:txBody>
      </p:sp>
      <p:sp>
        <p:nvSpPr>
          <p:cNvPr id="8" name="Kind 1 text"/>
          <p:cNvSpPr/>
          <p:nvPr/>
        </p:nvSpPr>
        <p:spPr>
          <a:xfrm>
            <a:off x="630936" y="1920240"/>
            <a:ext cx="3328416" cy="34107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100" b="1" i="0">
                <a:solidFill>
                  <a:srgbClr val="321744"/>
                </a:solidFill>
                <a:latin typeface="Calibri"/>
                <a:cs typeface="Calibri"/>
              </a:rPr>
              <a:t>Just enough parties for a majority</a:t>
            </a:r>
          </a:p>
          <a:p>
            <a:pPr marL="171450" indent="-171450" algn="l">
              <a:spcAft>
                <a:spcPts val="1200"/>
              </a:spcAft>
              <a:buFont typeface="Arial"/>
              <a:buChar char="•"/>
            </a:pPr>
            <a:r>
              <a:rPr sz="1900" b="0" i="0">
                <a:solidFill>
                  <a:srgbClr val="321744"/>
                </a:solidFill>
                <a:latin typeface="Calibri"/>
                <a:cs typeface="Calibri"/>
              </a:rPr>
              <a:t>What we expect if parties care only about power: fewer partners, more ministries each</a:t>
            </a:r>
          </a:p>
          <a:p>
            <a:pPr marL="171450" indent="-171450" algn="l">
              <a:spcAft>
                <a:spcPts val="1200"/>
              </a:spcAft>
              <a:buFont typeface="Arial"/>
              <a:buChar char="•"/>
            </a:pPr>
            <a:r>
              <a:rPr sz="1900" b="0" i="0">
                <a:solidFill>
                  <a:srgbClr val="321744"/>
                </a:solidFill>
                <a:latin typeface="Calibri"/>
                <a:cs typeface="Calibri"/>
              </a:rPr>
              <a:t>Germany today: CDU/CSU and SPD</a:t>
            </a:r>
          </a:p>
        </p:txBody>
      </p:sp>
      <p:sp>
        <p:nvSpPr>
          <p:cNvPr id="9" name="Kind 2"/>
          <p:cNvSpPr/>
          <p:nvPr/>
        </p:nvSpPr>
        <p:spPr>
          <a:xfrm>
            <a:off x="4261104" y="1234440"/>
            <a:ext cx="3675888" cy="420624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Kind 2 header"/>
          <p:cNvSpPr/>
          <p:nvPr/>
        </p:nvSpPr>
        <p:spPr>
          <a:xfrm>
            <a:off x="4261104" y="1234440"/>
            <a:ext cx="3675888" cy="50292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Kind 2 header text"/>
          <p:cNvSpPr/>
          <p:nvPr/>
        </p:nvSpPr>
        <p:spPr>
          <a:xfrm>
            <a:off x="4261104" y="1234440"/>
            <a:ext cx="36758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OVERSIZED</a:t>
            </a:r>
          </a:p>
        </p:txBody>
      </p:sp>
      <p:sp>
        <p:nvSpPr>
          <p:cNvPr id="12" name="Kind 2 text"/>
          <p:cNvSpPr/>
          <p:nvPr/>
        </p:nvSpPr>
        <p:spPr>
          <a:xfrm>
            <a:off x="4434840" y="1920240"/>
            <a:ext cx="3328416" cy="34107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100" b="1" i="0">
                <a:solidFill>
                  <a:srgbClr val="321744"/>
                </a:solidFill>
                <a:latin typeface="Calibri"/>
                <a:cs typeface="Calibri"/>
              </a:rPr>
              <a:t>More parties than a majority needs</a:t>
            </a:r>
          </a:p>
          <a:p>
            <a:pPr marL="171450" indent="-171450" algn="l">
              <a:spcAft>
                <a:spcPts val="1200"/>
              </a:spcAft>
              <a:buFont typeface="Arial"/>
              <a:buChar char="•"/>
            </a:pPr>
            <a:r>
              <a:rPr sz="1900" b="0" i="0">
                <a:solidFill>
                  <a:srgbClr val="321744"/>
                </a:solidFill>
                <a:latin typeface="Calibri"/>
                <a:cs typeface="Calibri"/>
              </a:rPr>
              <a:t>More stable: no single partner can bring the government down</a:t>
            </a:r>
          </a:p>
          <a:p>
            <a:pPr marL="171450" indent="-171450" algn="l">
              <a:spcAft>
                <a:spcPts val="1200"/>
              </a:spcAft>
              <a:buFont typeface="Arial"/>
              <a:buChar char="•"/>
            </a:pPr>
            <a:r>
              <a:rPr sz="1900" b="0" i="0">
                <a:solidFill>
                  <a:srgbClr val="321744"/>
                </a:solidFill>
                <a:latin typeface="Calibri"/>
                <a:cs typeface="Calibri"/>
              </a:rPr>
              <a:t>Finland: a show of unity next to the Soviet Union</a:t>
            </a:r>
          </a:p>
          <a:p>
            <a:pPr marL="171450" indent="-171450" algn="l">
              <a:spcAft>
                <a:spcPts val="1200"/>
              </a:spcAft>
              <a:buFont typeface="Arial"/>
              <a:buChar char="•"/>
            </a:pPr>
            <a:r>
              <a:rPr sz="1900" b="0" i="0">
                <a:solidFill>
                  <a:srgbClr val="321744"/>
                </a:solidFill>
                <a:latin typeface="Calibri"/>
                <a:cs typeface="Calibri"/>
              </a:rPr>
              <a:t>Italy: a buffer, when members voted by secret ballot</a:t>
            </a:r>
          </a:p>
        </p:txBody>
      </p:sp>
      <p:sp>
        <p:nvSpPr>
          <p:cNvPr id="13" name="Kind 3"/>
          <p:cNvSpPr/>
          <p:nvPr/>
        </p:nvSpPr>
        <p:spPr>
          <a:xfrm>
            <a:off x="8065008" y="1234440"/>
            <a:ext cx="3675888" cy="420624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Kind 3 header"/>
          <p:cNvSpPr/>
          <p:nvPr/>
        </p:nvSpPr>
        <p:spPr>
          <a:xfrm>
            <a:off x="8065008" y="1234440"/>
            <a:ext cx="3675888" cy="50292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Kind 3 header text"/>
          <p:cNvSpPr/>
          <p:nvPr/>
        </p:nvSpPr>
        <p:spPr>
          <a:xfrm>
            <a:off x="8065008" y="1234440"/>
            <a:ext cx="36758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MINORITY</a:t>
            </a:r>
          </a:p>
        </p:txBody>
      </p:sp>
      <p:sp>
        <p:nvSpPr>
          <p:cNvPr id="16" name="Kind 3 text"/>
          <p:cNvSpPr/>
          <p:nvPr/>
        </p:nvSpPr>
        <p:spPr>
          <a:xfrm>
            <a:off x="8238744" y="1920240"/>
            <a:ext cx="3328416" cy="34107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2100" b="1" i="0">
                <a:solidFill>
                  <a:srgbClr val="321744"/>
                </a:solidFill>
                <a:latin typeface="Calibri"/>
                <a:cs typeface="Calibri"/>
              </a:rPr>
              <a:t>Fewer than half the seats</a:t>
            </a:r>
          </a:p>
          <a:p>
            <a:pPr marL="171450" indent="-171450" algn="l">
              <a:spcAft>
                <a:spcPts val="1200"/>
              </a:spcAft>
              <a:buFont typeface="Arial"/>
              <a:buChar char="•"/>
            </a:pPr>
            <a:r>
              <a:rPr sz="1900" b="0" i="0">
                <a:solidFill>
                  <a:srgbClr val="321744"/>
                </a:solidFill>
                <a:latin typeface="Calibri"/>
                <a:cs typeface="Calibri"/>
              </a:rPr>
              <a:t>Survives on other parties’ votes, one deal at a time</a:t>
            </a:r>
          </a:p>
          <a:p>
            <a:pPr marL="171450" indent="-171450" algn="l">
              <a:spcAft>
                <a:spcPts val="1200"/>
              </a:spcAft>
              <a:buFont typeface="Arial"/>
              <a:buChar char="•"/>
            </a:pPr>
            <a:r>
              <a:rPr sz="1900" b="0" i="0">
                <a:solidFill>
                  <a:srgbClr val="321744"/>
                </a:solidFill>
                <a:latin typeface="Calibri"/>
                <a:cs typeface="Calibri"/>
              </a:rPr>
              <a:t>The Netherlands today: 66 of 150 seats</a:t>
            </a:r>
          </a:p>
        </p:txBody>
      </p:sp>
      <p:sp>
        <p:nvSpPr>
          <p:cNvPr id="17" name="Footnote"/>
          <p:cNvSpPr/>
          <p:nvPr/>
        </p:nvSpPr>
        <p:spPr>
          <a:xfrm>
            <a:off x="457200" y="5577840"/>
            <a:ext cx="1127455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lang="en-US" sz="1550" b="0" i="1" dirty="0">
                <a:solidFill>
                  <a:srgbClr val="5C5C5C"/>
                </a:solidFill>
                <a:latin typeface="Calibri"/>
                <a:cs typeface="Calibri"/>
              </a:rPr>
              <a:t>Which did the FRC form?</a:t>
            </a:r>
            <a:endParaRPr sz="1550" b="0" i="1" dirty="0">
              <a:solidFill>
                <a:srgbClr val="5C5C5C"/>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515600" cy="1188720"/>
          </a:xfrm>
        </p:spPr>
        <p:txBody>
          <a:bodyPr/>
          <a:lstStyle/>
          <a:p>
            <a:r>
              <a:t>Minority Governments</a:t>
            </a:r>
          </a:p>
        </p:txBody>
      </p:sp>
      <p:sp>
        <p:nvSpPr>
          <p:cNvPr id="3" name="Content Placeholder 2"/>
          <p:cNvSpPr>
            <a:spLocks noGrp="1"/>
          </p:cNvSpPr>
          <p:nvPr>
            <p:ph idx="1"/>
          </p:nvPr>
        </p:nvSpPr>
        <p:spPr>
          <a:xfrm>
            <a:off x="5989320" y="1691640"/>
            <a:ext cx="5806440" cy="4023360"/>
          </a:xfrm>
        </p:spPr>
        <p:txBody>
          <a:bodyPr/>
          <a:lstStyle/>
          <a:p>
            <a:r>
              <a:rPr sz="2000" dirty="0"/>
              <a:t>Governing with fewer than half the seats</a:t>
            </a:r>
          </a:p>
          <a:p>
            <a:r>
              <a:rPr sz="2000" dirty="0"/>
              <a:t>Not possible everywhere: some parliaments must vote a new government in (an investiture vote)</a:t>
            </a:r>
          </a:p>
          <a:p>
            <a:r>
              <a:rPr sz="2000" dirty="0"/>
              <a:t>Attractive to the governing party: rule alone, avoid hard compromises</a:t>
            </a:r>
          </a:p>
          <a:p>
            <a:pPr lvl="1"/>
            <a:r>
              <a:rPr sz="1700" dirty="0"/>
              <a:t>But why would the other parties allow it?</a:t>
            </a:r>
          </a:p>
          <a:p>
            <a:r>
              <a:rPr sz="2000" dirty="0"/>
              <a:t>Often fragile</a:t>
            </a:r>
          </a:p>
        </p:txBody>
      </p:sp>
      <p:pic>
        <p:nvPicPr>
          <p:cNvPr id="4" name="Photo (Lecture 4.pptx, slide 2, picture 2)" descr="image.jpg"/>
          <p:cNvPicPr>
            <a:picLocks noChangeAspect="1"/>
          </p:cNvPicPr>
          <p:nvPr/>
        </p:nvPicPr>
        <p:blipFill>
          <a:blip r:embed="rId2"/>
          <a:srcRect/>
          <a:stretch>
            <a:fillRect/>
          </a:stretch>
        </p:blipFill>
        <p:spPr>
          <a:xfrm>
            <a:off x="608628" y="1737360"/>
            <a:ext cx="2257464" cy="3383280"/>
          </a:xfrm>
          <a:prstGeom prst="rect">
            <a:avLst/>
          </a:prstGeom>
        </p:spPr>
      </p:pic>
      <p:pic>
        <p:nvPicPr>
          <p:cNvPr id="17" name="Photo (Lecture 4.pptx, slide 2, picture 1)" descr="image.jpg"/>
          <p:cNvPicPr>
            <a:picLocks noChangeAspect="1"/>
          </p:cNvPicPr>
          <p:nvPr/>
        </p:nvPicPr>
        <p:blipFill>
          <a:blip r:embed="rId3"/>
          <a:srcRect/>
          <a:stretch>
            <a:fillRect/>
          </a:stretch>
        </p:blipFill>
        <p:spPr>
          <a:xfrm>
            <a:off x="3165328" y="1737360"/>
            <a:ext cx="2539023" cy="3383280"/>
          </a:xfrm>
          <a:prstGeom prst="rect">
            <a:avLst/>
          </a:prstGeom>
        </p:spPr>
      </p:pic>
      <p:sp>
        <p:nvSpPr>
          <p:cNvPr id="18" name="Photo caption"/>
          <p:cNvSpPr/>
          <p:nvPr/>
        </p:nvSpPr>
        <p:spPr>
          <a:xfrm>
            <a:off x="457200" y="5175504"/>
            <a:ext cx="525780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sz="1150" b="0" i="1">
                <a:solidFill>
                  <a:srgbClr val="321744"/>
                </a:solidFill>
                <a:latin typeface="Calibri"/>
                <a:cs typeface="Calibri"/>
              </a:rPr>
              <a:t>Michel Barnier and François Bayrou, prime ministers of France. Both led minority governments, and the National Assembly removed both within nine months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058400" cy="1188720"/>
          </a:xfrm>
        </p:spPr>
        <p:txBody>
          <a:bodyPr>
            <a:normAutofit fontScale="90000"/>
          </a:bodyPr>
          <a:lstStyle/>
          <a:p>
            <a:r>
              <a:t>The Dutch Election: Not Quite a Return to the Center</a:t>
            </a:r>
          </a:p>
        </p:txBody>
      </p:sp>
      <p:sp>
        <p:nvSpPr>
          <p:cNvPr id="3" name="Content Placeholder 2"/>
          <p:cNvSpPr>
            <a:spLocks noGrp="1"/>
          </p:cNvSpPr>
          <p:nvPr>
            <p:ph idx="1"/>
          </p:nvPr>
        </p:nvSpPr>
        <p:spPr>
          <a:xfrm>
            <a:off x="5989320" y="1691640"/>
            <a:ext cx="5806440" cy="4023360"/>
          </a:xfrm>
        </p:spPr>
        <p:txBody>
          <a:bodyPr/>
          <a:lstStyle/>
          <a:p>
            <a:r>
              <a:rPr sz="2000"/>
              <a:t>October 29, 2025: D66, a liberal party of the center, finishes first</a:t>
            </a:r>
          </a:p>
          <a:p>
            <a:r>
              <a:rPr sz="2000"/>
              <a:t>The PVV of Geert Wilders, on the radical right, falls from 37 seats to 26</a:t>
            </a:r>
          </a:p>
          <a:p>
            <a:r>
              <a:rPr sz="2000"/>
              <a:t>But the far-right bloc holds 42 seats, against 41 before</a:t>
            </a:r>
          </a:p>
          <a:p>
            <a:r>
              <a:rPr sz="2000"/>
              <a:t>The left: “no more than 30 seats”</a:t>
            </a:r>
          </a:p>
          <a:p>
            <a:r>
              <a:rPr sz="2000"/>
              <a:t>“The core message of the far right has entered the mainstream of Dutch politics.”</a:t>
            </a:r>
          </a:p>
        </p:txBody>
      </p:sp>
      <p:pic>
        <p:nvPicPr>
          <p:cNvPr id="4" name="Photo (Lecture13.pptx, slide 16, picture 2)" descr="image.jpg"/>
          <p:cNvPicPr>
            <a:picLocks noChangeAspect="1"/>
          </p:cNvPicPr>
          <p:nvPr/>
        </p:nvPicPr>
        <p:blipFill>
          <a:blip r:embed="rId2"/>
          <a:srcRect/>
          <a:stretch>
            <a:fillRect/>
          </a:stretch>
        </p:blipFill>
        <p:spPr>
          <a:xfrm>
            <a:off x="1288647" y="1737360"/>
            <a:ext cx="3594906" cy="3520440"/>
          </a:xfrm>
          <a:prstGeom prst="rect">
            <a:avLst/>
          </a:prstGeom>
        </p:spPr>
      </p:pic>
      <p:sp>
        <p:nvSpPr>
          <p:cNvPr id="5" name="Photo caption"/>
          <p:cNvSpPr/>
          <p:nvPr/>
        </p:nvSpPr>
        <p:spPr>
          <a:xfrm>
            <a:off x="457200" y="5312664"/>
            <a:ext cx="5257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sz="1150" b="0" i="1">
                <a:solidFill>
                  <a:srgbClr val="321744"/>
                </a:solidFill>
                <a:latin typeface="Calibri"/>
                <a:cs typeface="Calibri"/>
              </a:rPr>
              <a:t>Geert Wilders, leader of the PVV, on the front page of De Telegraaf in January 2017</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FFFFFF"/>
                </a:solidFill>
                <a:latin typeface="Calibri"/>
              </a:rPr>
              <a:t>From today’s reading: van Kessel and Zaslove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Netherlands: How Do You Get to 76?</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endParaRPr sz="1250" b="1" i="0" dirty="0">
              <a:solidFill>
                <a:srgbClr val="F3672A"/>
              </a:solidFill>
              <a:latin typeface="Calibri"/>
              <a:cs typeface="Calibri"/>
            </a:endParaRP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The Netherlands: how do you get to 76 seats?</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van Kessel and Zaslove</a:t>
            </a:r>
          </a:p>
        </p:txBody>
      </p:sp>
      <p:sp>
        <p:nvSpPr>
          <p:cNvPr id="7" name="Task"/>
          <p:cNvSpPr/>
          <p:nvPr/>
        </p:nvSpPr>
        <p:spPr>
          <a:xfrm>
            <a:off x="457200" y="1005840"/>
            <a:ext cx="1127455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lang="en-US" sz="1600" b="1" i="0" dirty="0">
                <a:solidFill>
                  <a:srgbClr val="321744"/>
                </a:solidFill>
                <a:latin typeface="Calibri"/>
                <a:cs typeface="Calibri"/>
              </a:rPr>
              <a:t>Imagine </a:t>
            </a:r>
            <a:r>
              <a:rPr sz="1600" b="1" i="0" dirty="0">
                <a:solidFill>
                  <a:srgbClr val="321744"/>
                </a:solidFill>
                <a:latin typeface="Calibri"/>
                <a:cs typeface="Calibri"/>
              </a:rPr>
              <a:t>you lead D66, the largest party, with 26 of 150 seats. The broad coalition or the narrow one?</a:t>
            </a:r>
          </a:p>
        </p:txBody>
      </p:sp>
      <p:cxnSp>
        <p:nvCxnSpPr>
          <p:cNvPr id="8" name="Majority line"/>
          <p:cNvCxnSpPr/>
          <p:nvPr/>
        </p:nvCxnSpPr>
        <p:spPr>
          <a:xfrm>
            <a:off x="8213141" y="1481328"/>
            <a:ext cx="0" cy="3639312"/>
          </a:xfrm>
          <a:prstGeom prst="line">
            <a:avLst/>
          </a:prstGeom>
          <a:ln w="19050">
            <a:solidFill>
              <a:srgbClr val="321744"/>
            </a:solidFill>
            <a:prstDash val="dash"/>
          </a:ln>
        </p:spPr>
        <p:style>
          <a:lnRef idx="2">
            <a:schemeClr val="accent1"/>
          </a:lnRef>
          <a:fillRef idx="0">
            <a:schemeClr val="accent1"/>
          </a:fillRef>
          <a:effectRef idx="1">
            <a:schemeClr val="accent1"/>
          </a:effectRef>
          <a:fontRef idx="minor">
            <a:schemeClr val="tx1"/>
          </a:fontRef>
        </p:style>
      </p:cxnSp>
      <p:sp>
        <p:nvSpPr>
          <p:cNvPr id="9" name="Majority label"/>
          <p:cNvSpPr/>
          <p:nvPr/>
        </p:nvSpPr>
        <p:spPr>
          <a:xfrm>
            <a:off x="6841541" y="1444752"/>
            <a:ext cx="27432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250" b="1" i="0">
                <a:solidFill>
                  <a:srgbClr val="321744"/>
                </a:solidFill>
                <a:latin typeface="Calibri"/>
                <a:cs typeface="Calibri"/>
              </a:rPr>
              <a:t>76 seats: a majority</a:t>
            </a:r>
          </a:p>
        </p:txBody>
      </p:sp>
      <p:sp>
        <p:nvSpPr>
          <p:cNvPr id="10" name="Option 1 label"/>
          <p:cNvSpPr/>
          <p:nvPr/>
        </p:nvSpPr>
        <p:spPr>
          <a:xfrm>
            <a:off x="457200" y="1783080"/>
            <a:ext cx="19659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650" b="1" i="0">
                <a:solidFill>
                  <a:srgbClr val="321744"/>
                </a:solidFill>
                <a:latin typeface="Calibri"/>
                <a:cs typeface="Calibri"/>
              </a:rPr>
              <a:t>Through the center</a:t>
            </a:r>
          </a:p>
        </p:txBody>
      </p:sp>
      <p:sp>
        <p:nvSpPr>
          <p:cNvPr id="11" name="Option 1 D66"/>
          <p:cNvSpPr/>
          <p:nvPr/>
        </p:nvSpPr>
        <p:spPr>
          <a:xfrm>
            <a:off x="2514600" y="1783080"/>
            <a:ext cx="1949501" cy="640080"/>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D66</a:t>
            </a:r>
          </a:p>
          <a:p>
            <a:pPr marL="0" indent="0" algn="ctr">
              <a:buNone/>
            </a:pPr>
            <a:r>
              <a:rPr sz="1250" b="0" i="0">
                <a:solidFill>
                  <a:srgbClr val="FFFFFF"/>
                </a:solidFill>
                <a:latin typeface="Calibri"/>
                <a:cs typeface="Calibri"/>
              </a:rPr>
              <a:t>26</a:t>
            </a:r>
          </a:p>
        </p:txBody>
      </p:sp>
      <p:sp>
        <p:nvSpPr>
          <p:cNvPr id="12" name="Option 1 VVD"/>
          <p:cNvSpPr/>
          <p:nvPr/>
        </p:nvSpPr>
        <p:spPr>
          <a:xfrm>
            <a:off x="4464101" y="1783080"/>
            <a:ext cx="1649578" cy="640080"/>
          </a:xfrm>
          <a:prstGeom prst="rect">
            <a:avLst/>
          </a:prstGeom>
          <a:solidFill>
            <a:srgbClr val="5B446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VVD</a:t>
            </a:r>
          </a:p>
          <a:p>
            <a:pPr marL="0" indent="0" algn="ctr">
              <a:buNone/>
            </a:pPr>
            <a:r>
              <a:rPr sz="1250" b="0" i="0">
                <a:solidFill>
                  <a:srgbClr val="FFFFFF"/>
                </a:solidFill>
                <a:latin typeface="Calibri"/>
                <a:cs typeface="Calibri"/>
              </a:rPr>
              <a:t>22</a:t>
            </a:r>
          </a:p>
        </p:txBody>
      </p:sp>
      <p:sp>
        <p:nvSpPr>
          <p:cNvPr id="13" name="Option 1 CDA"/>
          <p:cNvSpPr/>
          <p:nvPr/>
        </p:nvSpPr>
        <p:spPr>
          <a:xfrm>
            <a:off x="6113678" y="1783080"/>
            <a:ext cx="1349654" cy="640080"/>
          </a:xfrm>
          <a:prstGeom prst="rect">
            <a:avLst/>
          </a:prstGeom>
          <a:solidFill>
            <a:srgbClr val="B9AC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321744"/>
                </a:solidFill>
                <a:latin typeface="Calibri"/>
                <a:cs typeface="Calibri"/>
              </a:rPr>
              <a:t>CDA</a:t>
            </a:r>
          </a:p>
          <a:p>
            <a:pPr marL="0" indent="0" algn="ctr">
              <a:buNone/>
            </a:pPr>
            <a:r>
              <a:rPr sz="1250" b="0" i="0">
                <a:solidFill>
                  <a:srgbClr val="321744"/>
                </a:solidFill>
                <a:latin typeface="Calibri"/>
                <a:cs typeface="Calibri"/>
              </a:rPr>
              <a:t>18</a:t>
            </a:r>
          </a:p>
        </p:txBody>
      </p:sp>
      <p:sp>
        <p:nvSpPr>
          <p:cNvPr id="14" name="Option 1 GL–PvdA"/>
          <p:cNvSpPr/>
          <p:nvPr/>
        </p:nvSpPr>
        <p:spPr>
          <a:xfrm>
            <a:off x="7463333" y="1783080"/>
            <a:ext cx="1499616" cy="640080"/>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GL–PvdA</a:t>
            </a:r>
          </a:p>
          <a:p>
            <a:pPr marL="0" indent="0" algn="ctr">
              <a:buNone/>
            </a:pPr>
            <a:r>
              <a:rPr sz="1250" b="0" i="0">
                <a:solidFill>
                  <a:srgbClr val="FFFFFF"/>
                </a:solidFill>
                <a:latin typeface="Calibri"/>
                <a:cs typeface="Calibri"/>
              </a:rPr>
              <a:t>20</a:t>
            </a:r>
          </a:p>
        </p:txBody>
      </p:sp>
      <p:sp>
        <p:nvSpPr>
          <p:cNvPr id="15" name="Option 1 note"/>
          <p:cNvSpPr/>
          <p:nvPr/>
        </p:nvSpPr>
        <p:spPr>
          <a:xfrm>
            <a:off x="9144000" y="1783080"/>
            <a:ext cx="260604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0" rIns="0" bIns="0" rtlCol="0" anchor="ctr">
            <a:normAutofit/>
          </a:bodyPr>
          <a:lstStyle/>
          <a:p>
            <a:pPr marL="0" indent="0" algn="l">
              <a:buNone/>
            </a:pPr>
            <a:r>
              <a:rPr sz="1350" b="0" i="0">
                <a:solidFill>
                  <a:srgbClr val="321744"/>
                </a:solidFill>
                <a:latin typeface="Calibri"/>
                <a:cs typeface="Calibri"/>
              </a:rPr>
              <a:t>86 seats. The VVD refused to govern with GL–PvdA, the alliance of the left.</a:t>
            </a:r>
          </a:p>
        </p:txBody>
      </p:sp>
      <p:sp>
        <p:nvSpPr>
          <p:cNvPr id="16" name="Option 2 label"/>
          <p:cNvSpPr/>
          <p:nvPr/>
        </p:nvSpPr>
        <p:spPr>
          <a:xfrm>
            <a:off x="457200" y="2651760"/>
            <a:ext cx="19659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650" b="1" i="0">
                <a:solidFill>
                  <a:srgbClr val="321744"/>
                </a:solidFill>
                <a:latin typeface="Calibri"/>
                <a:cs typeface="Calibri"/>
              </a:rPr>
              <a:t>To the right</a:t>
            </a:r>
          </a:p>
        </p:txBody>
      </p:sp>
      <p:sp>
        <p:nvSpPr>
          <p:cNvPr id="17" name="Option 2 D66"/>
          <p:cNvSpPr/>
          <p:nvPr/>
        </p:nvSpPr>
        <p:spPr>
          <a:xfrm>
            <a:off x="2514600" y="2651760"/>
            <a:ext cx="1949501" cy="640080"/>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D66</a:t>
            </a:r>
          </a:p>
          <a:p>
            <a:pPr marL="0" indent="0" algn="ctr">
              <a:buNone/>
            </a:pPr>
            <a:r>
              <a:rPr sz="1250" b="0" i="0">
                <a:solidFill>
                  <a:srgbClr val="FFFFFF"/>
                </a:solidFill>
                <a:latin typeface="Calibri"/>
                <a:cs typeface="Calibri"/>
              </a:rPr>
              <a:t>26</a:t>
            </a:r>
          </a:p>
        </p:txBody>
      </p:sp>
      <p:sp>
        <p:nvSpPr>
          <p:cNvPr id="18" name="Option 2 VVD"/>
          <p:cNvSpPr/>
          <p:nvPr/>
        </p:nvSpPr>
        <p:spPr>
          <a:xfrm>
            <a:off x="4464101" y="2651760"/>
            <a:ext cx="1649578" cy="640080"/>
          </a:xfrm>
          <a:prstGeom prst="rect">
            <a:avLst/>
          </a:prstGeom>
          <a:solidFill>
            <a:srgbClr val="5B446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VVD</a:t>
            </a:r>
          </a:p>
          <a:p>
            <a:pPr marL="0" indent="0" algn="ctr">
              <a:buNone/>
            </a:pPr>
            <a:r>
              <a:rPr sz="1250" b="0" i="0">
                <a:solidFill>
                  <a:srgbClr val="FFFFFF"/>
                </a:solidFill>
                <a:latin typeface="Calibri"/>
                <a:cs typeface="Calibri"/>
              </a:rPr>
              <a:t>22</a:t>
            </a:r>
          </a:p>
        </p:txBody>
      </p:sp>
      <p:sp>
        <p:nvSpPr>
          <p:cNvPr id="19" name="Option 2 CDA"/>
          <p:cNvSpPr/>
          <p:nvPr/>
        </p:nvSpPr>
        <p:spPr>
          <a:xfrm>
            <a:off x="6113678" y="2651760"/>
            <a:ext cx="1349654" cy="640080"/>
          </a:xfrm>
          <a:prstGeom prst="rect">
            <a:avLst/>
          </a:prstGeom>
          <a:solidFill>
            <a:srgbClr val="B9AC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321744"/>
                </a:solidFill>
                <a:latin typeface="Calibri"/>
                <a:cs typeface="Calibri"/>
              </a:rPr>
              <a:t>CDA</a:t>
            </a:r>
          </a:p>
          <a:p>
            <a:pPr marL="0" indent="0" algn="ctr">
              <a:buNone/>
            </a:pPr>
            <a:r>
              <a:rPr sz="1250" b="0" i="0">
                <a:solidFill>
                  <a:srgbClr val="321744"/>
                </a:solidFill>
                <a:latin typeface="Calibri"/>
                <a:cs typeface="Calibri"/>
              </a:rPr>
              <a:t>18</a:t>
            </a:r>
          </a:p>
        </p:txBody>
      </p:sp>
      <p:sp>
        <p:nvSpPr>
          <p:cNvPr id="20" name="Option 2 JA21"/>
          <p:cNvSpPr/>
          <p:nvPr/>
        </p:nvSpPr>
        <p:spPr>
          <a:xfrm>
            <a:off x="7463333" y="2651760"/>
            <a:ext cx="674827" cy="640080"/>
          </a:xfrm>
          <a:prstGeom prst="rect">
            <a:avLst/>
          </a:prstGeom>
          <a:solidFill>
            <a:srgbClr val="F9C3A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321744"/>
                </a:solidFill>
                <a:latin typeface="Calibri"/>
                <a:cs typeface="Calibri"/>
              </a:rPr>
              <a:t>JA21</a:t>
            </a:r>
          </a:p>
          <a:p>
            <a:pPr marL="0" indent="0" algn="ctr">
              <a:buNone/>
            </a:pPr>
            <a:r>
              <a:rPr sz="1250" b="0" i="0">
                <a:solidFill>
                  <a:srgbClr val="321744"/>
                </a:solidFill>
                <a:latin typeface="Calibri"/>
                <a:cs typeface="Calibri"/>
              </a:rPr>
              <a:t>9</a:t>
            </a:r>
          </a:p>
        </p:txBody>
      </p:sp>
      <p:sp>
        <p:nvSpPr>
          <p:cNvPr id="21" name="Option 2 note"/>
          <p:cNvSpPr/>
          <p:nvPr/>
        </p:nvSpPr>
        <p:spPr>
          <a:xfrm>
            <a:off x="9144000" y="2651760"/>
            <a:ext cx="260604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0" rIns="0" bIns="0" rtlCol="0" anchor="ctr">
            <a:normAutofit/>
          </a:bodyPr>
          <a:lstStyle/>
          <a:p>
            <a:pPr marL="0" indent="0" algn="l">
              <a:buNone/>
            </a:pPr>
            <a:r>
              <a:rPr sz="1350" b="0" i="0">
                <a:solidFill>
                  <a:srgbClr val="321744"/>
                </a:solidFill>
                <a:latin typeface="Calibri"/>
                <a:cs typeface="Calibri"/>
              </a:rPr>
              <a:t>75 seats: “one seat short.”</a:t>
            </a:r>
          </a:p>
        </p:txBody>
      </p:sp>
      <p:sp>
        <p:nvSpPr>
          <p:cNvPr id="22" name="Option 3 label"/>
          <p:cNvSpPr/>
          <p:nvPr/>
        </p:nvSpPr>
        <p:spPr>
          <a:xfrm>
            <a:off x="457200" y="3520440"/>
            <a:ext cx="19659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650" b="1" i="0">
                <a:solidFill>
                  <a:srgbClr val="321744"/>
                </a:solidFill>
                <a:latin typeface="Calibri"/>
                <a:cs typeface="Calibri"/>
              </a:rPr>
              <a:t>With the PVV</a:t>
            </a:r>
          </a:p>
        </p:txBody>
      </p:sp>
      <p:sp>
        <p:nvSpPr>
          <p:cNvPr id="23" name="Option 3 PVV"/>
          <p:cNvSpPr/>
          <p:nvPr/>
        </p:nvSpPr>
        <p:spPr>
          <a:xfrm>
            <a:off x="2514600" y="3520440"/>
            <a:ext cx="1949501" cy="640080"/>
          </a:xfrm>
          <a:prstGeom prst="rect">
            <a:avLst/>
          </a:prstGeom>
          <a:solidFill>
            <a:srgbClr val="5C5C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PVV</a:t>
            </a:r>
          </a:p>
          <a:p>
            <a:pPr marL="0" indent="0" algn="ctr">
              <a:buNone/>
            </a:pPr>
            <a:r>
              <a:rPr sz="1250" b="0" i="0">
                <a:solidFill>
                  <a:srgbClr val="FFFFFF"/>
                </a:solidFill>
                <a:latin typeface="Calibri"/>
                <a:cs typeface="Calibri"/>
              </a:rPr>
              <a:t>26</a:t>
            </a:r>
          </a:p>
        </p:txBody>
      </p:sp>
      <p:sp>
        <p:nvSpPr>
          <p:cNvPr id="24" name="Option 3 note"/>
          <p:cNvSpPr/>
          <p:nvPr/>
        </p:nvSpPr>
        <p:spPr>
          <a:xfrm>
            <a:off x="9144000" y="3520440"/>
            <a:ext cx="260604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0" rIns="0" bIns="0" rtlCol="0" anchor="ctr">
            <a:normAutofit/>
          </a:bodyPr>
          <a:lstStyle/>
          <a:p>
            <a:pPr marL="0" indent="0" algn="l">
              <a:buNone/>
            </a:pPr>
            <a:r>
              <a:rPr sz="1350" b="0" i="0">
                <a:solidFill>
                  <a:srgbClr val="321744"/>
                </a:solidFill>
                <a:latin typeface="Calibri"/>
                <a:cs typeface="Calibri"/>
              </a:rPr>
              <a:t>Ruled out by “most other parties.”</a:t>
            </a:r>
          </a:p>
        </p:txBody>
      </p:sp>
      <p:sp>
        <p:nvSpPr>
          <p:cNvPr id="25" name="Option 4 label"/>
          <p:cNvSpPr/>
          <p:nvPr/>
        </p:nvSpPr>
        <p:spPr>
          <a:xfrm>
            <a:off x="457200" y="4389120"/>
            <a:ext cx="19659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650" b="1" i="0">
                <a:solidFill>
                  <a:srgbClr val="F3672A"/>
                </a:solidFill>
                <a:latin typeface="Calibri"/>
                <a:cs typeface="Calibri"/>
              </a:rPr>
              <a:t>What formed</a:t>
            </a:r>
          </a:p>
        </p:txBody>
      </p:sp>
      <p:sp>
        <p:nvSpPr>
          <p:cNvPr id="26" name="Option 4 D66"/>
          <p:cNvSpPr/>
          <p:nvPr/>
        </p:nvSpPr>
        <p:spPr>
          <a:xfrm>
            <a:off x="2514600" y="4389120"/>
            <a:ext cx="1949501" cy="640080"/>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D66</a:t>
            </a:r>
          </a:p>
          <a:p>
            <a:pPr marL="0" indent="0" algn="ctr">
              <a:buNone/>
            </a:pPr>
            <a:r>
              <a:rPr sz="1250" b="0" i="0">
                <a:solidFill>
                  <a:srgbClr val="FFFFFF"/>
                </a:solidFill>
                <a:latin typeface="Calibri"/>
                <a:cs typeface="Calibri"/>
              </a:rPr>
              <a:t>26</a:t>
            </a:r>
          </a:p>
        </p:txBody>
      </p:sp>
      <p:sp>
        <p:nvSpPr>
          <p:cNvPr id="27" name="Option 4 VVD"/>
          <p:cNvSpPr/>
          <p:nvPr/>
        </p:nvSpPr>
        <p:spPr>
          <a:xfrm>
            <a:off x="4464101" y="4389120"/>
            <a:ext cx="1649578" cy="640080"/>
          </a:xfrm>
          <a:prstGeom prst="rect">
            <a:avLst/>
          </a:prstGeom>
          <a:solidFill>
            <a:srgbClr val="5B446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FFFFFF"/>
                </a:solidFill>
                <a:latin typeface="Calibri"/>
                <a:cs typeface="Calibri"/>
              </a:rPr>
              <a:t>VVD</a:t>
            </a:r>
          </a:p>
          <a:p>
            <a:pPr marL="0" indent="0" algn="ctr">
              <a:buNone/>
            </a:pPr>
            <a:r>
              <a:rPr sz="1250" b="0" i="0">
                <a:solidFill>
                  <a:srgbClr val="FFFFFF"/>
                </a:solidFill>
                <a:latin typeface="Calibri"/>
                <a:cs typeface="Calibri"/>
              </a:rPr>
              <a:t>22</a:t>
            </a:r>
          </a:p>
        </p:txBody>
      </p:sp>
      <p:sp>
        <p:nvSpPr>
          <p:cNvPr id="28" name="Option 4 CDA"/>
          <p:cNvSpPr/>
          <p:nvPr/>
        </p:nvSpPr>
        <p:spPr>
          <a:xfrm>
            <a:off x="6113678" y="4389120"/>
            <a:ext cx="1349654" cy="640080"/>
          </a:xfrm>
          <a:prstGeom prst="rect">
            <a:avLst/>
          </a:prstGeom>
          <a:solidFill>
            <a:srgbClr val="B9AC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spcAft>
                <a:spcPts val="0"/>
              </a:spcAft>
              <a:buNone/>
            </a:pPr>
            <a:r>
              <a:rPr sz="1450" b="1" i="0">
                <a:solidFill>
                  <a:srgbClr val="321744"/>
                </a:solidFill>
                <a:latin typeface="Calibri"/>
                <a:cs typeface="Calibri"/>
              </a:rPr>
              <a:t>CDA</a:t>
            </a:r>
          </a:p>
          <a:p>
            <a:pPr marL="0" indent="0" algn="ctr">
              <a:buNone/>
            </a:pPr>
            <a:r>
              <a:rPr sz="1250" b="0" i="0">
                <a:solidFill>
                  <a:srgbClr val="321744"/>
                </a:solidFill>
                <a:latin typeface="Calibri"/>
                <a:cs typeface="Calibri"/>
              </a:rPr>
              <a:t>18</a:t>
            </a:r>
          </a:p>
        </p:txBody>
      </p:sp>
      <p:sp>
        <p:nvSpPr>
          <p:cNvPr id="29" name="Option 4 note"/>
          <p:cNvSpPr/>
          <p:nvPr/>
        </p:nvSpPr>
        <p:spPr>
          <a:xfrm>
            <a:off x="9107424" y="4330931"/>
            <a:ext cx="260604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0" rIns="0" bIns="0" rtlCol="0" anchor="ctr">
            <a:normAutofit/>
          </a:bodyPr>
          <a:lstStyle/>
          <a:p>
            <a:pPr marL="0" indent="0" algn="l">
              <a:buNone/>
            </a:pPr>
            <a:r>
              <a:rPr sz="1350" b="0" i="0" dirty="0">
                <a:solidFill>
                  <a:srgbClr val="321744"/>
                </a:solidFill>
                <a:latin typeface="Calibri"/>
                <a:cs typeface="Calibri"/>
              </a:rPr>
              <a:t>66 seats: a minority government, sworn in after 117 days.</a:t>
            </a:r>
          </a:p>
        </p:txBody>
      </p:sp>
      <p:sp>
        <p:nvSpPr>
          <p:cNvPr id="31" name="Image placeholder 2 text"/>
          <p:cNvSpPr/>
          <p:nvPr/>
        </p:nvSpPr>
        <p:spPr>
          <a:xfrm>
            <a:off x="9235440" y="5276088"/>
            <a:ext cx="2423160" cy="10241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400"/>
              </a:spcAft>
              <a:buNone/>
            </a:pPr>
            <a:endParaRPr sz="1000" b="0" i="1" dirty="0">
              <a:solidFill>
                <a:srgbClr val="5C5C5C"/>
              </a:solidFill>
              <a:latin typeface="Calibri"/>
              <a:cs typeface="Calibri"/>
            </a:endParaRPr>
          </a:p>
        </p:txBody>
      </p:sp>
      <p:sp>
        <p:nvSpPr>
          <p:cNvPr id="32" name="Footnote"/>
          <p:cNvSpPr/>
          <p:nvPr/>
        </p:nvSpPr>
        <p:spPr>
          <a:xfrm>
            <a:off x="457200" y="5349240"/>
            <a:ext cx="850392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l">
              <a:buNone/>
            </a:pPr>
            <a:r>
              <a:rPr sz="1400" b="0" i="1">
                <a:solidFill>
                  <a:srgbClr val="5C5C5C"/>
                </a:solidFill>
                <a:latin typeface="Calibri"/>
                <a:cs typeface="Calibri"/>
              </a:rPr>
              <a:t>Rob Jetten of D66 has been prime minister since February 2026. His cabinet is ten seats short, and in September it was still looking for votes to pass its first budget.</a:t>
            </a:r>
          </a:p>
        </p:txBody>
      </p:sp>
      <p:pic>
        <p:nvPicPr>
          <p:cNvPr id="34" name="Picture 33">
            <a:extLst>
              <a:ext uri="{FF2B5EF4-FFF2-40B4-BE49-F238E27FC236}">
                <a16:creationId xmlns:a16="http://schemas.microsoft.com/office/drawing/2014/main" id="{05787076-1E07-6963-D718-B022310D1B17}"/>
              </a:ext>
            </a:extLst>
          </p:cNvPr>
          <p:cNvPicPr>
            <a:picLocks noChangeAspect="1"/>
          </p:cNvPicPr>
          <p:nvPr/>
        </p:nvPicPr>
        <p:blipFill>
          <a:blip r:embed="rId2"/>
          <a:stretch>
            <a:fillRect/>
          </a:stretch>
        </p:blipFill>
        <p:spPr>
          <a:xfrm>
            <a:off x="9198864" y="4950635"/>
            <a:ext cx="2514600" cy="16750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Gets What?</a:t>
            </a:r>
          </a:p>
        </p:txBody>
      </p:sp>
      <p:sp>
        <p:nvSpPr>
          <p:cNvPr id="3" name="Content Placeholder 2"/>
          <p:cNvSpPr>
            <a:spLocks noGrp="1"/>
          </p:cNvSpPr>
          <p:nvPr>
            <p:ph sz="half" idx="2"/>
          </p:nvPr>
        </p:nvSpPr>
        <p:spPr/>
        <p:txBody>
          <a:bodyPr/>
          <a:lstStyle/>
          <a:p>
            <a:r>
              <a:rPr sz="2100"/>
              <a:t>Parties join coalitions for control of the policies they care about</a:t>
            </a:r>
          </a:p>
          <a:p>
            <a:pPr lvl="1"/>
            <a:r>
              <a:rPr sz="1750"/>
              <a:t>Greens want the environment; the populist right, immigration; agrarians, agriculture</a:t>
            </a:r>
          </a:p>
          <a:p>
            <a:r>
              <a:rPr sz="2100"/>
              <a:t>Often several parties want the same ministry</a:t>
            </a:r>
          </a:p>
          <a:p>
            <a:pPr lvl="1"/>
            <a:r>
              <a:rPr sz="1750"/>
              <a:t>It goes to the party with the most leverage: its “walk-away value”</a:t>
            </a:r>
          </a:p>
          <a:p>
            <a:r>
              <a:rPr sz="2100"/>
              <a:t>A rule of thumb: ministries in proportion to seats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Guess the Cabinet</a:t>
            </a:r>
          </a:p>
        </p:txBody>
      </p:sp>
      <p:sp>
        <p:nvSpPr>
          <p:cNvPr id="3" name="Canvas"/>
          <p:cNvSpPr/>
          <p:nvPr/>
        </p:nvSpPr>
        <p:spPr>
          <a:xfrm>
            <a:off x="305" y="-2054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endParaRPr sz="1250" b="1" i="0" dirty="0">
              <a:solidFill>
                <a:srgbClr val="F3672A"/>
              </a:solidFill>
              <a:latin typeface="Calibri"/>
              <a:cs typeface="Calibri"/>
            </a:endParaRP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Guess the cabinet: seats in, ministries out</a:t>
            </a:r>
          </a:p>
        </p:txBody>
      </p:sp>
      <p:sp>
        <p:nvSpPr>
          <p:cNvPr id="6" name="Case 1"/>
          <p:cNvSpPr/>
          <p:nvPr/>
        </p:nvSpPr>
        <p:spPr>
          <a:xfrm>
            <a:off x="457200" y="1188720"/>
            <a:ext cx="3675888" cy="411480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ase 1 header"/>
          <p:cNvSpPr/>
          <p:nvPr/>
        </p:nvSpPr>
        <p:spPr>
          <a:xfrm>
            <a:off x="457200" y="1188720"/>
            <a:ext cx="3675888" cy="41148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ase 1 header text"/>
          <p:cNvSpPr/>
          <p:nvPr/>
        </p:nvSpPr>
        <p:spPr>
          <a:xfrm>
            <a:off x="457200" y="1188720"/>
            <a:ext cx="3675888"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NETHERLANDS, 2026</a:t>
            </a:r>
          </a:p>
        </p:txBody>
      </p:sp>
      <p:sp>
        <p:nvSpPr>
          <p:cNvPr id="9" name="Case 1 text"/>
          <p:cNvSpPr/>
          <p:nvPr/>
        </p:nvSpPr>
        <p:spPr>
          <a:xfrm>
            <a:off x="630936" y="1783080"/>
            <a:ext cx="3328416" cy="34107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algn="ctr"/>
            <a:endParaRPr/>
          </a:p>
        </p:txBody>
      </p:sp>
      <p:sp>
        <p:nvSpPr>
          <p:cNvPr id="10" name="Case 1 seats title"/>
          <p:cNvSpPr/>
          <p:nvPr/>
        </p:nvSpPr>
        <p:spPr>
          <a:xfrm>
            <a:off x="640080" y="1682496"/>
            <a:ext cx="3310128"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SHARE OF THE COALITION’S SEATS</a:t>
            </a:r>
          </a:p>
        </p:txBody>
      </p:sp>
      <p:sp>
        <p:nvSpPr>
          <p:cNvPr id="11" name="Case 1 seats D66"/>
          <p:cNvSpPr/>
          <p:nvPr/>
        </p:nvSpPr>
        <p:spPr>
          <a:xfrm>
            <a:off x="640080" y="1956816"/>
            <a:ext cx="1303990" cy="603504"/>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FFFFFF"/>
                </a:solidFill>
                <a:latin typeface="Calibri"/>
                <a:cs typeface="Calibri"/>
              </a:rPr>
              <a:t>39%</a:t>
            </a:r>
          </a:p>
        </p:txBody>
      </p:sp>
      <p:sp>
        <p:nvSpPr>
          <p:cNvPr id="12" name="Case 1 seats VVD"/>
          <p:cNvSpPr/>
          <p:nvPr/>
        </p:nvSpPr>
        <p:spPr>
          <a:xfrm>
            <a:off x="1944070" y="1956816"/>
            <a:ext cx="1103376" cy="603504"/>
          </a:xfrm>
          <a:prstGeom prst="rect">
            <a:avLst/>
          </a:prstGeom>
          <a:solidFill>
            <a:srgbClr val="5B446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FFFFFF"/>
                </a:solidFill>
                <a:latin typeface="Calibri"/>
                <a:cs typeface="Calibri"/>
              </a:rPr>
              <a:t>33%</a:t>
            </a:r>
          </a:p>
        </p:txBody>
      </p:sp>
      <p:sp>
        <p:nvSpPr>
          <p:cNvPr id="13" name="Case 1 seats CDA"/>
          <p:cNvSpPr/>
          <p:nvPr/>
        </p:nvSpPr>
        <p:spPr>
          <a:xfrm>
            <a:off x="3047446" y="1956816"/>
            <a:ext cx="902762" cy="603504"/>
          </a:xfrm>
          <a:prstGeom prst="rect">
            <a:avLst/>
          </a:prstGeom>
          <a:solidFill>
            <a:srgbClr val="B9AC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321744"/>
                </a:solidFill>
                <a:latin typeface="Calibri"/>
                <a:cs typeface="Calibri"/>
              </a:rPr>
              <a:t>27%</a:t>
            </a:r>
          </a:p>
        </p:txBody>
      </p:sp>
      <p:sp>
        <p:nvSpPr>
          <p:cNvPr id="14" name="Case 1 parties"/>
          <p:cNvSpPr/>
          <p:nvPr/>
        </p:nvSpPr>
        <p:spPr>
          <a:xfrm>
            <a:off x="640080" y="2587752"/>
            <a:ext cx="331012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250" b="0" i="0">
                <a:solidFill>
                  <a:srgbClr val="321744"/>
                </a:solidFill>
                <a:latin typeface="Calibri"/>
                <a:cs typeface="Calibri"/>
              </a:rPr>
              <a:t>D66 26  ·  VVD 22  ·  CDA 18</a:t>
            </a:r>
          </a:p>
        </p:txBody>
      </p:sp>
      <p:sp>
        <p:nvSpPr>
          <p:cNvPr id="15" name="Case 1 question"/>
          <p:cNvSpPr/>
          <p:nvPr/>
        </p:nvSpPr>
        <p:spPr>
          <a:xfrm>
            <a:off x="640080" y="2926080"/>
            <a:ext cx="3310128"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550" b="1" i="0">
                <a:solidFill>
                  <a:srgbClr val="321744"/>
                </a:solidFill>
                <a:latin typeface="Calibri"/>
                <a:cs typeface="Calibri"/>
              </a:rPr>
              <a:t>18 ministers. How many for each party?</a:t>
            </a:r>
          </a:p>
        </p:txBody>
      </p:sp>
      <p:sp>
        <p:nvSpPr>
          <p:cNvPr id="16" name="Case 1 cabinet title"/>
          <p:cNvSpPr/>
          <p:nvPr/>
        </p:nvSpPr>
        <p:spPr>
          <a:xfrm>
            <a:off x="640080" y="3566160"/>
            <a:ext cx="3310128"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SEATS IN THE CABINET</a:t>
            </a:r>
          </a:p>
        </p:txBody>
      </p:sp>
      <p:sp>
        <p:nvSpPr>
          <p:cNvPr id="17" name="Case 1 cabinet D66"/>
          <p:cNvSpPr/>
          <p:nvPr/>
        </p:nvSpPr>
        <p:spPr>
          <a:xfrm>
            <a:off x="640080" y="3840480"/>
            <a:ext cx="1287272" cy="603504"/>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FFFFFF"/>
                </a:solidFill>
                <a:latin typeface="Calibri"/>
                <a:cs typeface="Calibri"/>
              </a:rPr>
              <a:t>7</a:t>
            </a:r>
          </a:p>
        </p:txBody>
      </p:sp>
      <p:sp>
        <p:nvSpPr>
          <p:cNvPr id="18" name="Case 1 cabinet VVD"/>
          <p:cNvSpPr/>
          <p:nvPr/>
        </p:nvSpPr>
        <p:spPr>
          <a:xfrm>
            <a:off x="1927352" y="3840480"/>
            <a:ext cx="1103376" cy="603504"/>
          </a:xfrm>
          <a:prstGeom prst="rect">
            <a:avLst/>
          </a:prstGeom>
          <a:solidFill>
            <a:srgbClr val="5B446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FFFFFF"/>
                </a:solidFill>
                <a:latin typeface="Calibri"/>
                <a:cs typeface="Calibri"/>
              </a:rPr>
              <a:t>6</a:t>
            </a:r>
          </a:p>
        </p:txBody>
      </p:sp>
      <p:sp>
        <p:nvSpPr>
          <p:cNvPr id="19" name="Case 1 cabinet CDA"/>
          <p:cNvSpPr/>
          <p:nvPr/>
        </p:nvSpPr>
        <p:spPr>
          <a:xfrm>
            <a:off x="3030728" y="3840480"/>
            <a:ext cx="919480" cy="603504"/>
          </a:xfrm>
          <a:prstGeom prst="rect">
            <a:avLst/>
          </a:prstGeom>
          <a:solidFill>
            <a:srgbClr val="B9AC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321744"/>
                </a:solidFill>
                <a:latin typeface="Calibri"/>
                <a:cs typeface="Calibri"/>
              </a:rPr>
              <a:t>5</a:t>
            </a:r>
          </a:p>
        </p:txBody>
      </p:sp>
      <p:sp>
        <p:nvSpPr>
          <p:cNvPr id="20" name="Case 1 answer"/>
          <p:cNvSpPr/>
          <p:nvPr/>
        </p:nvSpPr>
        <p:spPr>
          <a:xfrm>
            <a:off x="640080" y="4507992"/>
            <a:ext cx="3310128"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l">
              <a:buNone/>
            </a:pPr>
            <a:r>
              <a:rPr sz="1450" b="1" i="0">
                <a:solidFill>
                  <a:srgbClr val="321744"/>
                </a:solidFill>
                <a:latin typeface="Calibri"/>
                <a:cs typeface="Calibri"/>
              </a:rPr>
              <a:t>7, 6 and 5: almost exactly their shares</a:t>
            </a:r>
          </a:p>
        </p:txBody>
      </p:sp>
      <p:sp>
        <p:nvSpPr>
          <p:cNvPr id="21" name="Case 2"/>
          <p:cNvSpPr/>
          <p:nvPr/>
        </p:nvSpPr>
        <p:spPr>
          <a:xfrm>
            <a:off x="4261104" y="1188720"/>
            <a:ext cx="3675888" cy="411480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ase 2 header"/>
          <p:cNvSpPr/>
          <p:nvPr/>
        </p:nvSpPr>
        <p:spPr>
          <a:xfrm>
            <a:off x="4261104" y="1188720"/>
            <a:ext cx="3675888" cy="41148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ase 2 header text"/>
          <p:cNvSpPr/>
          <p:nvPr/>
        </p:nvSpPr>
        <p:spPr>
          <a:xfrm>
            <a:off x="4261104" y="1188720"/>
            <a:ext cx="3675888"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GERMANY, 2025</a:t>
            </a:r>
          </a:p>
        </p:txBody>
      </p:sp>
      <p:sp>
        <p:nvSpPr>
          <p:cNvPr id="24" name="Case 2 text"/>
          <p:cNvSpPr/>
          <p:nvPr/>
        </p:nvSpPr>
        <p:spPr>
          <a:xfrm>
            <a:off x="4434840" y="1783080"/>
            <a:ext cx="3328416" cy="34107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algn="ctr"/>
            <a:endParaRPr/>
          </a:p>
        </p:txBody>
      </p:sp>
      <p:sp>
        <p:nvSpPr>
          <p:cNvPr id="25" name="Case 2 seats title"/>
          <p:cNvSpPr/>
          <p:nvPr/>
        </p:nvSpPr>
        <p:spPr>
          <a:xfrm>
            <a:off x="4443984" y="1682496"/>
            <a:ext cx="3310128"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SHARE OF THE COALITION’S SEATS</a:t>
            </a:r>
          </a:p>
        </p:txBody>
      </p:sp>
      <p:sp>
        <p:nvSpPr>
          <p:cNvPr id="26" name="Case 2 seats CDU/CSU"/>
          <p:cNvSpPr/>
          <p:nvPr/>
        </p:nvSpPr>
        <p:spPr>
          <a:xfrm>
            <a:off x="4443984" y="1956816"/>
            <a:ext cx="2099106" cy="603504"/>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FFFFFF"/>
                </a:solidFill>
                <a:latin typeface="Calibri"/>
                <a:cs typeface="Calibri"/>
              </a:rPr>
              <a:t>63%</a:t>
            </a:r>
          </a:p>
        </p:txBody>
      </p:sp>
      <p:sp>
        <p:nvSpPr>
          <p:cNvPr id="27" name="Case 2 seats SPD"/>
          <p:cNvSpPr/>
          <p:nvPr/>
        </p:nvSpPr>
        <p:spPr>
          <a:xfrm>
            <a:off x="6543090" y="1956816"/>
            <a:ext cx="1211022" cy="603504"/>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FFFFFF"/>
                </a:solidFill>
                <a:latin typeface="Calibri"/>
                <a:cs typeface="Calibri"/>
              </a:rPr>
              <a:t>37%</a:t>
            </a:r>
          </a:p>
        </p:txBody>
      </p:sp>
      <p:sp>
        <p:nvSpPr>
          <p:cNvPr id="28" name="Case 2 parties"/>
          <p:cNvSpPr/>
          <p:nvPr/>
        </p:nvSpPr>
        <p:spPr>
          <a:xfrm>
            <a:off x="4443984" y="2587752"/>
            <a:ext cx="331012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250" b="0" i="0">
                <a:solidFill>
                  <a:srgbClr val="321744"/>
                </a:solidFill>
                <a:latin typeface="Calibri"/>
                <a:cs typeface="Calibri"/>
              </a:rPr>
              <a:t>CDU/CSU 208  ·  SPD 120</a:t>
            </a:r>
          </a:p>
        </p:txBody>
      </p:sp>
      <p:sp>
        <p:nvSpPr>
          <p:cNvPr id="29" name="Case 2 question"/>
          <p:cNvSpPr/>
          <p:nvPr/>
        </p:nvSpPr>
        <p:spPr>
          <a:xfrm>
            <a:off x="4443984" y="2926080"/>
            <a:ext cx="3310128"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550" b="1" i="0">
                <a:solidFill>
                  <a:srgbClr val="321744"/>
                </a:solidFill>
                <a:latin typeface="Calibri"/>
                <a:cs typeface="Calibri"/>
              </a:rPr>
              <a:t>18 in the cabinet. How many for the SPD?</a:t>
            </a:r>
          </a:p>
        </p:txBody>
      </p:sp>
      <p:sp>
        <p:nvSpPr>
          <p:cNvPr id="30" name="Case 2 cabinet title"/>
          <p:cNvSpPr/>
          <p:nvPr/>
        </p:nvSpPr>
        <p:spPr>
          <a:xfrm>
            <a:off x="4443984" y="3566160"/>
            <a:ext cx="3310128"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SEATS IN THE CABINET</a:t>
            </a:r>
          </a:p>
        </p:txBody>
      </p:sp>
      <p:sp>
        <p:nvSpPr>
          <p:cNvPr id="31" name="Case 2 cabinet CDU/CSU"/>
          <p:cNvSpPr/>
          <p:nvPr/>
        </p:nvSpPr>
        <p:spPr>
          <a:xfrm>
            <a:off x="4443984" y="3840480"/>
            <a:ext cx="2022856" cy="603504"/>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FFFFFF"/>
                </a:solidFill>
                <a:latin typeface="Calibri"/>
                <a:cs typeface="Calibri"/>
              </a:rPr>
              <a:t>11</a:t>
            </a:r>
          </a:p>
        </p:txBody>
      </p:sp>
      <p:sp>
        <p:nvSpPr>
          <p:cNvPr id="32" name="Case 2 cabinet SPD"/>
          <p:cNvSpPr/>
          <p:nvPr/>
        </p:nvSpPr>
        <p:spPr>
          <a:xfrm>
            <a:off x="6466840" y="3840480"/>
            <a:ext cx="1287272" cy="603504"/>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FFFFFF"/>
                </a:solidFill>
                <a:latin typeface="Calibri"/>
                <a:cs typeface="Calibri"/>
              </a:rPr>
              <a:t>7</a:t>
            </a:r>
          </a:p>
        </p:txBody>
      </p:sp>
      <p:sp>
        <p:nvSpPr>
          <p:cNvPr id="33" name="Case 2 answer"/>
          <p:cNvSpPr/>
          <p:nvPr/>
        </p:nvSpPr>
        <p:spPr>
          <a:xfrm>
            <a:off x="4443984" y="4507992"/>
            <a:ext cx="3310128"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l">
              <a:buNone/>
            </a:pPr>
            <a:r>
              <a:rPr sz="1450" b="1" i="0">
                <a:solidFill>
                  <a:srgbClr val="321744"/>
                </a:solidFill>
                <a:latin typeface="Calibri"/>
                <a:cs typeface="Calibri"/>
              </a:rPr>
              <a:t>7 of 18: 39% of the cabinet with 37% of the seats</a:t>
            </a:r>
          </a:p>
        </p:txBody>
      </p:sp>
      <p:sp>
        <p:nvSpPr>
          <p:cNvPr id="34" name="Case 3"/>
          <p:cNvSpPr/>
          <p:nvPr/>
        </p:nvSpPr>
        <p:spPr>
          <a:xfrm>
            <a:off x="8065008" y="1188720"/>
            <a:ext cx="3675888" cy="411480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ase 3 header"/>
          <p:cNvSpPr/>
          <p:nvPr/>
        </p:nvSpPr>
        <p:spPr>
          <a:xfrm>
            <a:off x="8065008" y="1188720"/>
            <a:ext cx="3675888" cy="41148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ase 3 header text"/>
          <p:cNvSpPr/>
          <p:nvPr/>
        </p:nvSpPr>
        <p:spPr>
          <a:xfrm>
            <a:off x="8065008" y="1188720"/>
            <a:ext cx="3675888"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BRITAIN, 2010</a:t>
            </a:r>
          </a:p>
        </p:txBody>
      </p:sp>
      <p:sp>
        <p:nvSpPr>
          <p:cNvPr id="37" name="Case 3 text"/>
          <p:cNvSpPr/>
          <p:nvPr/>
        </p:nvSpPr>
        <p:spPr>
          <a:xfrm>
            <a:off x="8238744" y="1783080"/>
            <a:ext cx="3328416" cy="34107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algn="ctr"/>
            <a:endParaRPr/>
          </a:p>
        </p:txBody>
      </p:sp>
      <p:sp>
        <p:nvSpPr>
          <p:cNvPr id="38" name="Case 3 seats title"/>
          <p:cNvSpPr/>
          <p:nvPr/>
        </p:nvSpPr>
        <p:spPr>
          <a:xfrm>
            <a:off x="8247888" y="1682496"/>
            <a:ext cx="3310128"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SHARE OF THE COALITION’S SEATS</a:t>
            </a:r>
          </a:p>
        </p:txBody>
      </p:sp>
      <p:sp>
        <p:nvSpPr>
          <p:cNvPr id="39" name="Case 3 seats Conservatives"/>
          <p:cNvSpPr/>
          <p:nvPr/>
        </p:nvSpPr>
        <p:spPr>
          <a:xfrm>
            <a:off x="8247888" y="1956816"/>
            <a:ext cx="2790356" cy="603504"/>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FFFFFF"/>
                </a:solidFill>
                <a:latin typeface="Calibri"/>
                <a:cs typeface="Calibri"/>
              </a:rPr>
              <a:t>84%</a:t>
            </a:r>
          </a:p>
        </p:txBody>
      </p:sp>
      <p:sp>
        <p:nvSpPr>
          <p:cNvPr id="40" name="Case 3 seats Liberal Democrats"/>
          <p:cNvSpPr/>
          <p:nvPr/>
        </p:nvSpPr>
        <p:spPr>
          <a:xfrm>
            <a:off x="11038244" y="1956816"/>
            <a:ext cx="519772" cy="603504"/>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1700" b="1" i="0">
                <a:solidFill>
                  <a:srgbClr val="FFFFFF"/>
                </a:solidFill>
                <a:latin typeface="Calibri"/>
                <a:cs typeface="Calibri"/>
              </a:rPr>
              <a:t>16%</a:t>
            </a:r>
          </a:p>
        </p:txBody>
      </p:sp>
      <p:sp>
        <p:nvSpPr>
          <p:cNvPr id="41" name="Case 3 parties"/>
          <p:cNvSpPr/>
          <p:nvPr/>
        </p:nvSpPr>
        <p:spPr>
          <a:xfrm>
            <a:off x="8247888" y="2587752"/>
            <a:ext cx="331012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250" b="0" i="0">
                <a:solidFill>
                  <a:srgbClr val="321744"/>
                </a:solidFill>
                <a:latin typeface="Calibri"/>
                <a:cs typeface="Calibri"/>
              </a:rPr>
              <a:t>Conservatives 306  ·  Liberal Democrats 57</a:t>
            </a:r>
          </a:p>
        </p:txBody>
      </p:sp>
      <p:sp>
        <p:nvSpPr>
          <p:cNvPr id="42" name="Case 3 question"/>
          <p:cNvSpPr/>
          <p:nvPr/>
        </p:nvSpPr>
        <p:spPr>
          <a:xfrm>
            <a:off x="8247888" y="2926080"/>
            <a:ext cx="3310128"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550" b="1" i="0">
                <a:solidFill>
                  <a:srgbClr val="321744"/>
                </a:solidFill>
                <a:latin typeface="Calibri"/>
                <a:cs typeface="Calibri"/>
              </a:rPr>
              <a:t>23 in the cabinet. How many for the Liberal Democrats?</a:t>
            </a:r>
          </a:p>
        </p:txBody>
      </p:sp>
      <p:sp>
        <p:nvSpPr>
          <p:cNvPr id="43" name="Case 3 cabinet title"/>
          <p:cNvSpPr/>
          <p:nvPr/>
        </p:nvSpPr>
        <p:spPr>
          <a:xfrm>
            <a:off x="8247888" y="3566160"/>
            <a:ext cx="3310128"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150" b="1" i="0">
                <a:solidFill>
                  <a:srgbClr val="5C5C5C"/>
                </a:solidFill>
                <a:latin typeface="Calibri"/>
                <a:cs typeface="Calibri"/>
              </a:rPr>
              <a:t>SEATS IN THE CABINET</a:t>
            </a:r>
          </a:p>
        </p:txBody>
      </p:sp>
      <p:sp>
        <p:nvSpPr>
          <p:cNvPr id="44" name="Case 3 cabinet Conservatives"/>
          <p:cNvSpPr/>
          <p:nvPr/>
        </p:nvSpPr>
        <p:spPr>
          <a:xfrm>
            <a:off x="8247888" y="3840480"/>
            <a:ext cx="2590535" cy="603504"/>
          </a:xfrm>
          <a:prstGeom prst="rect">
            <a:avLst/>
          </a:prstGeom>
          <a:solidFill>
            <a:srgbClr val="301A4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FFFFFF"/>
                </a:solidFill>
                <a:latin typeface="Calibri"/>
                <a:cs typeface="Calibri"/>
              </a:rPr>
              <a:t>18</a:t>
            </a:r>
          </a:p>
        </p:txBody>
      </p:sp>
      <p:sp>
        <p:nvSpPr>
          <p:cNvPr id="45" name="Case 3 cabinet Liberal Democrats"/>
          <p:cNvSpPr/>
          <p:nvPr/>
        </p:nvSpPr>
        <p:spPr>
          <a:xfrm>
            <a:off x="10838423" y="3840480"/>
            <a:ext cx="719593" cy="603504"/>
          </a:xfrm>
          <a:prstGeom prst="rect">
            <a:avLst/>
          </a:prstGeom>
          <a:solidFill>
            <a:srgbClr val="F36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ctr">
              <a:buNone/>
            </a:pPr>
            <a:r>
              <a:rPr sz="2000" b="1" i="0">
                <a:solidFill>
                  <a:srgbClr val="FFFFFF"/>
                </a:solidFill>
                <a:latin typeface="Calibri"/>
                <a:cs typeface="Calibri"/>
              </a:rPr>
              <a:t>5</a:t>
            </a:r>
          </a:p>
        </p:txBody>
      </p:sp>
      <p:sp>
        <p:nvSpPr>
          <p:cNvPr id="46" name="Case 3 answer"/>
          <p:cNvSpPr/>
          <p:nvPr/>
        </p:nvSpPr>
        <p:spPr>
          <a:xfrm>
            <a:off x="8247888" y="4507992"/>
            <a:ext cx="3310128"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l">
              <a:buNone/>
            </a:pPr>
            <a:r>
              <a:rPr sz="1450" b="1" i="0">
                <a:solidFill>
                  <a:srgbClr val="321744"/>
                </a:solidFill>
                <a:latin typeface="Calibri"/>
                <a:cs typeface="Calibri"/>
              </a:rPr>
              <a:t>5 of 23: 22% of the cabinet with 16% of the seats</a:t>
            </a:r>
          </a:p>
        </p:txBody>
      </p:sp>
      <p:sp>
        <p:nvSpPr>
          <p:cNvPr id="47" name="Footnote"/>
          <p:cNvSpPr/>
          <p:nvPr/>
        </p:nvSpPr>
        <p:spPr>
          <a:xfrm>
            <a:off x="457200" y="5440680"/>
            <a:ext cx="11274552"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50" b="0" i="1">
                <a:solidFill>
                  <a:srgbClr val="5C5C5C"/>
                </a:solidFill>
                <a:latin typeface="Calibri"/>
                <a:cs typeface="Calibri"/>
              </a:rPr>
              <a:t>Ministries follow seats closely, and the smaller partner tends to get a little more than its share. The cabinet counts include the head of government.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30" grpId="0" animBg="1"/>
      <p:bldP spid="31" grpId="0" animBg="1"/>
      <p:bldP spid="32" grpId="0" animBg="1"/>
      <p:bldP spid="33" grpId="0" animBg="1"/>
      <p:bldP spid="43" grpId="0" animBg="1"/>
      <p:bldP spid="44" grpId="0" animBg="1"/>
      <p:bldP spid="45" grpId="0" animBg="1"/>
      <p:bldP spid="46"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Britain, May 2010: No Majority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Britain, May 2010: no party has a majority</a:t>
            </a:r>
          </a:p>
        </p:txBody>
      </p:sp>
      <p:sp>
        <p:nvSpPr>
          <p:cNvPr id="5"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Fox</a:t>
            </a:r>
          </a:p>
        </p:txBody>
      </p:sp>
      <p:pic>
        <p:nvPicPr>
          <p:cNvPr id="6" name="Photo (Lecture 10.pptx, slide 9, picture 2)" descr="image.jpg"/>
          <p:cNvPicPr>
            <a:picLocks noChangeAspect="1"/>
          </p:cNvPicPr>
          <p:nvPr/>
        </p:nvPicPr>
        <p:blipFill>
          <a:blip r:embed="rId2"/>
          <a:srcRect/>
          <a:stretch>
            <a:fillRect/>
          </a:stretch>
        </p:blipFill>
        <p:spPr>
          <a:xfrm>
            <a:off x="457200" y="1235689"/>
            <a:ext cx="4937760" cy="3289342"/>
          </a:xfrm>
          <a:prstGeom prst="rect">
            <a:avLst/>
          </a:prstGeom>
          <a:ln w="19050">
            <a:solidFill>
              <a:srgbClr val="BFBFBF"/>
            </a:solidFill>
          </a:ln>
        </p:spPr>
      </p:pic>
      <p:sp>
        <p:nvSpPr>
          <p:cNvPr id="7" name="Photo caption"/>
          <p:cNvSpPr/>
          <p:nvPr/>
        </p:nvSpPr>
        <p:spPr>
          <a:xfrm>
            <a:off x="457200" y="4570751"/>
            <a:ext cx="493776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ctr">
              <a:buNone/>
            </a:pPr>
            <a:r>
              <a:rPr sz="1250" b="0" i="1">
                <a:solidFill>
                  <a:srgbClr val="321744"/>
                </a:solidFill>
                <a:latin typeface="Calibri"/>
                <a:cs typeface="Calibri"/>
              </a:rPr>
              <a:t>Nick Clegg (Liberal Democrats), Gordon Brown (Labour, the prime minister) and David Cameron (Conservatives), the three party leaders</a:t>
            </a:r>
          </a:p>
        </p:txBody>
      </p:sp>
      <p:sp>
        <p:nvSpPr>
          <p:cNvPr id="8" name="Conservatives bar"/>
          <p:cNvSpPr/>
          <p:nvPr/>
        </p:nvSpPr>
        <p:spPr>
          <a:xfrm>
            <a:off x="6183630" y="1928935"/>
            <a:ext cx="868680" cy="2231585"/>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nservatives seats"/>
          <p:cNvSpPr/>
          <p:nvPr/>
        </p:nvSpPr>
        <p:spPr>
          <a:xfrm>
            <a:off x="6000750" y="1599751"/>
            <a:ext cx="12344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700" b="1" i="0">
                <a:solidFill>
                  <a:srgbClr val="321744"/>
                </a:solidFill>
                <a:latin typeface="Calibri"/>
                <a:cs typeface="Calibri"/>
              </a:rPr>
              <a:t>306</a:t>
            </a:r>
          </a:p>
        </p:txBody>
      </p:sp>
      <p:sp>
        <p:nvSpPr>
          <p:cNvPr id="10" name="Conservatives label"/>
          <p:cNvSpPr/>
          <p:nvPr/>
        </p:nvSpPr>
        <p:spPr>
          <a:xfrm>
            <a:off x="5897880" y="4206240"/>
            <a:ext cx="144018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buNone/>
            </a:pPr>
            <a:r>
              <a:rPr sz="1350" b="1" i="0">
                <a:solidFill>
                  <a:srgbClr val="321744"/>
                </a:solidFill>
                <a:latin typeface="Calibri"/>
                <a:cs typeface="Calibri"/>
              </a:rPr>
              <a:t>Conservatives</a:t>
            </a:r>
          </a:p>
        </p:txBody>
      </p:sp>
      <p:sp>
        <p:nvSpPr>
          <p:cNvPr id="11" name="Labour bar"/>
          <p:cNvSpPr/>
          <p:nvPr/>
        </p:nvSpPr>
        <p:spPr>
          <a:xfrm>
            <a:off x="7623810" y="2278988"/>
            <a:ext cx="868680" cy="1881532"/>
          </a:xfrm>
          <a:prstGeom prst="rect">
            <a:avLst/>
          </a:prstGeom>
          <a:solidFill>
            <a:srgbClr val="5B44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Labour seats"/>
          <p:cNvSpPr/>
          <p:nvPr/>
        </p:nvSpPr>
        <p:spPr>
          <a:xfrm>
            <a:off x="7440930" y="1949804"/>
            <a:ext cx="12344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700" b="1" i="0">
                <a:solidFill>
                  <a:srgbClr val="321744"/>
                </a:solidFill>
                <a:latin typeface="Calibri"/>
                <a:cs typeface="Calibri"/>
              </a:rPr>
              <a:t>258</a:t>
            </a:r>
          </a:p>
        </p:txBody>
      </p:sp>
      <p:sp>
        <p:nvSpPr>
          <p:cNvPr id="13" name="Labour label"/>
          <p:cNvSpPr/>
          <p:nvPr/>
        </p:nvSpPr>
        <p:spPr>
          <a:xfrm>
            <a:off x="7338060" y="4206240"/>
            <a:ext cx="144018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buNone/>
            </a:pPr>
            <a:r>
              <a:rPr sz="1350" b="1" i="0">
                <a:solidFill>
                  <a:srgbClr val="321744"/>
                </a:solidFill>
                <a:latin typeface="Calibri"/>
                <a:cs typeface="Calibri"/>
              </a:rPr>
              <a:t>Labour</a:t>
            </a:r>
          </a:p>
        </p:txBody>
      </p:sp>
      <p:sp>
        <p:nvSpPr>
          <p:cNvPr id="14" name="Liberal Democrats bar"/>
          <p:cNvSpPr/>
          <p:nvPr/>
        </p:nvSpPr>
        <p:spPr>
          <a:xfrm>
            <a:off x="9063990" y="3744833"/>
            <a:ext cx="868680" cy="415687"/>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iberal Democrats seats"/>
          <p:cNvSpPr/>
          <p:nvPr/>
        </p:nvSpPr>
        <p:spPr>
          <a:xfrm>
            <a:off x="8881110" y="3415649"/>
            <a:ext cx="12344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700" b="1" i="0">
                <a:solidFill>
                  <a:srgbClr val="321744"/>
                </a:solidFill>
                <a:latin typeface="Calibri"/>
                <a:cs typeface="Calibri"/>
              </a:rPr>
              <a:t>57</a:t>
            </a:r>
          </a:p>
        </p:txBody>
      </p:sp>
      <p:sp>
        <p:nvSpPr>
          <p:cNvPr id="16" name="Liberal Democrats label"/>
          <p:cNvSpPr/>
          <p:nvPr/>
        </p:nvSpPr>
        <p:spPr>
          <a:xfrm>
            <a:off x="8778240" y="4206240"/>
            <a:ext cx="144018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buNone/>
            </a:pPr>
            <a:r>
              <a:rPr sz="1350" b="1" i="0">
                <a:solidFill>
                  <a:srgbClr val="321744"/>
                </a:solidFill>
                <a:latin typeface="Calibri"/>
                <a:cs typeface="Calibri"/>
              </a:rPr>
              <a:t>Liberal Democrats</a:t>
            </a:r>
          </a:p>
        </p:txBody>
      </p:sp>
      <p:sp>
        <p:nvSpPr>
          <p:cNvPr id="17" name="Others bar"/>
          <p:cNvSpPr/>
          <p:nvPr/>
        </p:nvSpPr>
        <p:spPr>
          <a:xfrm>
            <a:off x="10504170" y="3949030"/>
            <a:ext cx="868680" cy="21149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thers seats"/>
          <p:cNvSpPr/>
          <p:nvPr/>
        </p:nvSpPr>
        <p:spPr>
          <a:xfrm>
            <a:off x="10321290" y="3619846"/>
            <a:ext cx="12344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normAutofit/>
          </a:bodyPr>
          <a:lstStyle/>
          <a:p>
            <a:pPr marL="0" indent="0" algn="ctr">
              <a:buNone/>
            </a:pPr>
            <a:r>
              <a:rPr sz="1700" b="1" i="0">
                <a:solidFill>
                  <a:srgbClr val="321744"/>
                </a:solidFill>
                <a:latin typeface="Calibri"/>
                <a:cs typeface="Calibri"/>
              </a:rPr>
              <a:t>29</a:t>
            </a:r>
          </a:p>
        </p:txBody>
      </p:sp>
      <p:sp>
        <p:nvSpPr>
          <p:cNvPr id="19" name="Others label"/>
          <p:cNvSpPr/>
          <p:nvPr/>
        </p:nvSpPr>
        <p:spPr>
          <a:xfrm>
            <a:off x="10218420" y="4206240"/>
            <a:ext cx="144018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buNone/>
            </a:pPr>
            <a:r>
              <a:rPr sz="1350" b="1" i="0">
                <a:solidFill>
                  <a:srgbClr val="321744"/>
                </a:solidFill>
                <a:latin typeface="Calibri"/>
                <a:cs typeface="Calibri"/>
              </a:rPr>
              <a:t>Others</a:t>
            </a:r>
          </a:p>
        </p:txBody>
      </p:sp>
      <p:cxnSp>
        <p:nvCxnSpPr>
          <p:cNvPr id="20" name="Baseline"/>
          <p:cNvCxnSpPr/>
          <p:nvPr/>
        </p:nvCxnSpPr>
        <p:spPr>
          <a:xfrm>
            <a:off x="5897880" y="4160520"/>
            <a:ext cx="5760720" cy="0"/>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cxnSp>
        <p:nvCxnSpPr>
          <p:cNvPr id="21" name="Majority line"/>
          <p:cNvCxnSpPr/>
          <p:nvPr/>
        </p:nvCxnSpPr>
        <p:spPr>
          <a:xfrm>
            <a:off x="7360920" y="1783080"/>
            <a:ext cx="4297680" cy="0"/>
          </a:xfrm>
          <a:prstGeom prst="line">
            <a:avLst/>
          </a:prstGeom>
          <a:ln w="15875">
            <a:solidFill>
              <a:srgbClr val="5C5C5C"/>
            </a:solidFill>
            <a:prstDash val="dash"/>
          </a:ln>
        </p:spPr>
        <p:style>
          <a:lnRef idx="2">
            <a:schemeClr val="accent1"/>
          </a:lnRef>
          <a:fillRef idx="0">
            <a:schemeClr val="accent1"/>
          </a:fillRef>
          <a:effectRef idx="1">
            <a:schemeClr val="accent1"/>
          </a:effectRef>
          <a:fontRef idx="minor">
            <a:schemeClr val="tx1"/>
          </a:fontRef>
        </p:style>
      </p:cxnSp>
      <p:sp>
        <p:nvSpPr>
          <p:cNvPr id="22" name="Majority label"/>
          <p:cNvSpPr/>
          <p:nvPr/>
        </p:nvSpPr>
        <p:spPr>
          <a:xfrm>
            <a:off x="9006840" y="1490472"/>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r">
              <a:buNone/>
            </a:pPr>
            <a:r>
              <a:rPr sz="1250" b="0" i="1">
                <a:solidFill>
                  <a:srgbClr val="5C5C5C"/>
                </a:solidFill>
                <a:latin typeface="Calibri"/>
                <a:cs typeface="Calibri"/>
              </a:rPr>
              <a:t>326 of 650 seats: a majority</a:t>
            </a:r>
          </a:p>
        </p:txBody>
      </p:sp>
      <p:sp>
        <p:nvSpPr>
          <p:cNvPr id="23" name="Sum 1"/>
          <p:cNvSpPr/>
          <p:nvPr/>
        </p:nvSpPr>
        <p:spPr>
          <a:xfrm>
            <a:off x="457200" y="5212080"/>
            <a:ext cx="3675888" cy="566928"/>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Conservatives + Liberal Democrats = 363</a:t>
            </a:r>
          </a:p>
        </p:txBody>
      </p:sp>
      <p:sp>
        <p:nvSpPr>
          <p:cNvPr id="24" name="Sum 2"/>
          <p:cNvSpPr/>
          <p:nvPr/>
        </p:nvSpPr>
        <p:spPr>
          <a:xfrm>
            <a:off x="4261104" y="5212080"/>
            <a:ext cx="3675888" cy="566928"/>
          </a:xfrm>
          <a:prstGeom prst="roundRect">
            <a:avLst>
              <a:gd name="adj" fmla="val 25000"/>
            </a:avLst>
          </a:prstGeom>
          <a:solidFill>
            <a:srgbClr val="5B4468"/>
          </a:solidFill>
          <a:ln w="19050">
            <a:solidFill>
              <a:srgbClr val="5B4468"/>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Labour + Liberal Democrats = 315</a:t>
            </a:r>
          </a:p>
        </p:txBody>
      </p:sp>
      <p:sp>
        <p:nvSpPr>
          <p:cNvPr id="25" name="Sum 3"/>
          <p:cNvSpPr/>
          <p:nvPr/>
        </p:nvSpPr>
        <p:spPr>
          <a:xfrm>
            <a:off x="8065008" y="5212080"/>
            <a:ext cx="3675888" cy="566928"/>
          </a:xfrm>
          <a:prstGeom prst="roundRect">
            <a:avLst>
              <a:gd name="adj" fmla="val 25000"/>
            </a:avLst>
          </a:prstGeom>
          <a:solidFill>
            <a:srgbClr val="BFBFBF"/>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321744"/>
                </a:solidFill>
                <a:latin typeface="Calibri"/>
                <a:cs typeface="Calibri"/>
              </a:rPr>
              <a:t>Labour + Liberal Democrats + four small parties = 328</a:t>
            </a:r>
          </a:p>
        </p:txBody>
      </p:sp>
      <p:sp>
        <p:nvSpPr>
          <p:cNvPr id="26" name="Footnote"/>
          <p:cNvSpPr/>
          <p:nvPr/>
        </p:nvSpPr>
        <p:spPr>
          <a:xfrm>
            <a:off x="457200" y="5870448"/>
            <a:ext cx="1127455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500" b="0" i="1">
                <a:solidFill>
                  <a:srgbClr val="5C5C5C"/>
                </a:solidFill>
                <a:latin typeface="Calibri"/>
                <a:cs typeface="Calibri"/>
              </a:rPr>
              <a:t>Paddy Ashdown, a former Liberal Democrat leader: “our instincts go one way but the mathematics go the 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Liberal Democrats’ Three Options</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HANDS UP</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dirty="0">
                <a:solidFill>
                  <a:srgbClr val="321744"/>
                </a:solidFill>
                <a:latin typeface="Calibri"/>
                <a:cs typeface="Calibri"/>
              </a:rPr>
              <a:t>The Liberal Democrats’ options</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Fox</a:t>
            </a:r>
          </a:p>
        </p:txBody>
      </p:sp>
      <p:sp>
        <p:nvSpPr>
          <p:cNvPr id="7" name="Task"/>
          <p:cNvSpPr/>
          <p:nvPr/>
        </p:nvSpPr>
        <p:spPr>
          <a:xfrm>
            <a:off x="457200" y="1005840"/>
            <a:ext cx="1127455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600" b="1" i="0">
                <a:solidFill>
                  <a:srgbClr val="321744"/>
                </a:solidFill>
                <a:latin typeface="Calibri"/>
                <a:cs typeface="Calibri"/>
              </a:rPr>
              <a:t>You lead the Liberal Democrats, with 57 seats. One, two or three?</a:t>
            </a:r>
          </a:p>
        </p:txBody>
      </p:sp>
      <p:sp>
        <p:nvSpPr>
          <p:cNvPr id="8" name="Header 1"/>
          <p:cNvSpPr/>
          <p:nvPr/>
        </p:nvSpPr>
        <p:spPr>
          <a:xfrm>
            <a:off x="2926080" y="1463040"/>
            <a:ext cx="2011680" cy="438912"/>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1 text"/>
          <p:cNvSpPr/>
          <p:nvPr/>
        </p:nvSpPr>
        <p:spPr>
          <a:xfrm>
            <a:off x="2926080" y="1463040"/>
            <a:ext cx="20116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SEATS</a:t>
            </a:r>
          </a:p>
        </p:txBody>
      </p:sp>
      <p:sp>
        <p:nvSpPr>
          <p:cNvPr id="10" name="Header 2"/>
          <p:cNvSpPr/>
          <p:nvPr/>
        </p:nvSpPr>
        <p:spPr>
          <a:xfrm>
            <a:off x="5029200" y="1463040"/>
            <a:ext cx="3246120" cy="438912"/>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Header 2 text"/>
          <p:cNvSpPr/>
          <p:nvPr/>
        </p:nvSpPr>
        <p:spPr>
          <a:xfrm>
            <a:off x="5029200" y="1463040"/>
            <a:ext cx="324612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WHAT IT OFFERED</a:t>
            </a:r>
          </a:p>
        </p:txBody>
      </p:sp>
      <p:sp>
        <p:nvSpPr>
          <p:cNvPr id="12" name="Header 3"/>
          <p:cNvSpPr/>
          <p:nvPr/>
        </p:nvSpPr>
        <p:spPr>
          <a:xfrm>
            <a:off x="8366760" y="1463040"/>
            <a:ext cx="3364992" cy="438912"/>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eader 3 text"/>
          <p:cNvSpPr/>
          <p:nvPr/>
        </p:nvSpPr>
        <p:spPr>
          <a:xfrm>
            <a:off x="8366760" y="1463040"/>
            <a:ext cx="3364992"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PROBLEM</a:t>
            </a:r>
          </a:p>
        </p:txBody>
      </p:sp>
      <p:sp>
        <p:nvSpPr>
          <p:cNvPr id="14" name="Row band 1"/>
          <p:cNvSpPr/>
          <p:nvPr/>
        </p:nvSpPr>
        <p:spPr>
          <a:xfrm>
            <a:off x="457200" y="1993392"/>
            <a:ext cx="11274552" cy="960120"/>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w 1 label"/>
          <p:cNvSpPr/>
          <p:nvPr/>
        </p:nvSpPr>
        <p:spPr>
          <a:xfrm>
            <a:off x="457200" y="1993392"/>
            <a:ext cx="237744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dirty="0">
                <a:solidFill>
                  <a:srgbClr val="321744"/>
                </a:solidFill>
                <a:latin typeface="Calibri"/>
                <a:cs typeface="Calibri"/>
              </a:rPr>
              <a:t>1. A coalition with the Conservatives</a:t>
            </a:r>
          </a:p>
        </p:txBody>
      </p:sp>
      <p:sp>
        <p:nvSpPr>
          <p:cNvPr id="16" name="Row 1 col 1"/>
          <p:cNvSpPr/>
          <p:nvPr/>
        </p:nvSpPr>
        <p:spPr>
          <a:xfrm>
            <a:off x="2926080" y="1993392"/>
            <a:ext cx="20116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a:solidFill>
                  <a:srgbClr val="321744"/>
                </a:solidFill>
                <a:latin typeface="Calibri"/>
                <a:cs typeface="Calibri"/>
              </a:rPr>
              <a:t>363</a:t>
            </a:r>
          </a:p>
        </p:txBody>
      </p:sp>
      <p:sp>
        <p:nvSpPr>
          <p:cNvPr id="17" name="Row 1 col 2"/>
          <p:cNvSpPr/>
          <p:nvPr/>
        </p:nvSpPr>
        <p:spPr>
          <a:xfrm>
            <a:off x="5029200" y="1993392"/>
            <a:ext cx="324612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a:solidFill>
                  <a:srgbClr val="321744"/>
                </a:solidFill>
                <a:latin typeface="Calibri"/>
                <a:cs typeface="Calibri"/>
              </a:rPr>
              <a:t>Five seats in the cabinet, 20 ministers in all, and a referendum on the voting system</a:t>
            </a:r>
          </a:p>
        </p:txBody>
      </p:sp>
      <p:sp>
        <p:nvSpPr>
          <p:cNvPr id="18" name="Row 1 col 3"/>
          <p:cNvSpPr/>
          <p:nvPr/>
        </p:nvSpPr>
        <p:spPr>
          <a:xfrm>
            <a:off x="8366760" y="1993392"/>
            <a:ext cx="3364992"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a:solidFill>
                  <a:srgbClr val="321744"/>
                </a:solidFill>
                <a:latin typeface="Calibri"/>
                <a:cs typeface="Calibri"/>
              </a:rPr>
              <a:t>Their own voters preferred Labour, by 40% to 22%</a:t>
            </a:r>
          </a:p>
        </p:txBody>
      </p:sp>
      <p:sp>
        <p:nvSpPr>
          <p:cNvPr id="19" name="Row 2 label"/>
          <p:cNvSpPr/>
          <p:nvPr/>
        </p:nvSpPr>
        <p:spPr>
          <a:xfrm>
            <a:off x="457200" y="2953512"/>
            <a:ext cx="237744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a:solidFill>
                  <a:srgbClr val="321744"/>
                </a:solidFill>
                <a:latin typeface="Calibri"/>
                <a:cs typeface="Calibri"/>
              </a:rPr>
              <a:t>2. A deal with Labour</a:t>
            </a:r>
          </a:p>
        </p:txBody>
      </p:sp>
      <p:sp>
        <p:nvSpPr>
          <p:cNvPr id="20" name="Row 2 col 1"/>
          <p:cNvSpPr/>
          <p:nvPr/>
        </p:nvSpPr>
        <p:spPr>
          <a:xfrm>
            <a:off x="2926080" y="2953512"/>
            <a:ext cx="20116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a:solidFill>
                  <a:srgbClr val="321744"/>
                </a:solidFill>
                <a:latin typeface="Calibri"/>
                <a:cs typeface="Calibri"/>
              </a:rPr>
              <a:t>315, or 328 with four small parties</a:t>
            </a:r>
          </a:p>
        </p:txBody>
      </p:sp>
      <p:sp>
        <p:nvSpPr>
          <p:cNvPr id="21" name="Row 2 col 2"/>
          <p:cNvSpPr/>
          <p:nvPr/>
        </p:nvSpPr>
        <p:spPr>
          <a:xfrm>
            <a:off x="5029200" y="2953512"/>
            <a:ext cx="324612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lang="en-US" sz="1550" b="0" i="0" dirty="0">
                <a:solidFill>
                  <a:srgbClr val="321744"/>
                </a:solidFill>
                <a:latin typeface="Calibri"/>
                <a:cs typeface="Calibri"/>
              </a:rPr>
              <a:t>Lib Dems closer to Labour on policy</a:t>
            </a:r>
            <a:endParaRPr sz="1550" b="0" i="0" dirty="0">
              <a:solidFill>
                <a:srgbClr val="321744"/>
              </a:solidFill>
              <a:latin typeface="Calibri"/>
              <a:cs typeface="Calibri"/>
            </a:endParaRPr>
          </a:p>
        </p:txBody>
      </p:sp>
      <p:sp>
        <p:nvSpPr>
          <p:cNvPr id="22" name="Row 2 col 3"/>
          <p:cNvSpPr/>
          <p:nvPr/>
        </p:nvSpPr>
        <p:spPr>
          <a:xfrm>
            <a:off x="8366760" y="2953512"/>
            <a:ext cx="3364992"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dirty="0">
                <a:solidFill>
                  <a:srgbClr val="321744"/>
                </a:solidFill>
                <a:latin typeface="Calibri"/>
                <a:cs typeface="Calibri"/>
              </a:rPr>
              <a:t>“The arithmetic did not add up,” and it kept a defeated government in office</a:t>
            </a:r>
            <a:r>
              <a:rPr lang="en-US" sz="1550" b="0" i="0" dirty="0">
                <a:solidFill>
                  <a:srgbClr val="321744"/>
                </a:solidFill>
                <a:latin typeface="Calibri"/>
                <a:cs typeface="Calibri"/>
              </a:rPr>
              <a:t>, required other parties </a:t>
            </a:r>
            <a:endParaRPr sz="1550" b="0" i="0" dirty="0">
              <a:solidFill>
                <a:srgbClr val="321744"/>
              </a:solidFill>
              <a:latin typeface="Calibri"/>
              <a:cs typeface="Calibri"/>
            </a:endParaRPr>
          </a:p>
        </p:txBody>
      </p:sp>
      <p:sp>
        <p:nvSpPr>
          <p:cNvPr id="23" name="Row band 3"/>
          <p:cNvSpPr/>
          <p:nvPr/>
        </p:nvSpPr>
        <p:spPr>
          <a:xfrm>
            <a:off x="457200" y="3913632"/>
            <a:ext cx="11274552" cy="960120"/>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w 3 label"/>
          <p:cNvSpPr/>
          <p:nvPr/>
        </p:nvSpPr>
        <p:spPr>
          <a:xfrm>
            <a:off x="457200" y="3913632"/>
            <a:ext cx="237744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00" b="1" i="0">
                <a:solidFill>
                  <a:srgbClr val="321744"/>
                </a:solidFill>
                <a:latin typeface="Calibri"/>
                <a:cs typeface="Calibri"/>
              </a:rPr>
              <a:t>3. Support from outside</a:t>
            </a:r>
          </a:p>
        </p:txBody>
      </p:sp>
      <p:sp>
        <p:nvSpPr>
          <p:cNvPr id="25" name="Row 3 col 1"/>
          <p:cNvSpPr/>
          <p:nvPr/>
        </p:nvSpPr>
        <p:spPr>
          <a:xfrm>
            <a:off x="2926080" y="3913632"/>
            <a:ext cx="20116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dirty="0">
                <a:solidFill>
                  <a:srgbClr val="321744"/>
                </a:solidFill>
                <a:latin typeface="Calibri"/>
                <a:cs typeface="Calibri"/>
              </a:rPr>
              <a:t>363 on votes of confidence and the budget</a:t>
            </a:r>
          </a:p>
        </p:txBody>
      </p:sp>
      <p:sp>
        <p:nvSpPr>
          <p:cNvPr id="26" name="Row 3 col 2"/>
          <p:cNvSpPr/>
          <p:nvPr/>
        </p:nvSpPr>
        <p:spPr>
          <a:xfrm>
            <a:off x="5029200" y="3913632"/>
            <a:ext cx="324612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dirty="0">
                <a:solidFill>
                  <a:srgbClr val="321744"/>
                </a:solidFill>
                <a:latin typeface="Calibri"/>
                <a:cs typeface="Calibri"/>
              </a:rPr>
              <a:t>No ministers and no joint program</a:t>
            </a:r>
          </a:p>
        </p:txBody>
      </p:sp>
      <p:sp>
        <p:nvSpPr>
          <p:cNvPr id="27" name="Row 3 col 3"/>
          <p:cNvSpPr/>
          <p:nvPr/>
        </p:nvSpPr>
        <p:spPr>
          <a:xfrm>
            <a:off x="8366760" y="3913632"/>
            <a:ext cx="3364992"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550" b="0" i="0" dirty="0">
                <a:solidFill>
                  <a:srgbClr val="321744"/>
                </a:solidFill>
                <a:latin typeface="Calibri"/>
                <a:cs typeface="Calibri"/>
              </a:rPr>
              <a:t>“The worst of all possible worlds”: no influence, and </a:t>
            </a:r>
            <a:r>
              <a:rPr lang="en-US" sz="1550" b="0" i="0" dirty="0">
                <a:solidFill>
                  <a:srgbClr val="321744"/>
                </a:solidFill>
                <a:latin typeface="Calibri"/>
                <a:cs typeface="Calibri"/>
              </a:rPr>
              <a:t>still ge</a:t>
            </a:r>
            <a:r>
              <a:rPr lang="en-US" sz="1550" dirty="0">
                <a:solidFill>
                  <a:srgbClr val="321744"/>
                </a:solidFill>
                <a:latin typeface="Calibri"/>
                <a:cs typeface="Calibri"/>
              </a:rPr>
              <a:t>t blame</a:t>
            </a:r>
            <a:endParaRPr sz="1550" b="0" i="0" dirty="0">
              <a:solidFill>
                <a:srgbClr val="321744"/>
              </a:solidFill>
              <a:latin typeface="Calibri"/>
              <a:cs typeface="Calibri"/>
            </a:endParaRPr>
          </a:p>
        </p:txBody>
      </p:sp>
      <p:sp>
        <p:nvSpPr>
          <p:cNvPr id="28" name="Outcome"/>
          <p:cNvSpPr/>
          <p:nvPr/>
        </p:nvSpPr>
        <p:spPr>
          <a:xfrm>
            <a:off x="457200" y="4983480"/>
            <a:ext cx="11274552" cy="868680"/>
          </a:xfrm>
          <a:prstGeom prst="roundRect">
            <a:avLst>
              <a:gd name="adj" fmla="val 12000"/>
            </a:avLst>
          </a:prstGeom>
          <a:solidFill>
            <a:srgbClr val="FFF6F0"/>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normAutofit/>
          </a:bodyPr>
          <a:lstStyle/>
          <a:p>
            <a:pPr marL="0" indent="0" algn="ctr">
              <a:spcAft>
                <a:spcPts val="200"/>
              </a:spcAft>
              <a:buNone/>
            </a:pPr>
            <a:r>
              <a:rPr sz="1700" b="1" i="0" dirty="0">
                <a:solidFill>
                  <a:srgbClr val="321744"/>
                </a:solidFill>
                <a:latin typeface="Calibri"/>
                <a:cs typeface="Calibri"/>
              </a:rPr>
              <a:t>They chose the first</a:t>
            </a:r>
            <a:r>
              <a:rPr lang="en-US" sz="1700" b="1" i="0" dirty="0">
                <a:solidFill>
                  <a:srgbClr val="321744"/>
                </a:solidFill>
                <a:latin typeface="Calibri"/>
                <a:cs typeface="Calibri"/>
              </a:rPr>
              <a:t>, and </a:t>
            </a:r>
            <a:r>
              <a:rPr lang="en-US" sz="1700" b="1" dirty="0">
                <a:solidFill>
                  <a:srgbClr val="321744"/>
                </a:solidFill>
                <a:latin typeface="Calibri"/>
                <a:cs typeface="Calibri"/>
              </a:rPr>
              <a:t>Nick Clegg </a:t>
            </a:r>
            <a:r>
              <a:rPr lang="en-US" sz="1700" b="1" i="0" dirty="0">
                <a:solidFill>
                  <a:srgbClr val="321744"/>
                </a:solidFill>
                <a:latin typeface="Calibri"/>
                <a:cs typeface="Calibri"/>
              </a:rPr>
              <a:t>became Deputy PM to David Cameron</a:t>
            </a:r>
            <a:r>
              <a:rPr sz="1700" b="1" i="0" dirty="0">
                <a:solidFill>
                  <a:srgbClr val="321744"/>
                </a:solidFill>
                <a:latin typeface="Calibri"/>
                <a:cs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8" grpId="0" animBg="1"/>
      <p:bldP spid="22" grpId="0"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GUESS THE NUMBER</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fontScale="92500"/>
          </a:bodyPr>
          <a:lstStyle/>
          <a:p>
            <a:pPr marL="0" indent="0" algn="l">
              <a:buNone/>
            </a:pPr>
            <a:r>
              <a:rPr sz="2800" b="1" i="0">
                <a:solidFill>
                  <a:srgbClr val="321744"/>
                </a:solidFill>
                <a:latin typeface="Calibri"/>
                <a:cs typeface="Calibri"/>
              </a:rPr>
              <a:t>The Liberal Democrats won 57 seats in 2010. How many did they win in 2015?</a:t>
            </a:r>
          </a:p>
        </p:txBody>
      </p:sp>
      <p:sp>
        <p:nvSpPr>
          <p:cNvPr id="6" name="Reading tag"/>
          <p:cNvSpPr txBox="1"/>
          <p:nvPr/>
        </p:nvSpPr>
        <p:spPr>
          <a:xfrm>
            <a:off x="7635240" y="109728"/>
            <a:ext cx="4206240" cy="292608"/>
          </a:xfrm>
          <a:prstGeom prst="rect">
            <a:avLst/>
          </a:prstGeom>
          <a:noFill/>
        </p:spPr>
        <p:txBody>
          <a:bodyPr wrap="square">
            <a:spAutoFit/>
          </a:bodyPr>
          <a:lstStyle/>
          <a:p>
            <a:pPr algn="r"/>
            <a:r>
              <a:rPr sz="1200" b="0" i="1">
                <a:solidFill>
                  <a:srgbClr val="5C5C5C"/>
                </a:solidFill>
                <a:latin typeface="Calibri"/>
              </a:rPr>
              <a:t>From today’s reading: Fox</a:t>
            </a:r>
          </a:p>
        </p:txBody>
      </p:sp>
      <p:sp>
        <p:nvSpPr>
          <p:cNvPr id="7" name="Option A"/>
          <p:cNvSpPr/>
          <p:nvPr/>
        </p:nvSpPr>
        <p:spPr>
          <a:xfrm>
            <a:off x="502920"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ption A text"/>
          <p:cNvSpPr/>
          <p:nvPr/>
        </p:nvSpPr>
        <p:spPr>
          <a:xfrm>
            <a:off x="502920"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A</a:t>
            </a:r>
          </a:p>
          <a:p>
            <a:pPr marL="0" indent="0" algn="ctr">
              <a:buNone/>
            </a:pPr>
            <a:r>
              <a:rPr sz="2800" b="1" i="0">
                <a:solidFill>
                  <a:srgbClr val="321744"/>
                </a:solidFill>
                <a:latin typeface="Calibri"/>
                <a:cs typeface="Calibri"/>
              </a:rPr>
              <a:t>41</a:t>
            </a:r>
          </a:p>
        </p:txBody>
      </p:sp>
      <p:sp>
        <p:nvSpPr>
          <p:cNvPr id="9" name="Option B"/>
          <p:cNvSpPr/>
          <p:nvPr/>
        </p:nvSpPr>
        <p:spPr>
          <a:xfrm>
            <a:off x="3369564"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ption B text"/>
          <p:cNvSpPr/>
          <p:nvPr/>
        </p:nvSpPr>
        <p:spPr>
          <a:xfrm>
            <a:off x="3369564"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B</a:t>
            </a:r>
          </a:p>
          <a:p>
            <a:pPr marL="0" indent="0" algn="ctr">
              <a:buNone/>
            </a:pPr>
            <a:r>
              <a:rPr sz="2800" b="1" i="0">
                <a:solidFill>
                  <a:srgbClr val="321744"/>
                </a:solidFill>
                <a:latin typeface="Calibri"/>
                <a:cs typeface="Calibri"/>
              </a:rPr>
              <a:t>23</a:t>
            </a:r>
          </a:p>
        </p:txBody>
      </p:sp>
      <p:sp>
        <p:nvSpPr>
          <p:cNvPr id="11" name="Option C"/>
          <p:cNvSpPr/>
          <p:nvPr/>
        </p:nvSpPr>
        <p:spPr>
          <a:xfrm>
            <a:off x="6236208"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ption C text"/>
          <p:cNvSpPr/>
          <p:nvPr/>
        </p:nvSpPr>
        <p:spPr>
          <a:xfrm>
            <a:off x="6236208"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C</a:t>
            </a:r>
          </a:p>
          <a:p>
            <a:pPr marL="0" indent="0" algn="ctr">
              <a:buNone/>
            </a:pPr>
            <a:r>
              <a:rPr sz="2800" b="1" i="0">
                <a:solidFill>
                  <a:srgbClr val="321744"/>
                </a:solidFill>
                <a:latin typeface="Calibri"/>
                <a:cs typeface="Calibri"/>
              </a:rPr>
              <a:t>8</a:t>
            </a:r>
          </a:p>
        </p:txBody>
      </p:sp>
      <p:sp>
        <p:nvSpPr>
          <p:cNvPr id="13" name="Option D"/>
          <p:cNvSpPr/>
          <p:nvPr/>
        </p:nvSpPr>
        <p:spPr>
          <a:xfrm>
            <a:off x="9102852" y="1234440"/>
            <a:ext cx="2583180" cy="96012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ption D text"/>
          <p:cNvSpPr/>
          <p:nvPr/>
        </p:nvSpPr>
        <p:spPr>
          <a:xfrm>
            <a:off x="9102852"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D</a:t>
            </a:r>
          </a:p>
          <a:p>
            <a:pPr marL="0" indent="0" algn="ctr">
              <a:buNone/>
            </a:pPr>
            <a:r>
              <a:rPr sz="2800" b="1" i="0">
                <a:solidFill>
                  <a:srgbClr val="321744"/>
                </a:solidFill>
                <a:latin typeface="Calibri"/>
                <a:cs typeface="Calibri"/>
              </a:rPr>
              <a:t>2</a:t>
            </a:r>
          </a:p>
        </p:txBody>
      </p:sp>
      <p:sp>
        <p:nvSpPr>
          <p:cNvPr id="15" name="Answer highlight"/>
          <p:cNvSpPr/>
          <p:nvPr/>
        </p:nvSpPr>
        <p:spPr>
          <a:xfrm>
            <a:off x="6236208" y="1234440"/>
            <a:ext cx="2583180" cy="960120"/>
          </a:xfrm>
          <a:prstGeom prst="roundRect">
            <a:avLst>
              <a:gd name="adj" fmla="val 12000"/>
            </a:avLst>
          </a:prstGeom>
          <a:solidFill>
            <a:srgbClr val="F3672A"/>
          </a:solidFill>
          <a:ln w="1270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nswer highlight text"/>
          <p:cNvSpPr/>
          <p:nvPr/>
        </p:nvSpPr>
        <p:spPr>
          <a:xfrm>
            <a:off x="6236208" y="1234440"/>
            <a:ext cx="2583180"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FFFFFF"/>
                </a:solidFill>
                <a:latin typeface="Calibri"/>
                <a:cs typeface="Calibri"/>
              </a:rPr>
              <a:t>C</a:t>
            </a:r>
          </a:p>
          <a:p>
            <a:pPr marL="0" indent="0" algn="ctr">
              <a:buNone/>
            </a:pPr>
            <a:r>
              <a:rPr sz="2800" b="1" i="0">
                <a:solidFill>
                  <a:srgbClr val="FFFFFF"/>
                </a:solidFill>
                <a:latin typeface="Calibri"/>
                <a:cs typeface="Calibri"/>
              </a:rPr>
              <a:t>8</a:t>
            </a:r>
          </a:p>
        </p:txBody>
      </p:sp>
      <p:sp>
        <p:nvSpPr>
          <p:cNvPr id="17" name="Cost 1"/>
          <p:cNvSpPr/>
          <p:nvPr/>
        </p:nvSpPr>
        <p:spPr>
          <a:xfrm>
            <a:off x="457200" y="2423160"/>
            <a:ext cx="3675888" cy="292608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ost 1 header"/>
          <p:cNvSpPr/>
          <p:nvPr/>
        </p:nvSpPr>
        <p:spPr>
          <a:xfrm>
            <a:off x="457200" y="2423160"/>
            <a:ext cx="3675888" cy="41148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ost 1 header text"/>
          <p:cNvSpPr/>
          <p:nvPr/>
        </p:nvSpPr>
        <p:spPr>
          <a:xfrm>
            <a:off x="457200" y="2423160"/>
            <a:ext cx="3675888"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REFERENDUM</a:t>
            </a:r>
          </a:p>
        </p:txBody>
      </p:sp>
      <p:sp>
        <p:nvSpPr>
          <p:cNvPr id="20" name="Cost 1 text"/>
          <p:cNvSpPr/>
          <p:nvPr/>
        </p:nvSpPr>
        <p:spPr>
          <a:xfrm>
            <a:off x="630936" y="2926080"/>
            <a:ext cx="3328416" cy="23134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800" b="1" i="0" dirty="0">
                <a:solidFill>
                  <a:srgbClr val="321744"/>
                </a:solidFill>
                <a:latin typeface="Calibri"/>
                <a:cs typeface="Calibri"/>
              </a:rPr>
              <a:t>May 2011</a:t>
            </a:r>
          </a:p>
          <a:p>
            <a:pPr marL="171450" indent="-171450" algn="l">
              <a:spcAft>
                <a:spcPts val="1000"/>
              </a:spcAft>
              <a:buFont typeface="Arial"/>
              <a:buChar char="•"/>
            </a:pPr>
            <a:r>
              <a:rPr sz="1750" b="0" i="0" dirty="0">
                <a:solidFill>
                  <a:srgbClr val="321744"/>
                </a:solidFill>
                <a:latin typeface="Calibri"/>
                <a:cs typeface="Calibri"/>
              </a:rPr>
              <a:t>Their prize was a vote on a new electoral system</a:t>
            </a:r>
          </a:p>
          <a:p>
            <a:pPr marL="171450" indent="-171450" algn="l">
              <a:spcAft>
                <a:spcPts val="1000"/>
              </a:spcAft>
              <a:buFont typeface="Arial"/>
              <a:buChar char="•"/>
            </a:pPr>
            <a:r>
              <a:rPr sz="1750" b="0" i="0" dirty="0">
                <a:solidFill>
                  <a:srgbClr val="321744"/>
                </a:solidFill>
                <a:latin typeface="Calibri"/>
                <a:cs typeface="Calibri"/>
              </a:rPr>
              <a:t>67.9% voted No</a:t>
            </a:r>
          </a:p>
        </p:txBody>
      </p:sp>
      <p:sp>
        <p:nvSpPr>
          <p:cNvPr id="21" name="Cost 2"/>
          <p:cNvSpPr/>
          <p:nvPr/>
        </p:nvSpPr>
        <p:spPr>
          <a:xfrm>
            <a:off x="4261104" y="2423160"/>
            <a:ext cx="3675888" cy="292608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st 2 header"/>
          <p:cNvSpPr/>
          <p:nvPr/>
        </p:nvSpPr>
        <p:spPr>
          <a:xfrm>
            <a:off x="4261104" y="2423160"/>
            <a:ext cx="3675888" cy="41148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st 2 header text"/>
          <p:cNvSpPr/>
          <p:nvPr/>
        </p:nvSpPr>
        <p:spPr>
          <a:xfrm>
            <a:off x="4261104" y="2423160"/>
            <a:ext cx="3675888"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VOTERS</a:t>
            </a:r>
          </a:p>
        </p:txBody>
      </p:sp>
      <p:sp>
        <p:nvSpPr>
          <p:cNvPr id="24" name="Cost 2 text"/>
          <p:cNvSpPr/>
          <p:nvPr/>
        </p:nvSpPr>
        <p:spPr>
          <a:xfrm>
            <a:off x="4434840" y="2926080"/>
            <a:ext cx="3328416" cy="23134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800" b="1" i="0">
                <a:solidFill>
                  <a:srgbClr val="321744"/>
                </a:solidFill>
                <a:latin typeface="Calibri"/>
                <a:cs typeface="Calibri"/>
              </a:rPr>
              <a:t>2010 to 2015</a:t>
            </a:r>
          </a:p>
          <a:p>
            <a:pPr marL="171450" indent="-171450" algn="l">
              <a:spcAft>
                <a:spcPts val="1000"/>
              </a:spcAft>
              <a:buFont typeface="Arial"/>
              <a:buChar char="•"/>
            </a:pPr>
            <a:r>
              <a:rPr sz="1750" b="0" i="0">
                <a:solidFill>
                  <a:srgbClr val="321744"/>
                </a:solidFill>
                <a:latin typeface="Calibri"/>
                <a:cs typeface="Calibri"/>
              </a:rPr>
              <a:t>Their share of the vote fell from 23.0% to 7.9%</a:t>
            </a:r>
          </a:p>
          <a:p>
            <a:pPr marL="171450" indent="-171450" algn="l">
              <a:spcAft>
                <a:spcPts val="1000"/>
              </a:spcAft>
              <a:buFont typeface="Arial"/>
              <a:buChar char="•"/>
            </a:pPr>
            <a:r>
              <a:rPr sz="1750" b="0" i="0">
                <a:solidFill>
                  <a:srgbClr val="321744"/>
                </a:solidFill>
                <a:latin typeface="Calibri"/>
                <a:cs typeface="Calibri"/>
              </a:rPr>
              <a:t>The Conservatives won a majority alone</a:t>
            </a:r>
          </a:p>
        </p:txBody>
      </p:sp>
      <p:sp>
        <p:nvSpPr>
          <p:cNvPr id="25" name="Cost 3"/>
          <p:cNvSpPr/>
          <p:nvPr/>
        </p:nvSpPr>
        <p:spPr>
          <a:xfrm>
            <a:off x="8065008" y="2423160"/>
            <a:ext cx="3675888" cy="292608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st 3 header"/>
          <p:cNvSpPr/>
          <p:nvPr/>
        </p:nvSpPr>
        <p:spPr>
          <a:xfrm>
            <a:off x="8065008" y="2423160"/>
            <a:ext cx="3675888" cy="41148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ost 3 header text"/>
          <p:cNvSpPr/>
          <p:nvPr/>
        </p:nvSpPr>
        <p:spPr>
          <a:xfrm>
            <a:off x="8065008" y="2423160"/>
            <a:ext cx="3675888"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lang="en-US" sz="1400" b="1" i="0" dirty="0">
                <a:solidFill>
                  <a:srgbClr val="FFFFFF"/>
                </a:solidFill>
                <a:latin typeface="Calibri"/>
                <a:cs typeface="Calibri"/>
              </a:rPr>
              <a:t>A</a:t>
            </a:r>
            <a:r>
              <a:rPr sz="1400" b="1" i="0" dirty="0">
                <a:solidFill>
                  <a:srgbClr val="FFFFFF"/>
                </a:solidFill>
                <a:latin typeface="Calibri"/>
                <a:cs typeface="Calibri"/>
              </a:rPr>
              <a:t> WARNING </a:t>
            </a:r>
            <a:r>
              <a:rPr lang="en-US" sz="1400" b="1" dirty="0">
                <a:solidFill>
                  <a:srgbClr val="FFFFFF"/>
                </a:solidFill>
                <a:latin typeface="Calibri"/>
                <a:cs typeface="Calibri"/>
              </a:rPr>
              <a:t>FROM </a:t>
            </a:r>
            <a:r>
              <a:rPr sz="1400" b="1" i="0" dirty="0">
                <a:solidFill>
                  <a:srgbClr val="FFFFFF"/>
                </a:solidFill>
                <a:latin typeface="Calibri"/>
                <a:cs typeface="Calibri"/>
              </a:rPr>
              <a:t>2010</a:t>
            </a:r>
          </a:p>
        </p:txBody>
      </p:sp>
      <p:sp>
        <p:nvSpPr>
          <p:cNvPr id="28" name="Cost 3 text"/>
          <p:cNvSpPr/>
          <p:nvPr/>
        </p:nvSpPr>
        <p:spPr>
          <a:xfrm>
            <a:off x="8238744" y="2926080"/>
            <a:ext cx="3328416" cy="23134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0" indent="0" algn="ctr">
              <a:spcAft>
                <a:spcPts val="1200"/>
              </a:spcAft>
              <a:buNone/>
            </a:pPr>
            <a:r>
              <a:rPr sz="1800" b="1" i="0">
                <a:solidFill>
                  <a:srgbClr val="321744"/>
                </a:solidFill>
                <a:latin typeface="Calibri"/>
                <a:cs typeface="Calibri"/>
              </a:rPr>
              <a:t>Ruth Fox, of Britain’s Hansard Society</a:t>
            </a:r>
          </a:p>
          <a:p>
            <a:pPr marL="171450" indent="-171450" algn="l">
              <a:spcAft>
                <a:spcPts val="1000"/>
              </a:spcAft>
              <a:buFont typeface="Arial"/>
              <a:buChar char="•"/>
            </a:pPr>
            <a:r>
              <a:rPr sz="1750" b="0" i="0">
                <a:solidFill>
                  <a:srgbClr val="321744"/>
                </a:solidFill>
                <a:latin typeface="Calibri"/>
                <a:cs typeface="Calibri"/>
              </a:rPr>
              <a:t>“It will not take much for the party’s future electoral prospects to be ravaged.”</a:t>
            </a:r>
          </a:p>
        </p:txBody>
      </p:sp>
      <p:sp>
        <p:nvSpPr>
          <p:cNvPr id="29" name="Footnote"/>
          <p:cNvSpPr/>
          <p:nvPr/>
        </p:nvSpPr>
        <p:spPr>
          <a:xfrm>
            <a:off x="457200" y="5486400"/>
            <a:ext cx="1127455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endParaRPr sz="1450" b="0" i="1" dirty="0">
              <a:solidFill>
                <a:srgbClr val="5C5C5C"/>
              </a:solidFill>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nodePh="1">
                                  <p:stCondLst>
                                    <p:cond delay="0"/>
                                  </p:stCondLst>
                                  <p:endCondLst>
                                    <p:cond evt="begin" delay="0">
                                      <p:tn val="41"/>
                                    </p:cond>
                                  </p:end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a Large Party Is Ruled Out</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When a large party is ruled out</a:t>
            </a:r>
          </a:p>
        </p:txBody>
      </p:sp>
      <p:sp>
        <p:nvSpPr>
          <p:cNvPr id="5" name="Header 1"/>
          <p:cNvSpPr/>
          <p:nvPr/>
        </p:nvSpPr>
        <p:spPr>
          <a:xfrm>
            <a:off x="2423160" y="1188720"/>
            <a:ext cx="2103120" cy="438912"/>
          </a:xfrm>
          <a:prstGeom prst="roundRect">
            <a:avLst>
              <a:gd name="adj" fmla="val 18000"/>
            </a:avLst>
          </a:prstGeom>
          <a:solidFill>
            <a:srgbClr val="5C5C5C"/>
          </a:solidFill>
          <a:ln w="31750">
            <a:solidFill>
              <a:srgbClr val="5C5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Header 1 text"/>
          <p:cNvSpPr/>
          <p:nvPr/>
        </p:nvSpPr>
        <p:spPr>
          <a:xfrm>
            <a:off x="2423160" y="1188720"/>
            <a:ext cx="210312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PARTY LEFT OUT</a:t>
            </a:r>
          </a:p>
        </p:txBody>
      </p:sp>
      <p:sp>
        <p:nvSpPr>
          <p:cNvPr id="7" name="Header 2"/>
          <p:cNvSpPr/>
          <p:nvPr/>
        </p:nvSpPr>
        <p:spPr>
          <a:xfrm>
            <a:off x="4617720" y="1188720"/>
            <a:ext cx="2240280" cy="438912"/>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eader 2 text"/>
          <p:cNvSpPr/>
          <p:nvPr/>
        </p:nvSpPr>
        <p:spPr>
          <a:xfrm>
            <a:off x="4617720" y="1188720"/>
            <a:ext cx="224028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WHAT REMAINED</a:t>
            </a:r>
          </a:p>
        </p:txBody>
      </p:sp>
      <p:sp>
        <p:nvSpPr>
          <p:cNvPr id="9" name="Header 3"/>
          <p:cNvSpPr/>
          <p:nvPr/>
        </p:nvSpPr>
        <p:spPr>
          <a:xfrm>
            <a:off x="6949440" y="1188720"/>
            <a:ext cx="2148840" cy="438912"/>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3 text"/>
          <p:cNvSpPr/>
          <p:nvPr/>
        </p:nvSpPr>
        <p:spPr>
          <a:xfrm>
            <a:off x="6949440" y="1188720"/>
            <a:ext cx="214884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RESULT</a:t>
            </a:r>
          </a:p>
        </p:txBody>
      </p:sp>
      <p:sp>
        <p:nvSpPr>
          <p:cNvPr id="11" name="Row band 1"/>
          <p:cNvSpPr/>
          <p:nvPr/>
        </p:nvSpPr>
        <p:spPr>
          <a:xfrm>
            <a:off x="457200" y="1719072"/>
            <a:ext cx="8641080" cy="1097280"/>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w 1 label"/>
          <p:cNvSpPr/>
          <p:nvPr/>
        </p:nvSpPr>
        <p:spPr>
          <a:xfrm>
            <a:off x="457200" y="1719072"/>
            <a:ext cx="18745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550" b="1" i="0">
                <a:solidFill>
                  <a:srgbClr val="321744"/>
                </a:solidFill>
                <a:latin typeface="Calibri"/>
                <a:cs typeface="Calibri"/>
              </a:rPr>
              <a:t>Germany, 2025</a:t>
            </a:r>
          </a:p>
        </p:txBody>
      </p:sp>
      <p:sp>
        <p:nvSpPr>
          <p:cNvPr id="13" name="Row 1 col 1"/>
          <p:cNvSpPr/>
          <p:nvPr/>
        </p:nvSpPr>
        <p:spPr>
          <a:xfrm>
            <a:off x="2423160" y="1719072"/>
            <a:ext cx="21031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The AfD: second, with 152 of 630 seats</a:t>
            </a:r>
          </a:p>
        </p:txBody>
      </p:sp>
      <p:sp>
        <p:nvSpPr>
          <p:cNvPr id="14" name="Row 1 col 2"/>
          <p:cNvSpPr/>
          <p:nvPr/>
        </p:nvSpPr>
        <p:spPr>
          <a:xfrm>
            <a:off x="4617720" y="1719072"/>
            <a:ext cx="224028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One two-party majority was left: CDU/CSU and SPD</a:t>
            </a:r>
          </a:p>
        </p:txBody>
      </p:sp>
      <p:sp>
        <p:nvSpPr>
          <p:cNvPr id="15" name="Row 1 col 3"/>
          <p:cNvSpPr/>
          <p:nvPr/>
        </p:nvSpPr>
        <p:spPr>
          <a:xfrm>
            <a:off x="6949440" y="1719072"/>
            <a:ext cx="214884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The SPD, with 16% of the vote, took 7 of the 18 cabinet seats</a:t>
            </a:r>
          </a:p>
        </p:txBody>
      </p:sp>
      <p:sp>
        <p:nvSpPr>
          <p:cNvPr id="16" name="Row 2 label"/>
          <p:cNvSpPr/>
          <p:nvPr/>
        </p:nvSpPr>
        <p:spPr>
          <a:xfrm>
            <a:off x="457200" y="2816352"/>
            <a:ext cx="18745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550" b="1" i="0">
                <a:solidFill>
                  <a:srgbClr val="321744"/>
                </a:solidFill>
                <a:latin typeface="Calibri"/>
                <a:cs typeface="Calibri"/>
              </a:rPr>
              <a:t>The Netherlands, 2025</a:t>
            </a:r>
          </a:p>
        </p:txBody>
      </p:sp>
      <p:sp>
        <p:nvSpPr>
          <p:cNvPr id="17" name="Row 2 col 1"/>
          <p:cNvSpPr/>
          <p:nvPr/>
        </p:nvSpPr>
        <p:spPr>
          <a:xfrm>
            <a:off x="2423160" y="2816352"/>
            <a:ext cx="21031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The PVV: joint first, with 26 of 150 seats</a:t>
            </a:r>
          </a:p>
        </p:txBody>
      </p:sp>
      <p:sp>
        <p:nvSpPr>
          <p:cNvPr id="18" name="Row 2 col 2"/>
          <p:cNvSpPr/>
          <p:nvPr/>
        </p:nvSpPr>
        <p:spPr>
          <a:xfrm>
            <a:off x="4617720" y="2816352"/>
            <a:ext cx="224028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A broad coalition that the VVD refused, or 75 seats</a:t>
            </a:r>
          </a:p>
        </p:txBody>
      </p:sp>
      <p:sp>
        <p:nvSpPr>
          <p:cNvPr id="19" name="Row 2 col 3"/>
          <p:cNvSpPr/>
          <p:nvPr/>
        </p:nvSpPr>
        <p:spPr>
          <a:xfrm>
            <a:off x="6949440" y="2816352"/>
            <a:ext cx="214884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A minority government, after 117 days</a:t>
            </a:r>
          </a:p>
        </p:txBody>
      </p:sp>
      <p:sp>
        <p:nvSpPr>
          <p:cNvPr id="20" name="Row band 3"/>
          <p:cNvSpPr/>
          <p:nvPr/>
        </p:nvSpPr>
        <p:spPr>
          <a:xfrm>
            <a:off x="457200" y="3913632"/>
            <a:ext cx="8641080" cy="1097280"/>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w 3 label"/>
          <p:cNvSpPr/>
          <p:nvPr/>
        </p:nvSpPr>
        <p:spPr>
          <a:xfrm>
            <a:off x="457200" y="3913632"/>
            <a:ext cx="18745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550" b="1" i="0">
                <a:solidFill>
                  <a:srgbClr val="321744"/>
                </a:solidFill>
                <a:latin typeface="Calibri"/>
                <a:cs typeface="Calibri"/>
              </a:rPr>
              <a:t>Austria, 2024</a:t>
            </a:r>
          </a:p>
        </p:txBody>
      </p:sp>
      <p:sp>
        <p:nvSpPr>
          <p:cNvPr id="22" name="Row 3 col 1"/>
          <p:cNvSpPr/>
          <p:nvPr/>
        </p:nvSpPr>
        <p:spPr>
          <a:xfrm>
            <a:off x="2423160" y="3913632"/>
            <a:ext cx="210312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The Freedom Party: first, with 57 of 183 seats</a:t>
            </a:r>
          </a:p>
        </p:txBody>
      </p:sp>
      <p:sp>
        <p:nvSpPr>
          <p:cNvPr id="23" name="Row 3 col 2"/>
          <p:cNvSpPr/>
          <p:nvPr/>
        </p:nvSpPr>
        <p:spPr>
          <a:xfrm>
            <a:off x="4617720" y="3913632"/>
            <a:ext cx="224028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No party would make its leader chancellor, and its own talks failed</a:t>
            </a:r>
          </a:p>
        </p:txBody>
      </p:sp>
      <p:sp>
        <p:nvSpPr>
          <p:cNvPr id="24" name="Row 3 col 3"/>
          <p:cNvSpPr/>
          <p:nvPr/>
        </p:nvSpPr>
        <p:spPr>
          <a:xfrm>
            <a:off x="6949440" y="3913632"/>
            <a:ext cx="214884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l">
              <a:buNone/>
            </a:pPr>
            <a:r>
              <a:rPr sz="1450" b="0" i="0">
                <a:solidFill>
                  <a:srgbClr val="321744"/>
                </a:solidFill>
                <a:latin typeface="Calibri"/>
                <a:cs typeface="Calibri"/>
              </a:rPr>
              <a:t>Three other parties govern, after 155 days</a:t>
            </a:r>
          </a:p>
        </p:txBody>
      </p:sp>
      <p:pic>
        <p:nvPicPr>
          <p:cNvPr id="25" name="Photo (Lecture13.pptx, slide 3, picture 1)" descr="image.jpg"/>
          <p:cNvPicPr>
            <a:picLocks noChangeAspect="1"/>
          </p:cNvPicPr>
          <p:nvPr/>
        </p:nvPicPr>
        <p:blipFill>
          <a:blip r:embed="rId2"/>
          <a:srcRect/>
          <a:stretch>
            <a:fillRect/>
          </a:stretch>
        </p:blipFill>
        <p:spPr>
          <a:xfrm>
            <a:off x="9144000" y="1212144"/>
            <a:ext cx="2606040" cy="1736232"/>
          </a:xfrm>
          <a:prstGeom prst="rect">
            <a:avLst/>
          </a:prstGeom>
          <a:ln w="19050">
            <a:solidFill>
              <a:srgbClr val="BFBFBF"/>
            </a:solidFill>
          </a:ln>
        </p:spPr>
      </p:pic>
      <p:sp>
        <p:nvSpPr>
          <p:cNvPr id="26" name="Photo caption"/>
          <p:cNvSpPr/>
          <p:nvPr/>
        </p:nvSpPr>
        <p:spPr>
          <a:xfrm>
            <a:off x="9098280" y="2994096"/>
            <a:ext cx="2697480" cy="2103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l">
              <a:buNone/>
            </a:pPr>
            <a:r>
              <a:rPr sz="1200" b="0" i="1">
                <a:solidFill>
                  <a:srgbClr val="321744"/>
                </a:solidFill>
                <a:latin typeface="Calibri"/>
                <a:cs typeface="Calibri"/>
              </a:rPr>
              <a:t>Vienna, March 3, 2025: Christian Stocker (second from left), Austria’s new chancellor, and the leaders of his two coalition partners with President Alexander Van der Bellen</a:t>
            </a:r>
          </a:p>
        </p:txBody>
      </p:sp>
      <p:sp>
        <p:nvSpPr>
          <p:cNvPr id="27" name="Lesson"/>
          <p:cNvSpPr/>
          <p:nvPr/>
        </p:nvSpPr>
        <p:spPr>
          <a:xfrm>
            <a:off x="457200" y="5120640"/>
            <a:ext cx="11274552" cy="914400"/>
          </a:xfrm>
          <a:prstGeom prst="roundRect">
            <a:avLst>
              <a:gd name="adj" fmla="val 12000"/>
            </a:avLst>
          </a:prstGeom>
          <a:solidFill>
            <a:srgbClr val="FFF6F0"/>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normAutofit/>
          </a:bodyPr>
          <a:lstStyle/>
          <a:p>
            <a:pPr marL="0" indent="0" algn="ctr">
              <a:spcAft>
                <a:spcPts val="200"/>
              </a:spcAft>
              <a:buNone/>
            </a:pPr>
            <a:r>
              <a:rPr sz="1700" b="1" i="0">
                <a:solidFill>
                  <a:srgbClr val="321744"/>
                </a:solidFill>
                <a:latin typeface="Calibri"/>
                <a:cs typeface="Calibri"/>
              </a:rPr>
              <a:t>Who gains? The parties that remain. Each one is needed, so each can ask for more.</a:t>
            </a:r>
          </a:p>
          <a:p>
            <a:pPr marL="0" indent="0" algn="ctr">
              <a:buNone/>
            </a:pPr>
            <a:r>
              <a:rPr sz="1550" b="0" i="0">
                <a:solidFill>
                  <a:srgbClr val="321744"/>
                </a:solidFill>
                <a:latin typeface="Calibri"/>
                <a:cs typeface="Calibri"/>
              </a:rPr>
              <a:t>What results: grand coalitions, minority governments and three-party deals.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Long Does It Take?</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GUESS THE NUMBER</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Britain took five days in 2010. How long did Belgium take in 2010–11?</a:t>
            </a:r>
          </a:p>
        </p:txBody>
      </p:sp>
      <p:sp>
        <p:nvSpPr>
          <p:cNvPr id="6" name="Option A"/>
          <p:cNvSpPr/>
          <p:nvPr/>
        </p:nvSpPr>
        <p:spPr>
          <a:xfrm>
            <a:off x="502920" y="12344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ption A text"/>
          <p:cNvSpPr/>
          <p:nvPr/>
        </p:nvSpPr>
        <p:spPr>
          <a:xfrm>
            <a:off x="502920" y="12344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A</a:t>
            </a:r>
          </a:p>
          <a:p>
            <a:pPr marL="0" indent="0" algn="ctr">
              <a:buNone/>
            </a:pPr>
            <a:r>
              <a:rPr sz="2400" b="1" i="0">
                <a:solidFill>
                  <a:srgbClr val="321744"/>
                </a:solidFill>
                <a:latin typeface="Calibri"/>
                <a:cs typeface="Calibri"/>
              </a:rPr>
              <a:t>54 days</a:t>
            </a:r>
          </a:p>
        </p:txBody>
      </p:sp>
      <p:sp>
        <p:nvSpPr>
          <p:cNvPr id="8" name="Option B"/>
          <p:cNvSpPr/>
          <p:nvPr/>
        </p:nvSpPr>
        <p:spPr>
          <a:xfrm>
            <a:off x="3369564" y="12344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ption B text"/>
          <p:cNvSpPr/>
          <p:nvPr/>
        </p:nvSpPr>
        <p:spPr>
          <a:xfrm>
            <a:off x="3369564" y="12344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B</a:t>
            </a:r>
          </a:p>
          <a:p>
            <a:pPr marL="0" indent="0" algn="ctr">
              <a:buNone/>
            </a:pPr>
            <a:r>
              <a:rPr sz="2400" b="1" i="0">
                <a:solidFill>
                  <a:srgbClr val="321744"/>
                </a:solidFill>
                <a:latin typeface="Calibri"/>
                <a:cs typeface="Calibri"/>
              </a:rPr>
              <a:t>154 days</a:t>
            </a:r>
          </a:p>
        </p:txBody>
      </p:sp>
      <p:sp>
        <p:nvSpPr>
          <p:cNvPr id="10" name="Option C"/>
          <p:cNvSpPr/>
          <p:nvPr/>
        </p:nvSpPr>
        <p:spPr>
          <a:xfrm>
            <a:off x="6236208" y="12344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ption C text"/>
          <p:cNvSpPr/>
          <p:nvPr/>
        </p:nvSpPr>
        <p:spPr>
          <a:xfrm>
            <a:off x="6236208" y="12344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C</a:t>
            </a:r>
          </a:p>
          <a:p>
            <a:pPr marL="0" indent="0" algn="ctr">
              <a:buNone/>
            </a:pPr>
            <a:r>
              <a:rPr sz="2400" b="1" i="0">
                <a:solidFill>
                  <a:srgbClr val="321744"/>
                </a:solidFill>
                <a:latin typeface="Calibri"/>
                <a:cs typeface="Calibri"/>
              </a:rPr>
              <a:t>341 days</a:t>
            </a:r>
          </a:p>
        </p:txBody>
      </p:sp>
      <p:sp>
        <p:nvSpPr>
          <p:cNvPr id="12" name="Option D"/>
          <p:cNvSpPr/>
          <p:nvPr/>
        </p:nvSpPr>
        <p:spPr>
          <a:xfrm>
            <a:off x="9102852" y="1234440"/>
            <a:ext cx="2583180" cy="914400"/>
          </a:xfrm>
          <a:prstGeom prst="roundRect">
            <a:avLst>
              <a:gd name="adj" fmla="val 12000"/>
            </a:avLst>
          </a:prstGeom>
          <a:solidFill>
            <a:srgbClr val="FFFFFF"/>
          </a:solidFill>
          <a:ln w="28575">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ption D text"/>
          <p:cNvSpPr/>
          <p:nvPr/>
        </p:nvSpPr>
        <p:spPr>
          <a:xfrm>
            <a:off x="9102852" y="12344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5C5C5C"/>
                </a:solidFill>
                <a:latin typeface="Calibri"/>
                <a:cs typeface="Calibri"/>
              </a:rPr>
              <a:t>D</a:t>
            </a:r>
          </a:p>
          <a:p>
            <a:pPr marL="0" indent="0" algn="ctr">
              <a:buNone/>
            </a:pPr>
            <a:r>
              <a:rPr sz="2400" b="1" i="0">
                <a:solidFill>
                  <a:srgbClr val="321744"/>
                </a:solidFill>
                <a:latin typeface="Calibri"/>
                <a:cs typeface="Calibri"/>
              </a:rPr>
              <a:t>541 days</a:t>
            </a:r>
          </a:p>
        </p:txBody>
      </p:sp>
      <p:sp>
        <p:nvSpPr>
          <p:cNvPr id="14" name="Answer highlight"/>
          <p:cNvSpPr/>
          <p:nvPr/>
        </p:nvSpPr>
        <p:spPr>
          <a:xfrm>
            <a:off x="9102852" y="1234440"/>
            <a:ext cx="2583180" cy="914400"/>
          </a:xfrm>
          <a:prstGeom prst="roundRect">
            <a:avLst>
              <a:gd name="adj" fmla="val 12000"/>
            </a:avLst>
          </a:prstGeom>
          <a:solidFill>
            <a:srgbClr val="F3672A"/>
          </a:solidFill>
          <a:ln w="1270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nswer highlight text"/>
          <p:cNvSpPr/>
          <p:nvPr/>
        </p:nvSpPr>
        <p:spPr>
          <a:xfrm>
            <a:off x="9102852" y="1234440"/>
            <a:ext cx="2583180"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spcAft>
                <a:spcPts val="0"/>
              </a:spcAft>
              <a:buNone/>
            </a:pPr>
            <a:r>
              <a:rPr sz="1300" b="1" i="0">
                <a:solidFill>
                  <a:srgbClr val="FFFFFF"/>
                </a:solidFill>
                <a:latin typeface="Calibri"/>
                <a:cs typeface="Calibri"/>
              </a:rPr>
              <a:t>D</a:t>
            </a:r>
          </a:p>
          <a:p>
            <a:pPr marL="0" indent="0" algn="ctr">
              <a:buNone/>
            </a:pPr>
            <a:r>
              <a:rPr sz="2400" b="1" i="0">
                <a:solidFill>
                  <a:srgbClr val="FFFFFF"/>
                </a:solidFill>
                <a:latin typeface="Calibri"/>
                <a:cs typeface="Calibri"/>
              </a:rPr>
              <a:t>541 days</a:t>
            </a:r>
          </a:p>
        </p:txBody>
      </p:sp>
      <p:sp>
        <p:nvSpPr>
          <p:cNvPr id="16" name="Britain 2010 label"/>
          <p:cNvSpPr/>
          <p:nvPr/>
        </p:nvSpPr>
        <p:spPr>
          <a:xfrm>
            <a:off x="457200" y="2377440"/>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Britain 2010</a:t>
            </a:r>
          </a:p>
        </p:txBody>
      </p:sp>
      <p:sp>
        <p:nvSpPr>
          <p:cNvPr id="17" name="Britain 2010 bar"/>
          <p:cNvSpPr/>
          <p:nvPr/>
        </p:nvSpPr>
        <p:spPr>
          <a:xfrm>
            <a:off x="2743200" y="2441448"/>
            <a:ext cx="47326"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Britain 2010 value"/>
          <p:cNvSpPr/>
          <p:nvPr/>
        </p:nvSpPr>
        <p:spPr>
          <a:xfrm>
            <a:off x="2845390" y="2377440"/>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5</a:t>
            </a:r>
          </a:p>
        </p:txBody>
      </p:sp>
      <p:sp>
        <p:nvSpPr>
          <p:cNvPr id="19" name="Germany 2025 label"/>
          <p:cNvSpPr/>
          <p:nvPr/>
        </p:nvSpPr>
        <p:spPr>
          <a:xfrm>
            <a:off x="457200" y="2761488"/>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Germany 2025</a:t>
            </a:r>
          </a:p>
        </p:txBody>
      </p:sp>
      <p:sp>
        <p:nvSpPr>
          <p:cNvPr id="20" name="Germany 2025 bar"/>
          <p:cNvSpPr/>
          <p:nvPr/>
        </p:nvSpPr>
        <p:spPr>
          <a:xfrm>
            <a:off x="2743200" y="2825496"/>
            <a:ext cx="681490"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Germany 2025 value"/>
          <p:cNvSpPr/>
          <p:nvPr/>
        </p:nvSpPr>
        <p:spPr>
          <a:xfrm>
            <a:off x="3479554" y="2761488"/>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72</a:t>
            </a:r>
          </a:p>
        </p:txBody>
      </p:sp>
      <p:sp>
        <p:nvSpPr>
          <p:cNvPr id="22" name="Netherlands 2025–26 label"/>
          <p:cNvSpPr/>
          <p:nvPr/>
        </p:nvSpPr>
        <p:spPr>
          <a:xfrm>
            <a:off x="457200" y="3145536"/>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Netherlands 2025–26</a:t>
            </a:r>
          </a:p>
        </p:txBody>
      </p:sp>
      <p:sp>
        <p:nvSpPr>
          <p:cNvPr id="23" name="Netherlands 2025–26 bar"/>
          <p:cNvSpPr/>
          <p:nvPr/>
        </p:nvSpPr>
        <p:spPr>
          <a:xfrm>
            <a:off x="2743200" y="3209544"/>
            <a:ext cx="1107421"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Netherlands 2025–26 value"/>
          <p:cNvSpPr/>
          <p:nvPr/>
        </p:nvSpPr>
        <p:spPr>
          <a:xfrm>
            <a:off x="3905485" y="3145536"/>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117</a:t>
            </a:r>
          </a:p>
        </p:txBody>
      </p:sp>
      <p:sp>
        <p:nvSpPr>
          <p:cNvPr id="25" name="Austria 2024–25 label"/>
          <p:cNvSpPr/>
          <p:nvPr/>
        </p:nvSpPr>
        <p:spPr>
          <a:xfrm>
            <a:off x="457200" y="3529584"/>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Austria 2024–25</a:t>
            </a:r>
          </a:p>
        </p:txBody>
      </p:sp>
      <p:sp>
        <p:nvSpPr>
          <p:cNvPr id="26" name="Austria 2024–25 bar"/>
          <p:cNvSpPr/>
          <p:nvPr/>
        </p:nvSpPr>
        <p:spPr>
          <a:xfrm>
            <a:off x="2743200" y="3593592"/>
            <a:ext cx="1467096"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ustria 2024–25 value"/>
          <p:cNvSpPr/>
          <p:nvPr/>
        </p:nvSpPr>
        <p:spPr>
          <a:xfrm>
            <a:off x="4265160" y="3529584"/>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155</a:t>
            </a:r>
          </a:p>
        </p:txBody>
      </p:sp>
      <p:sp>
        <p:nvSpPr>
          <p:cNvPr id="28" name="Germany 2017–18 label"/>
          <p:cNvSpPr/>
          <p:nvPr/>
        </p:nvSpPr>
        <p:spPr>
          <a:xfrm>
            <a:off x="457200" y="391363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Germany 2017–18</a:t>
            </a:r>
          </a:p>
        </p:txBody>
      </p:sp>
      <p:sp>
        <p:nvSpPr>
          <p:cNvPr id="29" name="Germany 2017–18 bar"/>
          <p:cNvSpPr/>
          <p:nvPr/>
        </p:nvSpPr>
        <p:spPr>
          <a:xfrm>
            <a:off x="2743200" y="3977640"/>
            <a:ext cx="1618539"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Germany 2017–18 value"/>
          <p:cNvSpPr/>
          <p:nvPr/>
        </p:nvSpPr>
        <p:spPr>
          <a:xfrm>
            <a:off x="4416603" y="3913632"/>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171</a:t>
            </a:r>
          </a:p>
        </p:txBody>
      </p:sp>
      <p:sp>
        <p:nvSpPr>
          <p:cNvPr id="31" name="Belgium 2024–25 label"/>
          <p:cNvSpPr/>
          <p:nvPr/>
        </p:nvSpPr>
        <p:spPr>
          <a:xfrm>
            <a:off x="457200" y="4297680"/>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Belgium 2024–25</a:t>
            </a:r>
          </a:p>
        </p:txBody>
      </p:sp>
      <p:sp>
        <p:nvSpPr>
          <p:cNvPr id="32" name="Belgium 2024–25 bar"/>
          <p:cNvSpPr/>
          <p:nvPr/>
        </p:nvSpPr>
        <p:spPr>
          <a:xfrm>
            <a:off x="2743200" y="4361688"/>
            <a:ext cx="2262168"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Belgium 2024–25 value"/>
          <p:cNvSpPr/>
          <p:nvPr/>
        </p:nvSpPr>
        <p:spPr>
          <a:xfrm>
            <a:off x="5060232" y="4297680"/>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239</a:t>
            </a:r>
          </a:p>
        </p:txBody>
      </p:sp>
      <p:sp>
        <p:nvSpPr>
          <p:cNvPr id="34" name="Netherlands 2021–22 label"/>
          <p:cNvSpPr/>
          <p:nvPr/>
        </p:nvSpPr>
        <p:spPr>
          <a:xfrm>
            <a:off x="457200" y="4681728"/>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Netherlands 2021–22</a:t>
            </a:r>
          </a:p>
        </p:txBody>
      </p:sp>
      <p:sp>
        <p:nvSpPr>
          <p:cNvPr id="35" name="Netherlands 2021–22 bar"/>
          <p:cNvSpPr/>
          <p:nvPr/>
        </p:nvSpPr>
        <p:spPr>
          <a:xfrm>
            <a:off x="2743200" y="4745736"/>
            <a:ext cx="2830076" cy="256032"/>
          </a:xfrm>
          <a:prstGeom prst="rect">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Netherlands 2021–22 value"/>
          <p:cNvSpPr/>
          <p:nvPr/>
        </p:nvSpPr>
        <p:spPr>
          <a:xfrm>
            <a:off x="5628140" y="4681728"/>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299</a:t>
            </a:r>
          </a:p>
        </p:txBody>
      </p:sp>
      <p:sp>
        <p:nvSpPr>
          <p:cNvPr id="37" name="Belgium 2010–11 label"/>
          <p:cNvSpPr/>
          <p:nvPr/>
        </p:nvSpPr>
        <p:spPr>
          <a:xfrm>
            <a:off x="457200" y="5065776"/>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400" b="1" i="0">
                <a:solidFill>
                  <a:srgbClr val="321744"/>
                </a:solidFill>
                <a:latin typeface="Calibri"/>
                <a:cs typeface="Calibri"/>
              </a:rPr>
              <a:t>Belgium 2010–11</a:t>
            </a:r>
          </a:p>
        </p:txBody>
      </p:sp>
      <p:sp>
        <p:nvSpPr>
          <p:cNvPr id="38" name="Belgium 2010–11 bar"/>
          <p:cNvSpPr/>
          <p:nvPr/>
        </p:nvSpPr>
        <p:spPr>
          <a:xfrm>
            <a:off x="2743200" y="5129784"/>
            <a:ext cx="5120640" cy="256032"/>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Belgium 2010–11 value"/>
          <p:cNvSpPr/>
          <p:nvPr/>
        </p:nvSpPr>
        <p:spPr>
          <a:xfrm>
            <a:off x="7918704" y="5065776"/>
            <a:ext cx="8229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541</a:t>
            </a:r>
          </a:p>
        </p:txBody>
      </p:sp>
      <p:cxnSp>
        <p:nvCxnSpPr>
          <p:cNvPr id="40" name="Axis"/>
          <p:cNvCxnSpPr/>
          <p:nvPr/>
        </p:nvCxnSpPr>
        <p:spPr>
          <a:xfrm>
            <a:off x="2743200" y="2350008"/>
            <a:ext cx="0" cy="3127248"/>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pic>
        <p:nvPicPr>
          <p:cNvPr id="41" name="Photo (Lecture 7.pptx, slide 8, picture 1)" descr="image.png"/>
          <p:cNvPicPr>
            <a:picLocks noChangeAspect="1"/>
          </p:cNvPicPr>
          <p:nvPr/>
        </p:nvPicPr>
        <p:blipFill>
          <a:blip r:embed="rId2"/>
          <a:srcRect/>
          <a:stretch>
            <a:fillRect/>
          </a:stretch>
        </p:blipFill>
        <p:spPr>
          <a:xfrm>
            <a:off x="9011114" y="2377440"/>
            <a:ext cx="2734651" cy="2377440"/>
          </a:xfrm>
          <a:prstGeom prst="rect">
            <a:avLst/>
          </a:prstGeom>
          <a:ln w="19050">
            <a:solidFill>
              <a:srgbClr val="BFBFBF"/>
            </a:solidFill>
          </a:ln>
        </p:spPr>
      </p:pic>
      <p:sp>
        <p:nvSpPr>
          <p:cNvPr id="42" name="Photo caption"/>
          <p:cNvSpPr/>
          <p:nvPr/>
        </p:nvSpPr>
        <p:spPr>
          <a:xfrm>
            <a:off x="8961120" y="4800600"/>
            <a:ext cx="283464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ctr">
              <a:buNone/>
            </a:pPr>
            <a:r>
              <a:rPr sz="1200" b="0" i="1">
                <a:solidFill>
                  <a:srgbClr val="321744"/>
                </a:solidFill>
                <a:latin typeface="Calibri"/>
                <a:cs typeface="Calibri"/>
              </a:rPr>
              <a:t>Belgium: Flanders and Wallonia have separate parties, so every government is a coalition across the language line</a:t>
            </a:r>
          </a:p>
        </p:txBody>
      </p:sp>
      <p:sp>
        <p:nvSpPr>
          <p:cNvPr id="43" name="Footnote"/>
          <p:cNvSpPr/>
          <p:nvPr/>
        </p:nvSpPr>
        <p:spPr>
          <a:xfrm>
            <a:off x="457200" y="5623560"/>
            <a:ext cx="1127455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50" b="0" i="1">
                <a:solidFill>
                  <a:srgbClr val="5C5C5C"/>
                </a:solidFill>
                <a:latin typeface="Calibri"/>
                <a:cs typeface="Calibri"/>
              </a:rPr>
              <a:t>Days from the election to a new government taking office. Until then the old government stays on as a caretaker.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2" grpId="0" animBg="1"/>
      <p:bldP spid="4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Coalition Histories and Polarization</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Coalition histories and polarization</a:t>
            </a:r>
          </a:p>
        </p:txBody>
      </p:sp>
      <p:sp>
        <p:nvSpPr>
          <p:cNvPr id="5" name="Argument card"/>
          <p:cNvSpPr/>
          <p:nvPr/>
        </p:nvSpPr>
        <p:spPr>
          <a:xfrm>
            <a:off x="457200" y="1188720"/>
            <a:ext cx="5257800" cy="416052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rgument card header"/>
          <p:cNvSpPr/>
          <p:nvPr/>
        </p:nvSpPr>
        <p:spPr>
          <a:xfrm>
            <a:off x="457200" y="1188720"/>
            <a:ext cx="5257800" cy="438912"/>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Argument card header text"/>
          <p:cNvSpPr/>
          <p:nvPr/>
        </p:nvSpPr>
        <p:spPr>
          <a:xfrm>
            <a:off x="457200" y="1188720"/>
            <a:ext cx="525780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THE ARGUMENT</a:t>
            </a:r>
          </a:p>
        </p:txBody>
      </p:sp>
      <p:sp>
        <p:nvSpPr>
          <p:cNvPr id="8" name="Argument card text"/>
          <p:cNvSpPr/>
          <p:nvPr/>
        </p:nvSpPr>
        <p:spPr>
          <a:xfrm>
            <a:off x="630936" y="1737360"/>
            <a:ext cx="4910328" cy="3502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100"/>
              </a:spcAft>
              <a:buFont typeface="Arial"/>
              <a:buChar char="•"/>
            </a:pPr>
            <a:r>
              <a:rPr sz="1750" b="0" i="0">
                <a:solidFill>
                  <a:srgbClr val="321744"/>
                </a:solidFill>
                <a:latin typeface="Calibri"/>
                <a:cs typeface="Calibri"/>
              </a:rPr>
              <a:t>Most multi-party systems have dense histories of coalition partnerships</a:t>
            </a:r>
          </a:p>
          <a:p>
            <a:pPr marL="171450" indent="-171450" algn="l">
              <a:spcAft>
                <a:spcPts val="1100"/>
              </a:spcAft>
              <a:buFont typeface="Arial"/>
              <a:buChar char="•"/>
            </a:pPr>
            <a:r>
              <a:rPr sz="1750" b="0" i="0">
                <a:solidFill>
                  <a:srgbClr val="321744"/>
                </a:solidFill>
                <a:latin typeface="Calibri"/>
                <a:cs typeface="Calibri"/>
              </a:rPr>
              <a:t>Parties are never certain whom they might need to work with next</a:t>
            </a:r>
          </a:p>
          <a:p>
            <a:pPr marL="171450" indent="-171450" algn="l">
              <a:spcAft>
                <a:spcPts val="1100"/>
              </a:spcAft>
              <a:buFont typeface="Arial"/>
              <a:buChar char="•"/>
            </a:pPr>
            <a:r>
              <a:rPr sz="1750" b="0" i="0">
                <a:solidFill>
                  <a:srgbClr val="321744"/>
                </a:solidFill>
                <a:latin typeface="Calibri"/>
                <a:cs typeface="Calibri"/>
              </a:rPr>
              <a:t>That rewards “playing nice” and not burning bridges</a:t>
            </a:r>
          </a:p>
          <a:p>
            <a:pPr marL="171450" indent="-171450" algn="l">
              <a:spcAft>
                <a:spcPts val="1100"/>
              </a:spcAft>
              <a:buFont typeface="Arial"/>
              <a:buChar char="•"/>
            </a:pPr>
            <a:r>
              <a:rPr sz="1750" b="0" i="0">
                <a:solidFill>
                  <a:srgbClr val="321744"/>
                </a:solidFill>
                <a:latin typeface="Calibri"/>
                <a:cs typeface="Calibri"/>
              </a:rPr>
              <a:t>It could lower animosity between party elites, and between their voters</a:t>
            </a:r>
          </a:p>
        </p:txBody>
      </p:sp>
      <p:sp>
        <p:nvSpPr>
          <p:cNvPr id="9" name="Chart title"/>
          <p:cNvSpPr/>
          <p:nvPr/>
        </p:nvSpPr>
        <p:spPr>
          <a:xfrm>
            <a:off x="5989320" y="1188720"/>
            <a:ext cx="576072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l">
              <a:buNone/>
            </a:pPr>
            <a:r>
              <a:rPr sz="1500" b="1" i="0">
                <a:solidFill>
                  <a:srgbClr val="321744"/>
                </a:solidFill>
                <a:latin typeface="Calibri"/>
                <a:cs typeface="Calibri"/>
              </a:rPr>
              <a:t>How much less do partisans dislike another party when the two parties have governed together?</a:t>
            </a:r>
          </a:p>
        </p:txBody>
      </p:sp>
      <p:sp>
        <p:nvSpPr>
          <p:cNvPr id="10" name="History 1 label"/>
          <p:cNvSpPr/>
          <p:nvPr/>
        </p:nvSpPr>
        <p:spPr>
          <a:xfrm>
            <a:off x="5897880" y="1920240"/>
            <a:ext cx="269748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350" b="1" i="0">
                <a:solidFill>
                  <a:srgbClr val="321744"/>
                </a:solidFill>
                <a:latin typeface="Calibri"/>
                <a:cs typeface="Calibri"/>
              </a:rPr>
              <a:t>Governing together now</a:t>
            </a:r>
          </a:p>
        </p:txBody>
      </p:sp>
      <p:sp>
        <p:nvSpPr>
          <p:cNvPr id="11" name="History 1 bar"/>
          <p:cNvSpPr/>
          <p:nvPr/>
        </p:nvSpPr>
        <p:spPr>
          <a:xfrm>
            <a:off x="8686800" y="2029968"/>
            <a:ext cx="2377440" cy="384048"/>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istory 1 value"/>
          <p:cNvSpPr/>
          <p:nvPr/>
        </p:nvSpPr>
        <p:spPr>
          <a:xfrm>
            <a:off x="11119104" y="1920240"/>
            <a:ext cx="6858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1.02</a:t>
            </a:r>
          </a:p>
        </p:txBody>
      </p:sp>
      <p:sp>
        <p:nvSpPr>
          <p:cNvPr id="13" name="History 2 label"/>
          <p:cNvSpPr/>
          <p:nvPr/>
        </p:nvSpPr>
        <p:spPr>
          <a:xfrm>
            <a:off x="5897880" y="2523744"/>
            <a:ext cx="269748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350" b="1" i="0">
                <a:solidFill>
                  <a:srgbClr val="321744"/>
                </a:solidFill>
                <a:latin typeface="Calibri"/>
                <a:cs typeface="Calibri"/>
              </a:rPr>
              <a:t>Governed together in the last 10 years</a:t>
            </a:r>
          </a:p>
        </p:txBody>
      </p:sp>
      <p:sp>
        <p:nvSpPr>
          <p:cNvPr id="14" name="History 2 bar"/>
          <p:cNvSpPr/>
          <p:nvPr/>
        </p:nvSpPr>
        <p:spPr>
          <a:xfrm>
            <a:off x="8686800" y="2633472"/>
            <a:ext cx="1748118" cy="384048"/>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istory 2 value"/>
          <p:cNvSpPr/>
          <p:nvPr/>
        </p:nvSpPr>
        <p:spPr>
          <a:xfrm>
            <a:off x="10489782" y="2523744"/>
            <a:ext cx="6858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0.75</a:t>
            </a:r>
          </a:p>
        </p:txBody>
      </p:sp>
      <p:sp>
        <p:nvSpPr>
          <p:cNvPr id="16" name="History 3 label"/>
          <p:cNvSpPr/>
          <p:nvPr/>
        </p:nvSpPr>
        <p:spPr>
          <a:xfrm>
            <a:off x="5897880" y="3127248"/>
            <a:ext cx="269748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350" b="1" i="0">
                <a:solidFill>
                  <a:srgbClr val="321744"/>
                </a:solidFill>
                <a:latin typeface="Calibri"/>
                <a:cs typeface="Calibri"/>
              </a:rPr>
              <a:t>10 to 15 years ago</a:t>
            </a:r>
          </a:p>
        </p:txBody>
      </p:sp>
      <p:sp>
        <p:nvSpPr>
          <p:cNvPr id="17" name="History 3 bar"/>
          <p:cNvSpPr/>
          <p:nvPr/>
        </p:nvSpPr>
        <p:spPr>
          <a:xfrm>
            <a:off x="8686800" y="3236976"/>
            <a:ext cx="1515035" cy="384048"/>
          </a:xfrm>
          <a:prstGeom prst="rect">
            <a:avLst/>
          </a:prstGeom>
          <a:solidFill>
            <a:srgbClr val="F36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istory 3 value"/>
          <p:cNvSpPr/>
          <p:nvPr/>
        </p:nvSpPr>
        <p:spPr>
          <a:xfrm>
            <a:off x="10256699" y="3127248"/>
            <a:ext cx="6858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0.65</a:t>
            </a:r>
          </a:p>
        </p:txBody>
      </p:sp>
      <p:sp>
        <p:nvSpPr>
          <p:cNvPr id="19" name="History 4 label"/>
          <p:cNvSpPr/>
          <p:nvPr/>
        </p:nvSpPr>
        <p:spPr>
          <a:xfrm>
            <a:off x="5897880" y="3730752"/>
            <a:ext cx="269748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350" b="1" i="0">
                <a:solidFill>
                  <a:srgbClr val="321744"/>
                </a:solidFill>
                <a:latin typeface="Calibri"/>
                <a:cs typeface="Calibri"/>
              </a:rPr>
              <a:t>15 to 20 years ago</a:t>
            </a:r>
          </a:p>
        </p:txBody>
      </p:sp>
      <p:sp>
        <p:nvSpPr>
          <p:cNvPr id="20" name="History 4 bar"/>
          <p:cNvSpPr/>
          <p:nvPr/>
        </p:nvSpPr>
        <p:spPr>
          <a:xfrm>
            <a:off x="8686800" y="3840480"/>
            <a:ext cx="303007" cy="38404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History 4 value"/>
          <p:cNvSpPr/>
          <p:nvPr/>
        </p:nvSpPr>
        <p:spPr>
          <a:xfrm>
            <a:off x="9044671" y="3730752"/>
            <a:ext cx="6858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0.13</a:t>
            </a:r>
          </a:p>
        </p:txBody>
      </p:sp>
      <p:sp>
        <p:nvSpPr>
          <p:cNvPr id="22" name="History 5 label"/>
          <p:cNvSpPr/>
          <p:nvPr/>
        </p:nvSpPr>
        <p:spPr>
          <a:xfrm>
            <a:off x="5897880" y="4334256"/>
            <a:ext cx="269748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bIns="0" rtlCol="0" anchor="ctr">
            <a:normAutofit/>
          </a:bodyPr>
          <a:lstStyle/>
          <a:p>
            <a:pPr marL="0" indent="0" algn="r">
              <a:buNone/>
            </a:pPr>
            <a:r>
              <a:rPr sz="1350" b="1" i="0">
                <a:solidFill>
                  <a:srgbClr val="321744"/>
                </a:solidFill>
                <a:latin typeface="Calibri"/>
                <a:cs typeface="Calibri"/>
              </a:rPr>
              <a:t>Both in opposition now</a:t>
            </a:r>
          </a:p>
        </p:txBody>
      </p:sp>
      <p:sp>
        <p:nvSpPr>
          <p:cNvPr id="23" name="History 5 bar"/>
          <p:cNvSpPr/>
          <p:nvPr/>
        </p:nvSpPr>
        <p:spPr>
          <a:xfrm>
            <a:off x="8686800" y="4443984"/>
            <a:ext cx="955638" cy="384048"/>
          </a:xfrm>
          <a:prstGeom prst="rect">
            <a:avLst/>
          </a:prstGeom>
          <a:solidFill>
            <a:srgbClr val="5B44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History 5 value"/>
          <p:cNvSpPr/>
          <p:nvPr/>
        </p:nvSpPr>
        <p:spPr>
          <a:xfrm>
            <a:off x="9697302" y="4334256"/>
            <a:ext cx="6858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400" b="1" i="0">
                <a:solidFill>
                  <a:srgbClr val="321744"/>
                </a:solidFill>
                <a:latin typeface="Calibri"/>
                <a:cs typeface="Calibri"/>
              </a:rPr>
              <a:t>0.41</a:t>
            </a:r>
          </a:p>
        </p:txBody>
      </p:sp>
      <p:cxnSp>
        <p:nvCxnSpPr>
          <p:cNvPr id="25" name="Axis"/>
          <p:cNvCxnSpPr/>
          <p:nvPr/>
        </p:nvCxnSpPr>
        <p:spPr>
          <a:xfrm>
            <a:off x="8686800" y="1892808"/>
            <a:ext cx="0" cy="3072384"/>
          </a:xfrm>
          <a:prstGeom prst="line">
            <a:avLst/>
          </a:prstGeom>
          <a:ln w="19050">
            <a:solidFill>
              <a:srgbClr val="321744"/>
            </a:solidFill>
          </a:ln>
        </p:spPr>
        <p:style>
          <a:lnRef idx="2">
            <a:schemeClr val="accent1"/>
          </a:lnRef>
          <a:fillRef idx="0">
            <a:schemeClr val="accent1"/>
          </a:fillRef>
          <a:effectRef idx="1">
            <a:schemeClr val="accent1"/>
          </a:effectRef>
          <a:fontRef idx="minor">
            <a:schemeClr val="tx1"/>
          </a:fontRef>
        </p:style>
      </p:cxnSp>
      <p:sp>
        <p:nvSpPr>
          <p:cNvPr id="26" name="Finding"/>
          <p:cNvSpPr/>
          <p:nvPr/>
        </p:nvSpPr>
        <p:spPr>
          <a:xfrm>
            <a:off x="5989320" y="4983480"/>
            <a:ext cx="57607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500" b="1" i="1">
                <a:solidFill>
                  <a:srgbClr val="321744"/>
                </a:solidFill>
                <a:latin typeface="Calibri"/>
                <a:cs typeface="Calibri"/>
              </a:rPr>
              <a:t>This is what my co-authors and I find.</a:t>
            </a:r>
          </a:p>
        </p:txBody>
      </p:sp>
      <p:sp>
        <p:nvSpPr>
          <p:cNvPr id="27" name="Footnote"/>
          <p:cNvSpPr/>
          <p:nvPr/>
        </p:nvSpPr>
        <p:spPr>
          <a:xfrm>
            <a:off x="457200" y="5532120"/>
            <a:ext cx="11274552"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300" b="0" i="1">
                <a:solidFill>
                  <a:srgbClr val="5C5C5C"/>
                </a:solidFill>
                <a:latin typeface="Calibri"/>
                <a:cs typeface="Calibri"/>
              </a:rPr>
              <a:t>Reduction in dislike of the other party, holding the left–right distance between the two parties constant. The grey bar cannot be told apart from zero.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505" y="384048"/>
            <a:ext cx="10515600" cy="1188720"/>
          </a:xfrm>
        </p:spPr>
        <p:txBody>
          <a:bodyPr/>
          <a:lstStyle/>
          <a:p>
            <a:r>
              <a:t>Governing Together</a:t>
            </a:r>
          </a:p>
        </p:txBody>
      </p:sp>
      <p:sp>
        <p:nvSpPr>
          <p:cNvPr id="3" name="Content Placeholder 2"/>
          <p:cNvSpPr>
            <a:spLocks noGrp="1"/>
          </p:cNvSpPr>
          <p:nvPr>
            <p:ph idx="1"/>
          </p:nvPr>
        </p:nvSpPr>
        <p:spPr>
          <a:xfrm>
            <a:off x="685800" y="1691640"/>
            <a:ext cx="5806440" cy="4023360"/>
          </a:xfrm>
        </p:spPr>
        <p:txBody>
          <a:bodyPr/>
          <a:lstStyle/>
          <a:p>
            <a:r>
              <a:rPr sz="2000"/>
              <a:t>A common program, agreed when the coalition forms</a:t>
            </a:r>
          </a:p>
          <a:p>
            <a:pPr lvl="1"/>
            <a:r>
              <a:rPr sz="1700"/>
              <a:t>Britain, 2010: over 400 commitments and 29 policy reviews</a:t>
            </a:r>
          </a:p>
          <a:p>
            <a:r>
              <a:rPr sz="2000"/>
              <a:t>Laws follow the coalition’s compromise more than any one minister’s wishes</a:t>
            </a:r>
          </a:p>
          <a:p>
            <a:r>
              <a:rPr sz="2000"/>
              <a:t>Ministers share collective responsibility; when it fails, they feud in public</a:t>
            </a:r>
          </a:p>
          <a:p>
            <a:r>
              <a:rPr sz="2000"/>
              <a:t>A problem the program did not foresee can break a coalition</a:t>
            </a:r>
          </a:p>
        </p:txBody>
      </p:sp>
      <p:pic>
        <p:nvPicPr>
          <p:cNvPr id="4" name="Photo (Lecture 8a.pptx, slide 12, picture 3)" descr="image.jpg"/>
          <p:cNvPicPr>
            <a:picLocks noChangeAspect="1"/>
          </p:cNvPicPr>
          <p:nvPr/>
        </p:nvPicPr>
        <p:blipFill>
          <a:blip r:embed="rId2"/>
          <a:srcRect/>
          <a:stretch>
            <a:fillRect/>
          </a:stretch>
        </p:blipFill>
        <p:spPr>
          <a:xfrm>
            <a:off x="7854211" y="1737360"/>
            <a:ext cx="2716738" cy="3520440"/>
          </a:xfrm>
          <a:prstGeom prst="rect">
            <a:avLst/>
          </a:prstGeom>
        </p:spPr>
      </p:pic>
      <p:sp>
        <p:nvSpPr>
          <p:cNvPr id="5" name="Photo caption"/>
          <p:cNvSpPr/>
          <p:nvPr/>
        </p:nvSpPr>
        <p:spPr>
          <a:xfrm>
            <a:off x="6675120" y="5312664"/>
            <a:ext cx="507492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t">
            <a:normAutofit/>
          </a:bodyPr>
          <a:lstStyle/>
          <a:p>
            <a:pPr marL="0" indent="0" algn="ctr">
              <a:buNone/>
            </a:pPr>
            <a:r>
              <a:rPr sz="1150" b="0" i="1">
                <a:solidFill>
                  <a:srgbClr val="321744"/>
                </a:solidFill>
                <a:latin typeface="Calibri"/>
                <a:cs typeface="Calibri"/>
              </a:rPr>
              <a:t>Olaf Scholz, chancellor of Germany, 2021–25. His three-party coalition collapsed in November 2024 over the budget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FRC’s Government</a:t>
            </a:r>
          </a:p>
        </p:txBody>
      </p:sp>
      <p:sp>
        <p:nvSpPr>
          <p:cNvPr id="3" name="Section subtitle"/>
          <p:cNvSpPr/>
          <p:nvPr/>
        </p:nvSpPr>
        <p:spPr>
          <a:xfrm>
            <a:off x="868680" y="4709160"/>
            <a:ext cx="1042416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normAutofit/>
          </a:bodyPr>
          <a:lstStyle/>
          <a:p>
            <a:pPr marL="0" indent="0" algn="l">
              <a:buNone/>
            </a:pPr>
            <a:r>
              <a:rPr sz="2400" b="0" i="0">
                <a:solidFill>
                  <a:srgbClr val="321744"/>
                </a:solidFill>
                <a:latin typeface="Calibri"/>
                <a:cs typeface="Calibri"/>
              </a:rPr>
              <a:t>Wednesday, October 21: what happened, and which account explains 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Happened on Wednesday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dirty="0">
                <a:solidFill>
                  <a:srgbClr val="321744"/>
                </a:solidFill>
                <a:latin typeface="Calibri"/>
                <a:cs typeface="Calibri"/>
              </a:rPr>
              <a:t>What happened</a:t>
            </a:r>
            <a:r>
              <a:rPr lang="en-US" sz="2800" b="1" i="0" dirty="0">
                <a:solidFill>
                  <a:srgbClr val="321744"/>
                </a:solidFill>
                <a:latin typeface="Calibri"/>
                <a:cs typeface="Calibri"/>
              </a:rPr>
              <a:t> in our government?</a:t>
            </a:r>
            <a:endParaRPr sz="2800" b="1" i="0" dirty="0">
              <a:solidFill>
                <a:srgbClr val="321744"/>
              </a:solidFill>
              <a:latin typeface="Calibri"/>
              <a:cs typeface="Calibri"/>
            </a:endParaRPr>
          </a:p>
        </p:txBody>
      </p:sp>
      <p:sp>
        <p:nvSpPr>
          <p:cNvPr id="5" name="Header 1"/>
          <p:cNvSpPr/>
          <p:nvPr/>
        </p:nvSpPr>
        <p:spPr>
          <a:xfrm>
            <a:off x="3657600" y="1143000"/>
            <a:ext cx="1463040" cy="45720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Header 1 text"/>
          <p:cNvSpPr/>
          <p:nvPr/>
        </p:nvSpPr>
        <p:spPr>
          <a:xfrm>
            <a:off x="3657600" y="1143000"/>
            <a:ext cx="14630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300" b="1" i="0">
                <a:solidFill>
                  <a:srgbClr val="FFFFFF"/>
                </a:solidFill>
                <a:latin typeface="Calibri"/>
                <a:cs typeface="Calibri"/>
              </a:rPr>
              <a:t>SEATS</a:t>
            </a:r>
          </a:p>
        </p:txBody>
      </p:sp>
      <p:sp>
        <p:nvSpPr>
          <p:cNvPr id="7" name="Header 2"/>
          <p:cNvSpPr/>
          <p:nvPr/>
        </p:nvSpPr>
        <p:spPr>
          <a:xfrm>
            <a:off x="5212080" y="1143000"/>
            <a:ext cx="2377440" cy="45720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eader 2 text"/>
          <p:cNvSpPr/>
          <p:nvPr/>
        </p:nvSpPr>
        <p:spPr>
          <a:xfrm>
            <a:off x="5212080" y="1143000"/>
            <a:ext cx="23774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300" b="1" i="0">
                <a:solidFill>
                  <a:srgbClr val="FFFFFF"/>
                </a:solidFill>
                <a:latin typeface="Calibri"/>
                <a:cs typeface="Calibri"/>
              </a:rPr>
              <a:t>IN THE GOVERNMENT?</a:t>
            </a:r>
          </a:p>
        </p:txBody>
      </p:sp>
      <p:sp>
        <p:nvSpPr>
          <p:cNvPr id="9" name="Header 3"/>
          <p:cNvSpPr/>
          <p:nvPr/>
        </p:nvSpPr>
        <p:spPr>
          <a:xfrm>
            <a:off x="7680960" y="1143000"/>
            <a:ext cx="4023360" cy="457200"/>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3 text"/>
          <p:cNvSpPr/>
          <p:nvPr/>
        </p:nvSpPr>
        <p:spPr>
          <a:xfrm>
            <a:off x="7680960" y="1143000"/>
            <a:ext cx="4023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300" b="1" i="0">
                <a:solidFill>
                  <a:srgbClr val="FFFFFF"/>
                </a:solidFill>
                <a:latin typeface="Calibri"/>
                <a:cs typeface="Calibri"/>
              </a:rPr>
              <a:t>MINISTRIES</a:t>
            </a:r>
          </a:p>
        </p:txBody>
      </p:sp>
      <p:sp>
        <p:nvSpPr>
          <p:cNvPr id="11" name="Row band 1"/>
          <p:cNvSpPr/>
          <p:nvPr/>
        </p:nvSpPr>
        <p:spPr>
          <a:xfrm>
            <a:off x="457200" y="1691640"/>
            <a:ext cx="11247120" cy="530352"/>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w 1 label"/>
          <p:cNvSpPr/>
          <p:nvPr/>
        </p:nvSpPr>
        <p:spPr>
          <a:xfrm>
            <a:off x="457200" y="1691640"/>
            <a:ext cx="31089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Radical Left (RLP)</a:t>
            </a:r>
          </a:p>
        </p:txBody>
      </p:sp>
      <p:sp>
        <p:nvSpPr>
          <p:cNvPr id="13" name="Row 1 col 1"/>
          <p:cNvSpPr/>
          <p:nvPr/>
        </p:nvSpPr>
        <p:spPr>
          <a:xfrm>
            <a:off x="3657600" y="1691640"/>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14" name="Row 1 col 2"/>
          <p:cNvSpPr/>
          <p:nvPr/>
        </p:nvSpPr>
        <p:spPr>
          <a:xfrm>
            <a:off x="5212080" y="1691640"/>
            <a:ext cx="23774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15" name="Row 1 col 3"/>
          <p:cNvSpPr/>
          <p:nvPr/>
        </p:nvSpPr>
        <p:spPr>
          <a:xfrm>
            <a:off x="7680960" y="1691640"/>
            <a:ext cx="40233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16" name="Row 2 label"/>
          <p:cNvSpPr/>
          <p:nvPr/>
        </p:nvSpPr>
        <p:spPr>
          <a:xfrm>
            <a:off x="457200" y="2221992"/>
            <a:ext cx="31089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Social Democrats (SD)</a:t>
            </a:r>
          </a:p>
        </p:txBody>
      </p:sp>
      <p:sp>
        <p:nvSpPr>
          <p:cNvPr id="17" name="Row 2 col 1"/>
          <p:cNvSpPr/>
          <p:nvPr/>
        </p:nvSpPr>
        <p:spPr>
          <a:xfrm>
            <a:off x="3657600" y="2221992"/>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18" name="Row 2 col 2"/>
          <p:cNvSpPr/>
          <p:nvPr/>
        </p:nvSpPr>
        <p:spPr>
          <a:xfrm>
            <a:off x="5212080" y="2221992"/>
            <a:ext cx="23774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19" name="Row 2 col 3"/>
          <p:cNvSpPr/>
          <p:nvPr/>
        </p:nvSpPr>
        <p:spPr>
          <a:xfrm>
            <a:off x="7680960" y="2221992"/>
            <a:ext cx="40233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0" name="Row band 3"/>
          <p:cNvSpPr/>
          <p:nvPr/>
        </p:nvSpPr>
        <p:spPr>
          <a:xfrm>
            <a:off x="457200" y="2752344"/>
            <a:ext cx="11247120" cy="530352"/>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w 3 label"/>
          <p:cNvSpPr/>
          <p:nvPr/>
        </p:nvSpPr>
        <p:spPr>
          <a:xfrm>
            <a:off x="457200" y="2752344"/>
            <a:ext cx="31089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Greens (GP)</a:t>
            </a:r>
          </a:p>
        </p:txBody>
      </p:sp>
      <p:sp>
        <p:nvSpPr>
          <p:cNvPr id="22" name="Row 3 col 1"/>
          <p:cNvSpPr/>
          <p:nvPr/>
        </p:nvSpPr>
        <p:spPr>
          <a:xfrm>
            <a:off x="3657600" y="2752344"/>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3" name="Row 3 col 2"/>
          <p:cNvSpPr/>
          <p:nvPr/>
        </p:nvSpPr>
        <p:spPr>
          <a:xfrm>
            <a:off x="5212080" y="2752344"/>
            <a:ext cx="23774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4" name="Row 3 col 3"/>
          <p:cNvSpPr/>
          <p:nvPr/>
        </p:nvSpPr>
        <p:spPr>
          <a:xfrm>
            <a:off x="7680960" y="2752344"/>
            <a:ext cx="40233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5" name="Row 4 label"/>
          <p:cNvSpPr/>
          <p:nvPr/>
        </p:nvSpPr>
        <p:spPr>
          <a:xfrm>
            <a:off x="457200" y="3282696"/>
            <a:ext cx="31089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Liberals (LP)</a:t>
            </a:r>
          </a:p>
        </p:txBody>
      </p:sp>
      <p:sp>
        <p:nvSpPr>
          <p:cNvPr id="26" name="Row 4 col 1"/>
          <p:cNvSpPr/>
          <p:nvPr/>
        </p:nvSpPr>
        <p:spPr>
          <a:xfrm>
            <a:off x="3657600" y="3282696"/>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7" name="Row 4 col 2"/>
          <p:cNvSpPr/>
          <p:nvPr/>
        </p:nvSpPr>
        <p:spPr>
          <a:xfrm>
            <a:off x="5212080" y="3282696"/>
            <a:ext cx="23774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8" name="Row 4 col 3"/>
          <p:cNvSpPr/>
          <p:nvPr/>
        </p:nvSpPr>
        <p:spPr>
          <a:xfrm>
            <a:off x="7680960" y="3282696"/>
            <a:ext cx="40233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29" name="Row band 5"/>
          <p:cNvSpPr/>
          <p:nvPr/>
        </p:nvSpPr>
        <p:spPr>
          <a:xfrm>
            <a:off x="457200" y="3813048"/>
            <a:ext cx="11247120" cy="530352"/>
          </a:xfrm>
          <a:prstGeom prst="rect">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w 5 label"/>
          <p:cNvSpPr/>
          <p:nvPr/>
        </p:nvSpPr>
        <p:spPr>
          <a:xfrm>
            <a:off x="457200" y="3813048"/>
            <a:ext cx="31089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Christian Democrats (CD)</a:t>
            </a:r>
          </a:p>
        </p:txBody>
      </p:sp>
      <p:sp>
        <p:nvSpPr>
          <p:cNvPr id="31" name="Row 5 col 1"/>
          <p:cNvSpPr/>
          <p:nvPr/>
        </p:nvSpPr>
        <p:spPr>
          <a:xfrm>
            <a:off x="3657600" y="3813048"/>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32" name="Row 5 col 2"/>
          <p:cNvSpPr/>
          <p:nvPr/>
        </p:nvSpPr>
        <p:spPr>
          <a:xfrm>
            <a:off x="5212080" y="3813048"/>
            <a:ext cx="23774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33" name="Row 5 col 3"/>
          <p:cNvSpPr/>
          <p:nvPr/>
        </p:nvSpPr>
        <p:spPr>
          <a:xfrm>
            <a:off x="7680960" y="3813048"/>
            <a:ext cx="40233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34" name="Row 6 label"/>
          <p:cNvSpPr/>
          <p:nvPr/>
        </p:nvSpPr>
        <p:spPr>
          <a:xfrm>
            <a:off x="457200" y="4343400"/>
            <a:ext cx="31089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45720" rtlCol="0" anchor="ctr">
            <a:normAutofit/>
          </a:bodyPr>
          <a:lstStyle/>
          <a:p>
            <a:pPr marL="0" indent="0" algn="l">
              <a:buNone/>
            </a:pPr>
            <a:r>
              <a:rPr sz="1650" b="1" i="0">
                <a:solidFill>
                  <a:srgbClr val="321744"/>
                </a:solidFill>
                <a:latin typeface="Calibri"/>
                <a:cs typeface="Calibri"/>
              </a:rPr>
              <a:t>Populist Right (PR)</a:t>
            </a:r>
          </a:p>
        </p:txBody>
      </p:sp>
      <p:sp>
        <p:nvSpPr>
          <p:cNvPr id="35" name="Row 6 col 1"/>
          <p:cNvSpPr/>
          <p:nvPr/>
        </p:nvSpPr>
        <p:spPr>
          <a:xfrm>
            <a:off x="3657600" y="4343400"/>
            <a:ext cx="14630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36" name="Row 6 col 2"/>
          <p:cNvSpPr/>
          <p:nvPr/>
        </p:nvSpPr>
        <p:spPr>
          <a:xfrm>
            <a:off x="5212080" y="4343400"/>
            <a:ext cx="237744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37" name="Row 6 col 3"/>
          <p:cNvSpPr/>
          <p:nvPr/>
        </p:nvSpPr>
        <p:spPr>
          <a:xfrm>
            <a:off x="7680960" y="4343400"/>
            <a:ext cx="402336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normAutofit/>
          </a:bodyPr>
          <a:lstStyle/>
          <a:p>
            <a:pPr marL="0" indent="0" algn="ctr">
              <a:buNone/>
            </a:pPr>
            <a:r>
              <a:rPr sz="1800" b="1" i="0">
                <a:solidFill>
                  <a:srgbClr val="F3672A"/>
                </a:solidFill>
                <a:latin typeface="Calibri"/>
                <a:cs typeface="Calibri"/>
              </a:rPr>
              <a:t>?</a:t>
            </a:r>
          </a:p>
        </p:txBody>
      </p:sp>
      <p:sp>
        <p:nvSpPr>
          <p:cNvPr id="38" name="Fill-in 1"/>
          <p:cNvSpPr/>
          <p:nvPr/>
        </p:nvSpPr>
        <p:spPr>
          <a:xfrm>
            <a:off x="457200" y="5074920"/>
            <a:ext cx="4572000" cy="548640"/>
          </a:xfrm>
          <a:prstGeom prst="roundRect">
            <a:avLst>
              <a:gd name="adj" fmla="val 20000"/>
            </a:avLst>
          </a:prstGeom>
          <a:solidFill>
            <a:srgbClr val="FFF6F0"/>
          </a:solidFill>
          <a:ln w="15875">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182880" tIns="18288" bIns="18288" rtlCol="0" anchor="ctr">
            <a:normAutofit/>
          </a:bodyPr>
          <a:lstStyle/>
          <a:p>
            <a:pPr marL="0" indent="0" algn="l">
              <a:buNone/>
            </a:pPr>
            <a:r>
              <a:rPr sz="1800" b="1" i="0">
                <a:solidFill>
                  <a:srgbClr val="321744"/>
                </a:solidFill>
                <a:latin typeface="Calibri"/>
                <a:cs typeface="Calibri"/>
              </a:rPr>
              <a:t>Prime Minister: </a:t>
            </a:r>
            <a:r>
              <a:rPr sz="1800" b="1" i="0">
                <a:solidFill>
                  <a:srgbClr val="F3672A"/>
                </a:solidFill>
                <a:latin typeface="Calibri"/>
                <a:cs typeface="Calibri"/>
              </a:rPr>
              <a:t>?</a:t>
            </a:r>
          </a:p>
        </p:txBody>
      </p:sp>
      <p:sp>
        <p:nvSpPr>
          <p:cNvPr id="39" name="Fill-in 2"/>
          <p:cNvSpPr/>
          <p:nvPr/>
        </p:nvSpPr>
        <p:spPr>
          <a:xfrm>
            <a:off x="5212080" y="5074920"/>
            <a:ext cx="6519672" cy="548640"/>
          </a:xfrm>
          <a:prstGeom prst="roundRect">
            <a:avLst>
              <a:gd name="adj" fmla="val 20000"/>
            </a:avLst>
          </a:prstGeom>
          <a:solidFill>
            <a:srgbClr val="FFF6F0"/>
          </a:solidFill>
          <a:ln w="15875">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182880" tIns="18288" bIns="18288" rtlCol="0" anchor="ctr">
            <a:normAutofit/>
          </a:bodyPr>
          <a:lstStyle/>
          <a:p>
            <a:pPr marL="0" indent="0" algn="l">
              <a:buNone/>
            </a:pPr>
            <a:r>
              <a:rPr sz="1800" b="1" i="0">
                <a:solidFill>
                  <a:srgbClr val="321744"/>
                </a:solidFill>
                <a:latin typeface="Calibri"/>
                <a:cs typeface="Calibri"/>
              </a:rPr>
              <a:t>Vote of confidence, in seats: </a:t>
            </a:r>
            <a:r>
              <a:rPr sz="1800" b="1" i="0">
                <a:solidFill>
                  <a:srgbClr val="F3672A"/>
                </a:solidFill>
                <a:latin typeface="Calibri"/>
                <a:cs typeface="Calibri"/>
              </a:rPr>
              <a:t>?</a:t>
            </a:r>
          </a:p>
        </p:txBody>
      </p:sp>
      <p:sp>
        <p:nvSpPr>
          <p:cNvPr id="40" name="Footnote"/>
          <p:cNvSpPr/>
          <p:nvPr/>
        </p:nvSpPr>
        <p:spPr>
          <a:xfrm>
            <a:off x="457200" y="5760720"/>
            <a:ext cx="1127455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endParaRPr sz="1400" b="0" i="1" dirty="0">
              <a:solidFill>
                <a:srgbClr val="5C5C5C"/>
              </a:solidFill>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1: Office</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THE FRC</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Test 1: did the parties want office?</a:t>
            </a:r>
          </a:p>
        </p:txBody>
      </p:sp>
      <p:sp>
        <p:nvSpPr>
          <p:cNvPr id="6" name="Predicts card"/>
          <p:cNvSpPr/>
          <p:nvPr/>
        </p:nvSpPr>
        <p:spPr>
          <a:xfrm>
            <a:off x="457200" y="1188720"/>
            <a:ext cx="4846320" cy="301752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edicts card header"/>
          <p:cNvSpPr/>
          <p:nvPr/>
        </p:nvSpPr>
        <p:spPr>
          <a:xfrm>
            <a:off x="457200" y="1188720"/>
            <a:ext cx="4846320" cy="438912"/>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edicts card header text"/>
          <p:cNvSpPr/>
          <p:nvPr/>
        </p:nvSpPr>
        <p:spPr>
          <a:xfrm>
            <a:off x="457200" y="1188720"/>
            <a:ext cx="4846320"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WHAT THE ACCOUNT PREDICTS</a:t>
            </a:r>
          </a:p>
        </p:txBody>
      </p:sp>
      <p:sp>
        <p:nvSpPr>
          <p:cNvPr id="9" name="Predicts card text"/>
          <p:cNvSpPr/>
          <p:nvPr/>
        </p:nvSpPr>
        <p:spPr>
          <a:xfrm>
            <a:off x="630936" y="1737360"/>
            <a:ext cx="4498848" cy="2359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100"/>
              </a:spcAft>
              <a:buFont typeface="Arial"/>
              <a:buChar char="•"/>
            </a:pPr>
            <a:r>
              <a:rPr sz="1800" b="0" i="0">
                <a:solidFill>
                  <a:srgbClr val="321744"/>
                </a:solidFill>
                <a:latin typeface="Calibri"/>
                <a:cs typeface="Calibri"/>
              </a:rPr>
              <a:t>The smallest coalition that reaches 51 seats</a:t>
            </a:r>
          </a:p>
          <a:p>
            <a:pPr marL="171450" indent="-171450" algn="l">
              <a:spcAft>
                <a:spcPts val="1100"/>
              </a:spcAft>
              <a:buFont typeface="Arial"/>
              <a:buChar char="•"/>
            </a:pPr>
            <a:r>
              <a:rPr sz="1800" b="0" i="0">
                <a:solidFill>
                  <a:srgbClr val="321744"/>
                </a:solidFill>
                <a:latin typeface="Calibri"/>
                <a:cs typeface="Calibri"/>
              </a:rPr>
              <a:t>Ministries split in proportion to seats</a:t>
            </a:r>
          </a:p>
          <a:p>
            <a:pPr marL="171450" indent="-171450" algn="l">
              <a:spcAft>
                <a:spcPts val="1100"/>
              </a:spcAft>
              <a:buFont typeface="Arial"/>
              <a:buChar char="•"/>
            </a:pPr>
            <a:r>
              <a:rPr sz="1800" b="0" i="0">
                <a:solidFill>
                  <a:srgbClr val="321744"/>
                </a:solidFill>
                <a:latin typeface="Calibri"/>
                <a:cs typeface="Calibri"/>
              </a:rPr>
              <a:t>The largest party in the coalition takes the Prime Minister</a:t>
            </a:r>
          </a:p>
        </p:txBody>
      </p:sp>
      <p:sp>
        <p:nvSpPr>
          <p:cNvPr id="10" name="Check card"/>
          <p:cNvSpPr/>
          <p:nvPr/>
        </p:nvSpPr>
        <p:spPr>
          <a:xfrm>
            <a:off x="5486400" y="1188720"/>
            <a:ext cx="6245352" cy="301752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ck card header"/>
          <p:cNvSpPr/>
          <p:nvPr/>
        </p:nvSpPr>
        <p:spPr>
          <a:xfrm>
            <a:off x="5486400" y="1188720"/>
            <a:ext cx="6245352" cy="438912"/>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heck card header text"/>
          <p:cNvSpPr/>
          <p:nvPr/>
        </p:nvSpPr>
        <p:spPr>
          <a:xfrm>
            <a:off x="5486400" y="1188720"/>
            <a:ext cx="6245352"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CHECK IT AGAINST THE RECORD</a:t>
            </a:r>
          </a:p>
        </p:txBody>
      </p:sp>
      <p:sp>
        <p:nvSpPr>
          <p:cNvPr id="13" name="Check card text"/>
          <p:cNvSpPr/>
          <p:nvPr/>
        </p:nvSpPr>
        <p:spPr>
          <a:xfrm>
            <a:off x="5660136" y="1737360"/>
            <a:ext cx="5897880" cy="2359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100"/>
              </a:spcAft>
              <a:buFont typeface="Arial"/>
              <a:buChar char="•"/>
            </a:pPr>
            <a:r>
              <a:rPr sz="1800" b="0" i="0" dirty="0">
                <a:solidFill>
                  <a:srgbClr val="321744"/>
                </a:solidFill>
                <a:latin typeface="Calibri"/>
                <a:cs typeface="Calibri"/>
              </a:rPr>
              <a:t>Take any one party out of the government. Does it still have 51 seats?</a:t>
            </a:r>
          </a:p>
          <a:p>
            <a:pPr marL="171450" indent="-171450" algn="l">
              <a:spcAft>
                <a:spcPts val="1100"/>
              </a:spcAft>
              <a:buFont typeface="Arial"/>
              <a:buChar char="•"/>
            </a:pPr>
            <a:r>
              <a:rPr sz="1800" b="0" i="0" dirty="0">
                <a:solidFill>
                  <a:srgbClr val="321744"/>
                </a:solidFill>
                <a:latin typeface="Calibri"/>
                <a:cs typeface="Calibri"/>
              </a:rPr>
              <a:t>Each party’s share of the coalition’s seats, and its share of the ministries: do they match?</a:t>
            </a:r>
          </a:p>
          <a:p>
            <a:pPr marL="171450" indent="-171450" algn="l">
              <a:spcAft>
                <a:spcPts val="1100"/>
              </a:spcAft>
              <a:buFont typeface="Arial"/>
              <a:buChar char="•"/>
            </a:pPr>
            <a:r>
              <a:rPr sz="1800" b="0" i="0" dirty="0">
                <a:solidFill>
                  <a:srgbClr val="321744"/>
                </a:solidFill>
                <a:latin typeface="Calibri"/>
                <a:cs typeface="Calibri"/>
              </a:rPr>
              <a:t>Was there a smaller coalition that would have won? Why did it not form?</a:t>
            </a:r>
          </a:p>
        </p:txBody>
      </p:sp>
      <p:sp>
        <p:nvSpPr>
          <p:cNvPr id="14" name="Verdict band"/>
          <p:cNvSpPr/>
          <p:nvPr/>
        </p:nvSpPr>
        <p:spPr>
          <a:xfrm>
            <a:off x="457200" y="4434840"/>
            <a:ext cx="11274552" cy="749808"/>
          </a:xfrm>
          <a:prstGeom prst="roundRect">
            <a:avLst>
              <a:gd name="adj" fmla="val 18000"/>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Verdict question"/>
          <p:cNvSpPr/>
          <p:nvPr/>
        </p:nvSpPr>
        <p:spPr>
          <a:xfrm>
            <a:off x="640080" y="4434840"/>
            <a:ext cx="6473952"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800" b="1" i="0" dirty="0">
                <a:solidFill>
                  <a:srgbClr val="FFFFFF"/>
                </a:solidFill>
                <a:latin typeface="Calibri"/>
                <a:cs typeface="Calibri"/>
              </a:rPr>
              <a:t>Does the office account explain the FRC’s government?</a:t>
            </a:r>
          </a:p>
        </p:txBody>
      </p:sp>
      <p:sp>
        <p:nvSpPr>
          <p:cNvPr id="16" name="Verdict option 1"/>
          <p:cNvSpPr/>
          <p:nvPr/>
        </p:nvSpPr>
        <p:spPr>
          <a:xfrm>
            <a:off x="7205472" y="4562856"/>
            <a:ext cx="132588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600" b="1" i="0">
                <a:solidFill>
                  <a:srgbClr val="321744"/>
                </a:solidFill>
                <a:latin typeface="Calibri"/>
                <a:cs typeface="Calibri"/>
              </a:rPr>
              <a:t>Yes</a:t>
            </a:r>
          </a:p>
        </p:txBody>
      </p:sp>
      <p:sp>
        <p:nvSpPr>
          <p:cNvPr id="17" name="Verdict option 2"/>
          <p:cNvSpPr/>
          <p:nvPr/>
        </p:nvSpPr>
        <p:spPr>
          <a:xfrm>
            <a:off x="8668512" y="4562856"/>
            <a:ext cx="132588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600" b="1" i="0">
                <a:solidFill>
                  <a:srgbClr val="321744"/>
                </a:solidFill>
                <a:latin typeface="Calibri"/>
                <a:cs typeface="Calibri"/>
              </a:rPr>
              <a:t>Partly</a:t>
            </a:r>
          </a:p>
        </p:txBody>
      </p:sp>
      <p:sp>
        <p:nvSpPr>
          <p:cNvPr id="18" name="Verdict option 3"/>
          <p:cNvSpPr/>
          <p:nvPr/>
        </p:nvSpPr>
        <p:spPr>
          <a:xfrm>
            <a:off x="10131552" y="4562856"/>
            <a:ext cx="132588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600" b="1" i="0">
                <a:solidFill>
                  <a:srgbClr val="321744"/>
                </a:solidFill>
                <a:latin typeface="Calibri"/>
                <a:cs typeface="Calibri"/>
              </a:rPr>
              <a:t>No</a:t>
            </a:r>
          </a:p>
        </p:txBody>
      </p:sp>
      <p:sp>
        <p:nvSpPr>
          <p:cNvPr id="19" name="Footnote"/>
          <p:cNvSpPr/>
          <p:nvPr/>
        </p:nvSpPr>
        <p:spPr>
          <a:xfrm>
            <a:off x="457200" y="5349240"/>
            <a:ext cx="11274552"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500" b="0" i="1">
                <a:solidFill>
                  <a:srgbClr val="5C5C5C"/>
                </a:solidFill>
                <a:latin typeface="Calibri"/>
                <a:cs typeface="Calibri"/>
              </a:rPr>
              <a:t>Whatever your answer: what in your negotiation record is the evidence?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2: Policy</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THE FRC</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Test 2: did the parties want policy?</a:t>
            </a:r>
          </a:p>
        </p:txBody>
      </p:sp>
      <p:cxnSp>
        <p:nvCxnSpPr>
          <p:cNvPr id="6" name="Left-right line"/>
          <p:cNvCxnSpPr/>
          <p:nvPr/>
        </p:nvCxnSpPr>
        <p:spPr>
          <a:xfrm>
            <a:off x="822960" y="1691640"/>
            <a:ext cx="10515600" cy="0"/>
          </a:xfrm>
          <a:prstGeom prst="line">
            <a:avLst/>
          </a:prstGeom>
          <a:ln w="25400">
            <a:solidFill>
              <a:srgbClr val="321744"/>
            </a:solidFill>
          </a:ln>
        </p:spPr>
        <p:style>
          <a:lnRef idx="2">
            <a:schemeClr val="accent1"/>
          </a:lnRef>
          <a:fillRef idx="0">
            <a:schemeClr val="accent1"/>
          </a:fillRef>
          <a:effectRef idx="1">
            <a:schemeClr val="accent1"/>
          </a:effectRef>
          <a:fontRef idx="minor">
            <a:schemeClr val="tx1"/>
          </a:fontRef>
        </p:style>
      </p:cxnSp>
      <p:sp>
        <p:nvSpPr>
          <p:cNvPr id="7" name="Left end"/>
          <p:cNvSpPr/>
          <p:nvPr/>
        </p:nvSpPr>
        <p:spPr>
          <a:xfrm>
            <a:off x="457200" y="1097280"/>
            <a:ext cx="2286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l">
              <a:buNone/>
            </a:pPr>
            <a:r>
              <a:rPr sz="1200" b="1" i="0">
                <a:solidFill>
                  <a:srgbClr val="5C5C5C"/>
                </a:solidFill>
                <a:latin typeface="Calibri"/>
                <a:cs typeface="Calibri"/>
              </a:rPr>
              <a:t>LEFT</a:t>
            </a:r>
          </a:p>
        </p:txBody>
      </p:sp>
      <p:sp>
        <p:nvSpPr>
          <p:cNvPr id="8" name="Right end"/>
          <p:cNvSpPr/>
          <p:nvPr/>
        </p:nvSpPr>
        <p:spPr>
          <a:xfrm>
            <a:off x="9445752" y="1097280"/>
            <a:ext cx="2286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rmAutofit/>
          </a:bodyPr>
          <a:lstStyle/>
          <a:p>
            <a:pPr marL="0" indent="0" algn="r">
              <a:buNone/>
            </a:pPr>
            <a:r>
              <a:rPr sz="1200" b="1" i="0">
                <a:solidFill>
                  <a:srgbClr val="5C5C5C"/>
                </a:solidFill>
                <a:latin typeface="Calibri"/>
                <a:cs typeface="Calibri"/>
              </a:rPr>
              <a:t>RIGHT</a:t>
            </a:r>
          </a:p>
        </p:txBody>
      </p:sp>
      <p:sp>
        <p:nvSpPr>
          <p:cNvPr id="9" name="RLP chip"/>
          <p:cNvSpPr/>
          <p:nvPr/>
        </p:nvSpPr>
        <p:spPr>
          <a:xfrm>
            <a:off x="1150620" y="1417320"/>
            <a:ext cx="1097280" cy="548640"/>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800" b="1" i="0">
                <a:solidFill>
                  <a:srgbClr val="FFFFFF"/>
                </a:solidFill>
                <a:latin typeface="Calibri"/>
                <a:cs typeface="Calibri"/>
              </a:rPr>
              <a:t>RLP</a:t>
            </a:r>
          </a:p>
        </p:txBody>
      </p:sp>
      <p:sp>
        <p:nvSpPr>
          <p:cNvPr id="10" name="RLP seats"/>
          <p:cNvSpPr/>
          <p:nvPr/>
        </p:nvSpPr>
        <p:spPr>
          <a:xfrm>
            <a:off x="830580" y="201168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250" b="0" i="0">
                <a:solidFill>
                  <a:srgbClr val="321744"/>
                </a:solidFill>
                <a:latin typeface="Calibri"/>
                <a:cs typeface="Calibri"/>
              </a:rPr>
              <a:t>Radical Left</a:t>
            </a:r>
          </a:p>
          <a:p>
            <a:pPr marL="0" indent="0" algn="ctr">
              <a:buNone/>
            </a:pPr>
            <a:r>
              <a:rPr sz="1350" b="1" i="0">
                <a:solidFill>
                  <a:srgbClr val="F3672A"/>
                </a:solidFill>
                <a:latin typeface="Calibri"/>
                <a:cs typeface="Calibri"/>
              </a:rPr>
              <a:t>?</a:t>
            </a:r>
            <a:r>
              <a:rPr sz="1350" b="0" i="0">
                <a:solidFill>
                  <a:srgbClr val="321744"/>
                </a:solidFill>
                <a:latin typeface="Calibri"/>
                <a:cs typeface="Calibri"/>
              </a:rPr>
              <a:t> seats</a:t>
            </a:r>
          </a:p>
        </p:txBody>
      </p:sp>
      <p:sp>
        <p:nvSpPr>
          <p:cNvPr id="11" name="SD chip"/>
          <p:cNvSpPr/>
          <p:nvPr/>
        </p:nvSpPr>
        <p:spPr>
          <a:xfrm>
            <a:off x="2903220" y="1417320"/>
            <a:ext cx="1097280" cy="548640"/>
          </a:xfrm>
          <a:prstGeom prst="roundRect">
            <a:avLst>
              <a:gd name="adj" fmla="val 25000"/>
            </a:avLst>
          </a:prstGeom>
          <a:solidFill>
            <a:srgbClr val="301A41"/>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800" b="1" i="0">
                <a:solidFill>
                  <a:srgbClr val="FFFFFF"/>
                </a:solidFill>
                <a:latin typeface="Calibri"/>
                <a:cs typeface="Calibri"/>
              </a:rPr>
              <a:t>SD</a:t>
            </a:r>
          </a:p>
        </p:txBody>
      </p:sp>
      <p:sp>
        <p:nvSpPr>
          <p:cNvPr id="12" name="SD seats"/>
          <p:cNvSpPr/>
          <p:nvPr/>
        </p:nvSpPr>
        <p:spPr>
          <a:xfrm>
            <a:off x="2583180" y="201168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250" b="0" i="0">
                <a:solidFill>
                  <a:srgbClr val="321744"/>
                </a:solidFill>
                <a:latin typeface="Calibri"/>
                <a:cs typeface="Calibri"/>
              </a:rPr>
              <a:t>Social Democrats</a:t>
            </a:r>
          </a:p>
          <a:p>
            <a:pPr marL="0" indent="0" algn="ctr">
              <a:buNone/>
            </a:pPr>
            <a:r>
              <a:rPr sz="1350" b="1" i="0">
                <a:solidFill>
                  <a:srgbClr val="F3672A"/>
                </a:solidFill>
                <a:latin typeface="Calibri"/>
                <a:cs typeface="Calibri"/>
              </a:rPr>
              <a:t>?</a:t>
            </a:r>
            <a:r>
              <a:rPr sz="1350" b="0" i="0">
                <a:solidFill>
                  <a:srgbClr val="321744"/>
                </a:solidFill>
                <a:latin typeface="Calibri"/>
                <a:cs typeface="Calibri"/>
              </a:rPr>
              <a:t> seats</a:t>
            </a:r>
          </a:p>
        </p:txBody>
      </p:sp>
      <p:sp>
        <p:nvSpPr>
          <p:cNvPr id="13" name="GP chip"/>
          <p:cNvSpPr/>
          <p:nvPr/>
        </p:nvSpPr>
        <p:spPr>
          <a:xfrm>
            <a:off x="4655820" y="1417320"/>
            <a:ext cx="1097280" cy="548640"/>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800" b="1" i="0">
                <a:solidFill>
                  <a:srgbClr val="FFFFFF"/>
                </a:solidFill>
                <a:latin typeface="Calibri"/>
                <a:cs typeface="Calibri"/>
              </a:rPr>
              <a:t>GP</a:t>
            </a:r>
          </a:p>
        </p:txBody>
      </p:sp>
      <p:sp>
        <p:nvSpPr>
          <p:cNvPr id="14" name="GP seats"/>
          <p:cNvSpPr/>
          <p:nvPr/>
        </p:nvSpPr>
        <p:spPr>
          <a:xfrm>
            <a:off x="4335780" y="201168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250" b="0" i="0">
                <a:solidFill>
                  <a:srgbClr val="321744"/>
                </a:solidFill>
                <a:latin typeface="Calibri"/>
                <a:cs typeface="Calibri"/>
              </a:rPr>
              <a:t>Greens</a:t>
            </a:r>
          </a:p>
          <a:p>
            <a:pPr marL="0" indent="0" algn="ctr">
              <a:buNone/>
            </a:pPr>
            <a:r>
              <a:rPr sz="1350" b="1" i="0">
                <a:solidFill>
                  <a:srgbClr val="F3672A"/>
                </a:solidFill>
                <a:latin typeface="Calibri"/>
                <a:cs typeface="Calibri"/>
              </a:rPr>
              <a:t>?</a:t>
            </a:r>
            <a:r>
              <a:rPr sz="1350" b="0" i="0">
                <a:solidFill>
                  <a:srgbClr val="321744"/>
                </a:solidFill>
                <a:latin typeface="Calibri"/>
                <a:cs typeface="Calibri"/>
              </a:rPr>
              <a:t> seats</a:t>
            </a:r>
          </a:p>
        </p:txBody>
      </p:sp>
      <p:sp>
        <p:nvSpPr>
          <p:cNvPr id="15" name="LP chip"/>
          <p:cNvSpPr/>
          <p:nvPr/>
        </p:nvSpPr>
        <p:spPr>
          <a:xfrm>
            <a:off x="6408420" y="1417320"/>
            <a:ext cx="1097280" cy="548640"/>
          </a:xfrm>
          <a:prstGeom prst="roundRect">
            <a:avLst>
              <a:gd name="adj" fmla="val 25000"/>
            </a:avLst>
          </a:prstGeom>
          <a:solidFill>
            <a:srgbClr val="301A41"/>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800" b="1" i="0">
                <a:solidFill>
                  <a:srgbClr val="FFFFFF"/>
                </a:solidFill>
                <a:latin typeface="Calibri"/>
                <a:cs typeface="Calibri"/>
              </a:rPr>
              <a:t>LP</a:t>
            </a:r>
          </a:p>
        </p:txBody>
      </p:sp>
      <p:sp>
        <p:nvSpPr>
          <p:cNvPr id="16" name="LP seats"/>
          <p:cNvSpPr/>
          <p:nvPr/>
        </p:nvSpPr>
        <p:spPr>
          <a:xfrm>
            <a:off x="6088380" y="201168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250" b="0" i="0">
                <a:solidFill>
                  <a:srgbClr val="321744"/>
                </a:solidFill>
                <a:latin typeface="Calibri"/>
                <a:cs typeface="Calibri"/>
              </a:rPr>
              <a:t>Liberals</a:t>
            </a:r>
          </a:p>
          <a:p>
            <a:pPr marL="0" indent="0" algn="ctr">
              <a:buNone/>
            </a:pPr>
            <a:r>
              <a:rPr sz="1350" b="1" i="0">
                <a:solidFill>
                  <a:srgbClr val="F3672A"/>
                </a:solidFill>
                <a:latin typeface="Calibri"/>
                <a:cs typeface="Calibri"/>
              </a:rPr>
              <a:t>?</a:t>
            </a:r>
            <a:r>
              <a:rPr sz="1350" b="0" i="0">
                <a:solidFill>
                  <a:srgbClr val="321744"/>
                </a:solidFill>
                <a:latin typeface="Calibri"/>
                <a:cs typeface="Calibri"/>
              </a:rPr>
              <a:t> seats</a:t>
            </a:r>
          </a:p>
        </p:txBody>
      </p:sp>
      <p:sp>
        <p:nvSpPr>
          <p:cNvPr id="17" name="CD chip"/>
          <p:cNvSpPr/>
          <p:nvPr/>
        </p:nvSpPr>
        <p:spPr>
          <a:xfrm>
            <a:off x="8161020" y="1417320"/>
            <a:ext cx="1097280" cy="548640"/>
          </a:xfrm>
          <a:prstGeom prst="roundRect">
            <a:avLst>
              <a:gd name="adj" fmla="val 25000"/>
            </a:avLst>
          </a:prstGeom>
          <a:solidFill>
            <a:srgbClr val="301A41"/>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800" b="1" i="0">
                <a:solidFill>
                  <a:srgbClr val="FFFFFF"/>
                </a:solidFill>
                <a:latin typeface="Calibri"/>
                <a:cs typeface="Calibri"/>
              </a:rPr>
              <a:t>CD</a:t>
            </a:r>
          </a:p>
        </p:txBody>
      </p:sp>
      <p:sp>
        <p:nvSpPr>
          <p:cNvPr id="18" name="CD seats"/>
          <p:cNvSpPr/>
          <p:nvPr/>
        </p:nvSpPr>
        <p:spPr>
          <a:xfrm>
            <a:off x="7840980" y="201168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250" b="0" i="0">
                <a:solidFill>
                  <a:srgbClr val="321744"/>
                </a:solidFill>
                <a:latin typeface="Calibri"/>
                <a:cs typeface="Calibri"/>
              </a:rPr>
              <a:t>Christian Democrats</a:t>
            </a:r>
          </a:p>
          <a:p>
            <a:pPr marL="0" indent="0" algn="ctr">
              <a:buNone/>
            </a:pPr>
            <a:r>
              <a:rPr sz="1350" b="1" i="0">
                <a:solidFill>
                  <a:srgbClr val="F3672A"/>
                </a:solidFill>
                <a:latin typeface="Calibri"/>
                <a:cs typeface="Calibri"/>
              </a:rPr>
              <a:t>?</a:t>
            </a:r>
            <a:r>
              <a:rPr sz="1350" b="0" i="0">
                <a:solidFill>
                  <a:srgbClr val="321744"/>
                </a:solidFill>
                <a:latin typeface="Calibri"/>
                <a:cs typeface="Calibri"/>
              </a:rPr>
              <a:t> seats</a:t>
            </a:r>
          </a:p>
        </p:txBody>
      </p:sp>
      <p:sp>
        <p:nvSpPr>
          <p:cNvPr id="19" name="PR chip"/>
          <p:cNvSpPr/>
          <p:nvPr/>
        </p:nvSpPr>
        <p:spPr>
          <a:xfrm>
            <a:off x="9913620" y="1417320"/>
            <a:ext cx="1097280" cy="548640"/>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800" b="1" i="0">
                <a:solidFill>
                  <a:srgbClr val="FFFFFF"/>
                </a:solidFill>
                <a:latin typeface="Calibri"/>
                <a:cs typeface="Calibri"/>
              </a:rPr>
              <a:t>PR</a:t>
            </a:r>
          </a:p>
        </p:txBody>
      </p:sp>
      <p:sp>
        <p:nvSpPr>
          <p:cNvPr id="20" name="PR seats"/>
          <p:cNvSpPr/>
          <p:nvPr/>
        </p:nvSpPr>
        <p:spPr>
          <a:xfrm>
            <a:off x="9593580" y="2011680"/>
            <a:ext cx="17373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rmAutofit/>
          </a:bodyPr>
          <a:lstStyle/>
          <a:p>
            <a:pPr marL="0" indent="0" algn="ctr">
              <a:spcAft>
                <a:spcPts val="0"/>
              </a:spcAft>
              <a:buNone/>
            </a:pPr>
            <a:r>
              <a:rPr sz="1250" b="0" i="0">
                <a:solidFill>
                  <a:srgbClr val="321744"/>
                </a:solidFill>
                <a:latin typeface="Calibri"/>
                <a:cs typeface="Calibri"/>
              </a:rPr>
              <a:t>Populist Right</a:t>
            </a:r>
          </a:p>
          <a:p>
            <a:pPr marL="0" indent="0" algn="ctr">
              <a:buNone/>
            </a:pPr>
            <a:r>
              <a:rPr sz="1350" b="1" i="0">
                <a:solidFill>
                  <a:srgbClr val="F3672A"/>
                </a:solidFill>
                <a:latin typeface="Calibri"/>
                <a:cs typeface="Calibri"/>
              </a:rPr>
              <a:t>?</a:t>
            </a:r>
            <a:r>
              <a:rPr sz="1350" b="0" i="0">
                <a:solidFill>
                  <a:srgbClr val="321744"/>
                </a:solidFill>
                <a:latin typeface="Calibri"/>
                <a:cs typeface="Calibri"/>
              </a:rPr>
              <a:t> seats</a:t>
            </a:r>
          </a:p>
        </p:txBody>
      </p:sp>
      <p:sp>
        <p:nvSpPr>
          <p:cNvPr id="21" name="Predicts card"/>
          <p:cNvSpPr/>
          <p:nvPr/>
        </p:nvSpPr>
        <p:spPr>
          <a:xfrm>
            <a:off x="457200" y="2697480"/>
            <a:ext cx="4846320" cy="251460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redicts card header"/>
          <p:cNvSpPr/>
          <p:nvPr/>
        </p:nvSpPr>
        <p:spPr>
          <a:xfrm>
            <a:off x="457200" y="2697480"/>
            <a:ext cx="4846320" cy="411480"/>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redicts card header text"/>
          <p:cNvSpPr/>
          <p:nvPr/>
        </p:nvSpPr>
        <p:spPr>
          <a:xfrm>
            <a:off x="457200" y="2697480"/>
            <a:ext cx="484632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WHAT THE ACCOUNT PREDICTS</a:t>
            </a:r>
          </a:p>
        </p:txBody>
      </p:sp>
      <p:sp>
        <p:nvSpPr>
          <p:cNvPr id="24" name="Predicts card text"/>
          <p:cNvSpPr/>
          <p:nvPr/>
        </p:nvSpPr>
        <p:spPr>
          <a:xfrm>
            <a:off x="630936" y="3200400"/>
            <a:ext cx="4498848" cy="19019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000"/>
              </a:spcAft>
              <a:buFont typeface="Arial"/>
              <a:buChar char="•"/>
            </a:pPr>
            <a:r>
              <a:rPr sz="1750" b="0" i="0">
                <a:solidFill>
                  <a:srgbClr val="321744"/>
                </a:solidFill>
                <a:latin typeface="Calibri"/>
                <a:cs typeface="Calibri"/>
              </a:rPr>
              <a:t>A coalition of neighbors on this line</a:t>
            </a:r>
          </a:p>
          <a:p>
            <a:pPr marL="171450" indent="-171450" algn="l">
              <a:spcAft>
                <a:spcPts val="1000"/>
              </a:spcAft>
              <a:buFont typeface="Arial"/>
              <a:buChar char="•"/>
            </a:pPr>
            <a:r>
              <a:rPr sz="1750" b="0" i="0">
                <a:solidFill>
                  <a:srgbClr val="321744"/>
                </a:solidFill>
                <a:latin typeface="Calibri"/>
                <a:cs typeface="Calibri"/>
              </a:rPr>
              <a:t>The party that holds the middle seats is in the government, and it sets the terms</a:t>
            </a:r>
          </a:p>
        </p:txBody>
      </p:sp>
      <p:sp>
        <p:nvSpPr>
          <p:cNvPr id="25" name="Check card"/>
          <p:cNvSpPr/>
          <p:nvPr/>
        </p:nvSpPr>
        <p:spPr>
          <a:xfrm>
            <a:off x="5486400" y="2697480"/>
            <a:ext cx="6245352" cy="251460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heck card header"/>
          <p:cNvSpPr/>
          <p:nvPr/>
        </p:nvSpPr>
        <p:spPr>
          <a:xfrm>
            <a:off x="5486400" y="2697480"/>
            <a:ext cx="6245352" cy="411480"/>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eck card header text"/>
          <p:cNvSpPr/>
          <p:nvPr/>
        </p:nvSpPr>
        <p:spPr>
          <a:xfrm>
            <a:off x="5486400" y="2697480"/>
            <a:ext cx="6245352"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CHECK IT AGAINST THE RECORD</a:t>
            </a:r>
          </a:p>
        </p:txBody>
      </p:sp>
      <p:sp>
        <p:nvSpPr>
          <p:cNvPr id="28" name="Check card text"/>
          <p:cNvSpPr/>
          <p:nvPr/>
        </p:nvSpPr>
        <p:spPr>
          <a:xfrm>
            <a:off x="5660136" y="3200400"/>
            <a:ext cx="5897880" cy="19019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000"/>
              </a:spcAft>
              <a:buFont typeface="Arial"/>
              <a:buChar char="•"/>
            </a:pPr>
            <a:r>
              <a:rPr sz="1750" b="0" i="0" dirty="0">
                <a:solidFill>
                  <a:srgbClr val="321744"/>
                </a:solidFill>
                <a:latin typeface="Calibri"/>
                <a:cs typeface="Calibri"/>
              </a:rPr>
              <a:t>Are the governing parties next to each other?</a:t>
            </a:r>
          </a:p>
          <a:p>
            <a:pPr marL="171450" indent="-171450" algn="l">
              <a:spcAft>
                <a:spcPts val="1000"/>
              </a:spcAft>
              <a:buFont typeface="Arial"/>
              <a:buChar char="•"/>
            </a:pPr>
            <a:r>
              <a:rPr sz="1750" b="0" i="0" dirty="0">
                <a:solidFill>
                  <a:srgbClr val="321744"/>
                </a:solidFill>
                <a:latin typeface="Calibri"/>
                <a:cs typeface="Calibri"/>
              </a:rPr>
              <a:t>Count from the left: which party holds seats 50 and 51? Is it in the government?</a:t>
            </a:r>
          </a:p>
          <a:p>
            <a:pPr marL="171450" indent="-171450" algn="l">
              <a:spcAft>
                <a:spcPts val="1000"/>
              </a:spcAft>
              <a:buFont typeface="Arial"/>
              <a:buChar char="•"/>
            </a:pPr>
            <a:r>
              <a:rPr sz="1750" b="0" i="0" dirty="0">
                <a:solidFill>
                  <a:srgbClr val="321744"/>
                </a:solidFill>
                <a:latin typeface="Calibri"/>
                <a:cs typeface="Calibri"/>
              </a:rPr>
              <a:t>On each of the five </a:t>
            </a:r>
            <a:r>
              <a:rPr lang="en-US" sz="1750" b="0" i="0" dirty="0">
                <a:solidFill>
                  <a:srgbClr val="321744"/>
                </a:solidFill>
                <a:latin typeface="Calibri"/>
                <a:cs typeface="Calibri"/>
              </a:rPr>
              <a:t>issues</a:t>
            </a:r>
            <a:r>
              <a:rPr sz="1750" b="0" i="0" dirty="0">
                <a:solidFill>
                  <a:srgbClr val="321744"/>
                </a:solidFill>
                <a:latin typeface="Calibri"/>
                <a:cs typeface="Calibri"/>
              </a:rPr>
              <a:t>, whose position is in the coalition agreement?</a:t>
            </a:r>
          </a:p>
        </p:txBody>
      </p:sp>
      <p:sp>
        <p:nvSpPr>
          <p:cNvPr id="29" name="Verdict band"/>
          <p:cNvSpPr/>
          <p:nvPr/>
        </p:nvSpPr>
        <p:spPr>
          <a:xfrm>
            <a:off x="457200" y="5367528"/>
            <a:ext cx="11274552" cy="749808"/>
          </a:xfrm>
          <a:prstGeom prst="roundRect">
            <a:avLst>
              <a:gd name="adj" fmla="val 18000"/>
            </a:avLst>
          </a:prstGeom>
          <a:solidFill>
            <a:srgbClr val="301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Verdict question"/>
          <p:cNvSpPr/>
          <p:nvPr/>
        </p:nvSpPr>
        <p:spPr>
          <a:xfrm>
            <a:off x="640080" y="5367528"/>
            <a:ext cx="6473952" cy="7498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800" b="1" i="0" dirty="0">
                <a:solidFill>
                  <a:srgbClr val="FFFFFF"/>
                </a:solidFill>
                <a:latin typeface="Calibri"/>
                <a:cs typeface="Calibri"/>
              </a:rPr>
              <a:t>Does the policy account explain the FRC’s government?</a:t>
            </a:r>
          </a:p>
        </p:txBody>
      </p:sp>
      <p:sp>
        <p:nvSpPr>
          <p:cNvPr id="31" name="Verdict option 1"/>
          <p:cNvSpPr/>
          <p:nvPr/>
        </p:nvSpPr>
        <p:spPr>
          <a:xfrm>
            <a:off x="7205472" y="5495544"/>
            <a:ext cx="132588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600" b="1" i="0">
                <a:solidFill>
                  <a:srgbClr val="321744"/>
                </a:solidFill>
                <a:latin typeface="Calibri"/>
                <a:cs typeface="Calibri"/>
              </a:rPr>
              <a:t>Yes</a:t>
            </a:r>
          </a:p>
        </p:txBody>
      </p:sp>
      <p:sp>
        <p:nvSpPr>
          <p:cNvPr id="32" name="Verdict option 2"/>
          <p:cNvSpPr/>
          <p:nvPr/>
        </p:nvSpPr>
        <p:spPr>
          <a:xfrm>
            <a:off x="8668512" y="5495544"/>
            <a:ext cx="132588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600" b="1" i="0">
                <a:solidFill>
                  <a:srgbClr val="321744"/>
                </a:solidFill>
                <a:latin typeface="Calibri"/>
                <a:cs typeface="Calibri"/>
              </a:rPr>
              <a:t>Partly</a:t>
            </a:r>
          </a:p>
        </p:txBody>
      </p:sp>
      <p:sp>
        <p:nvSpPr>
          <p:cNvPr id="33" name="Verdict option 3"/>
          <p:cNvSpPr/>
          <p:nvPr/>
        </p:nvSpPr>
        <p:spPr>
          <a:xfrm>
            <a:off x="10131552" y="5495544"/>
            <a:ext cx="1325880" cy="493776"/>
          </a:xfrm>
          <a:prstGeom prst="roundRect">
            <a:avLst>
              <a:gd name="adj" fmla="val 25000"/>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600" b="1" i="0">
                <a:solidFill>
                  <a:srgbClr val="321744"/>
                </a:solidFill>
                <a:latin typeface="Calibri"/>
                <a:cs typeface="Calibri"/>
              </a:rPr>
              <a:t>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 3: Something Messier</a:t>
            </a:r>
          </a:p>
        </p:txBody>
      </p:sp>
      <p:sp>
        <p:nvSpPr>
          <p:cNvPr id="3" name="Canvas"/>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Kicker"/>
          <p:cNvSpPr/>
          <p:nvPr/>
        </p:nvSpPr>
        <p:spPr>
          <a:xfrm>
            <a:off x="457200" y="9144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lnSpcReduction="10000"/>
          </a:bodyPr>
          <a:lstStyle/>
          <a:p>
            <a:pPr marL="0" indent="0" algn="l">
              <a:buNone/>
            </a:pPr>
            <a:r>
              <a:rPr sz="1250" b="1" i="0">
                <a:solidFill>
                  <a:srgbClr val="F3672A"/>
                </a:solidFill>
                <a:latin typeface="Calibri"/>
                <a:cs typeface="Calibri"/>
              </a:rPr>
              <a:t>THE FRC</a:t>
            </a:r>
          </a:p>
        </p:txBody>
      </p:sp>
      <p:sp>
        <p:nvSpPr>
          <p:cNvPr id="5" name="Heading"/>
          <p:cNvSpPr/>
          <p:nvPr/>
        </p:nvSpPr>
        <p:spPr>
          <a:xfrm>
            <a:off x="457200" y="335310"/>
            <a:ext cx="11274552" cy="7004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2800" b="1" i="0">
                <a:solidFill>
                  <a:srgbClr val="321744"/>
                </a:solidFill>
                <a:latin typeface="Calibri"/>
                <a:cs typeface="Calibri"/>
              </a:rPr>
              <a:t>Test 3: or was it something messier?</a:t>
            </a:r>
          </a:p>
        </p:txBody>
      </p:sp>
      <p:sp>
        <p:nvSpPr>
          <p:cNvPr id="6" name="Task"/>
          <p:cNvSpPr/>
          <p:nvPr/>
        </p:nvSpPr>
        <p:spPr>
          <a:xfrm>
            <a:off x="457200" y="1005840"/>
            <a:ext cx="1127455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l">
              <a:buNone/>
            </a:pPr>
            <a:r>
              <a:rPr sz="1600" b="1" i="0">
                <a:solidFill>
                  <a:srgbClr val="321744"/>
                </a:solidFill>
                <a:latin typeface="Calibri"/>
                <a:cs typeface="Calibri"/>
              </a:rPr>
              <a:t>Three minutes in your caucus, with your negotiation records. Then one sentence from each party.</a:t>
            </a:r>
          </a:p>
        </p:txBody>
      </p:sp>
      <p:sp>
        <p:nvSpPr>
          <p:cNvPr id="7" name="Find 1"/>
          <p:cNvSpPr/>
          <p:nvPr/>
        </p:nvSpPr>
        <p:spPr>
          <a:xfrm>
            <a:off x="457200" y="1481328"/>
            <a:ext cx="3675888" cy="2743200"/>
          </a:xfrm>
          <a:prstGeom prst="roundRect">
            <a:avLst>
              <a:gd name="adj" fmla="val 5000"/>
            </a:avLst>
          </a:prstGeom>
          <a:solidFill>
            <a:srgbClr val="FFF6F0"/>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ind 1 header"/>
          <p:cNvSpPr/>
          <p:nvPr/>
        </p:nvSpPr>
        <p:spPr>
          <a:xfrm>
            <a:off x="457200" y="1481328"/>
            <a:ext cx="3675888" cy="438912"/>
          </a:xfrm>
          <a:prstGeom prst="roundRect">
            <a:avLst>
              <a:gd name="adj" fmla="val 18000"/>
            </a:avLst>
          </a:prstGeom>
          <a:solidFill>
            <a:srgbClr val="301A41"/>
          </a:solidFill>
          <a:ln w="31750">
            <a:solidFill>
              <a:srgbClr val="301A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ind 1 header text"/>
          <p:cNvSpPr/>
          <p:nvPr/>
        </p:nvSpPr>
        <p:spPr>
          <a:xfrm>
            <a:off x="457200" y="1481328"/>
            <a:ext cx="3675888"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AN OFFER REFUSED</a:t>
            </a:r>
          </a:p>
        </p:txBody>
      </p:sp>
      <p:sp>
        <p:nvSpPr>
          <p:cNvPr id="10" name="Find 1 text"/>
          <p:cNvSpPr/>
          <p:nvPr/>
        </p:nvSpPr>
        <p:spPr>
          <a:xfrm>
            <a:off x="630936" y="2048256"/>
            <a:ext cx="3328416" cy="2066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200"/>
              </a:spcAft>
              <a:buFont typeface="Arial"/>
              <a:buChar char="•"/>
            </a:pPr>
            <a:r>
              <a:rPr sz="1850" b="0" i="0">
                <a:solidFill>
                  <a:srgbClr val="321744"/>
                </a:solidFill>
                <a:latin typeface="Calibri"/>
                <a:cs typeface="Calibri"/>
              </a:rPr>
              <a:t>Who offered what, to whom, and at what time?</a:t>
            </a:r>
          </a:p>
          <a:p>
            <a:pPr marL="171450" indent="-171450" algn="l">
              <a:spcAft>
                <a:spcPts val="1200"/>
              </a:spcAft>
              <a:buFont typeface="Arial"/>
              <a:buChar char="•"/>
            </a:pPr>
            <a:r>
              <a:rPr sz="1850" b="0" i="0">
                <a:solidFill>
                  <a:srgbClr val="321744"/>
                </a:solidFill>
                <a:latin typeface="Calibri"/>
                <a:cs typeface="Calibri"/>
              </a:rPr>
              <a:t>What happened next?</a:t>
            </a:r>
          </a:p>
        </p:txBody>
      </p:sp>
      <p:sp>
        <p:nvSpPr>
          <p:cNvPr id="11" name="Find 2"/>
          <p:cNvSpPr/>
          <p:nvPr/>
        </p:nvSpPr>
        <p:spPr>
          <a:xfrm>
            <a:off x="4261104" y="1481328"/>
            <a:ext cx="3675888" cy="2743200"/>
          </a:xfrm>
          <a:prstGeom prst="roundRect">
            <a:avLst>
              <a:gd name="adj" fmla="val 5000"/>
            </a:avLst>
          </a:prstGeom>
          <a:solidFill>
            <a:srgbClr val="FFF6F0"/>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ind 2 header"/>
          <p:cNvSpPr/>
          <p:nvPr/>
        </p:nvSpPr>
        <p:spPr>
          <a:xfrm>
            <a:off x="4261104" y="1481328"/>
            <a:ext cx="3675888" cy="438912"/>
          </a:xfrm>
          <a:prstGeom prst="roundRect">
            <a:avLst>
              <a:gd name="adj" fmla="val 18000"/>
            </a:avLst>
          </a:prstGeom>
          <a:solidFill>
            <a:srgbClr val="F3672A"/>
          </a:solidFill>
          <a:ln w="31750">
            <a:solidFill>
              <a:srgbClr val="F36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ind 2 header text"/>
          <p:cNvSpPr/>
          <p:nvPr/>
        </p:nvSpPr>
        <p:spPr>
          <a:xfrm>
            <a:off x="4261104" y="1481328"/>
            <a:ext cx="3675888"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A RED LINE</a:t>
            </a:r>
          </a:p>
        </p:txBody>
      </p:sp>
      <p:sp>
        <p:nvSpPr>
          <p:cNvPr id="14" name="Find 2 text"/>
          <p:cNvSpPr/>
          <p:nvPr/>
        </p:nvSpPr>
        <p:spPr>
          <a:xfrm>
            <a:off x="4434840" y="2048256"/>
            <a:ext cx="3328416" cy="2066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200"/>
              </a:spcAft>
              <a:buFont typeface="Arial"/>
              <a:buChar char="•"/>
            </a:pPr>
            <a:r>
              <a:rPr sz="1850" b="0" i="0" dirty="0">
                <a:solidFill>
                  <a:srgbClr val="321744"/>
                </a:solidFill>
                <a:latin typeface="Calibri"/>
                <a:cs typeface="Calibri"/>
              </a:rPr>
              <a:t>One that held</a:t>
            </a:r>
          </a:p>
          <a:p>
            <a:pPr marL="171450" indent="-171450" algn="l">
              <a:spcAft>
                <a:spcPts val="1200"/>
              </a:spcAft>
              <a:buFont typeface="Arial"/>
              <a:buChar char="•"/>
            </a:pPr>
            <a:r>
              <a:rPr sz="1850" b="0" i="0" dirty="0">
                <a:solidFill>
                  <a:srgbClr val="321744"/>
                </a:solidFill>
                <a:latin typeface="Calibri"/>
                <a:cs typeface="Calibri"/>
              </a:rPr>
              <a:t>One that did not</a:t>
            </a:r>
            <a:r>
              <a:rPr lang="en-US" sz="1850" b="0" i="0" dirty="0">
                <a:solidFill>
                  <a:srgbClr val="321744"/>
                </a:solidFill>
                <a:latin typeface="Calibri"/>
                <a:cs typeface="Calibri"/>
              </a:rPr>
              <a:t> hold</a:t>
            </a:r>
            <a:endParaRPr sz="1850" b="0" i="0" dirty="0">
              <a:solidFill>
                <a:srgbClr val="321744"/>
              </a:solidFill>
              <a:latin typeface="Calibri"/>
              <a:cs typeface="Calibri"/>
            </a:endParaRPr>
          </a:p>
        </p:txBody>
      </p:sp>
      <p:sp>
        <p:nvSpPr>
          <p:cNvPr id="15" name="Find 3"/>
          <p:cNvSpPr/>
          <p:nvPr/>
        </p:nvSpPr>
        <p:spPr>
          <a:xfrm>
            <a:off x="8065008" y="1481328"/>
            <a:ext cx="3675888" cy="2743200"/>
          </a:xfrm>
          <a:prstGeom prst="roundRect">
            <a:avLst>
              <a:gd name="adj" fmla="val 5000"/>
            </a:avLst>
          </a:prstGeom>
          <a:solidFill>
            <a:srgbClr val="FFF6F0"/>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ind 3 header"/>
          <p:cNvSpPr/>
          <p:nvPr/>
        </p:nvSpPr>
        <p:spPr>
          <a:xfrm>
            <a:off x="8065008" y="1481328"/>
            <a:ext cx="3675888" cy="438912"/>
          </a:xfrm>
          <a:prstGeom prst="roundRect">
            <a:avLst>
              <a:gd name="adj" fmla="val 18000"/>
            </a:avLst>
          </a:prstGeom>
          <a:solidFill>
            <a:srgbClr val="5B4468"/>
          </a:solidFill>
          <a:ln w="31750">
            <a:solidFill>
              <a:srgbClr val="5B44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ind 3 header text"/>
          <p:cNvSpPr/>
          <p:nvPr/>
        </p:nvSpPr>
        <p:spPr>
          <a:xfrm>
            <a:off x="8065008" y="1481328"/>
            <a:ext cx="3675888" cy="4389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normAutofit/>
          </a:bodyPr>
          <a:lstStyle/>
          <a:p>
            <a:pPr marL="0" indent="0" algn="ctr">
              <a:buNone/>
            </a:pPr>
            <a:r>
              <a:rPr sz="1400" b="1" i="0">
                <a:solidFill>
                  <a:srgbClr val="FFFFFF"/>
                </a:solidFill>
                <a:latin typeface="Calibri"/>
                <a:cs typeface="Calibri"/>
              </a:rPr>
              <a:t>A SURPRISE</a:t>
            </a:r>
          </a:p>
        </p:txBody>
      </p:sp>
      <p:sp>
        <p:nvSpPr>
          <p:cNvPr id="18" name="Find 3 text"/>
          <p:cNvSpPr/>
          <p:nvPr/>
        </p:nvSpPr>
        <p:spPr>
          <a:xfrm>
            <a:off x="8238744" y="2048256"/>
            <a:ext cx="3328416" cy="2066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91440" rIns="45720" rtlCol="0" anchor="t">
            <a:normAutofit/>
          </a:bodyPr>
          <a:lstStyle/>
          <a:p>
            <a:pPr marL="171450" indent="-171450" algn="l">
              <a:spcAft>
                <a:spcPts val="1200"/>
              </a:spcAft>
              <a:buFont typeface="Arial"/>
              <a:buChar char="•"/>
            </a:pPr>
            <a:r>
              <a:rPr sz="1850" b="0" i="0" dirty="0">
                <a:solidFill>
                  <a:srgbClr val="321744"/>
                </a:solidFill>
                <a:latin typeface="Calibri"/>
                <a:cs typeface="Calibri"/>
              </a:rPr>
              <a:t>What did nobody see coming?</a:t>
            </a:r>
          </a:p>
        </p:txBody>
      </p:sp>
      <p:sp>
        <p:nvSpPr>
          <p:cNvPr id="19" name="RLP report chip"/>
          <p:cNvSpPr/>
          <p:nvPr/>
        </p:nvSpPr>
        <p:spPr>
          <a:xfrm>
            <a:off x="457200" y="4434840"/>
            <a:ext cx="1737360" cy="548640"/>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Radical Left</a:t>
            </a:r>
          </a:p>
        </p:txBody>
      </p:sp>
      <p:sp>
        <p:nvSpPr>
          <p:cNvPr id="20" name="SD report chip"/>
          <p:cNvSpPr/>
          <p:nvPr/>
        </p:nvSpPr>
        <p:spPr>
          <a:xfrm>
            <a:off x="2363724" y="4434840"/>
            <a:ext cx="1737360" cy="548640"/>
          </a:xfrm>
          <a:prstGeom prst="roundRect">
            <a:avLst>
              <a:gd name="adj" fmla="val 25000"/>
            </a:avLst>
          </a:prstGeom>
          <a:solidFill>
            <a:srgbClr val="301A41"/>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Social Democrats</a:t>
            </a:r>
          </a:p>
        </p:txBody>
      </p:sp>
      <p:sp>
        <p:nvSpPr>
          <p:cNvPr id="21" name="GP report chip"/>
          <p:cNvSpPr/>
          <p:nvPr/>
        </p:nvSpPr>
        <p:spPr>
          <a:xfrm>
            <a:off x="4270248" y="4434840"/>
            <a:ext cx="1737360" cy="548640"/>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Greens</a:t>
            </a:r>
          </a:p>
        </p:txBody>
      </p:sp>
      <p:sp>
        <p:nvSpPr>
          <p:cNvPr id="22" name="LP report chip"/>
          <p:cNvSpPr/>
          <p:nvPr/>
        </p:nvSpPr>
        <p:spPr>
          <a:xfrm>
            <a:off x="6176772" y="4434840"/>
            <a:ext cx="1737360" cy="548640"/>
          </a:xfrm>
          <a:prstGeom prst="roundRect">
            <a:avLst>
              <a:gd name="adj" fmla="val 25000"/>
            </a:avLst>
          </a:prstGeom>
          <a:solidFill>
            <a:srgbClr val="301A41"/>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Liberals</a:t>
            </a:r>
          </a:p>
        </p:txBody>
      </p:sp>
      <p:sp>
        <p:nvSpPr>
          <p:cNvPr id="23" name="CD report chip"/>
          <p:cNvSpPr/>
          <p:nvPr/>
        </p:nvSpPr>
        <p:spPr>
          <a:xfrm>
            <a:off x="8083296" y="4434840"/>
            <a:ext cx="1737360" cy="548640"/>
          </a:xfrm>
          <a:prstGeom prst="roundRect">
            <a:avLst>
              <a:gd name="adj" fmla="val 25000"/>
            </a:avLst>
          </a:prstGeom>
          <a:solidFill>
            <a:srgbClr val="301A41"/>
          </a:solidFill>
          <a:ln w="19050">
            <a:solidFill>
              <a:srgbClr val="301A4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Christian Democrats</a:t>
            </a:r>
          </a:p>
        </p:txBody>
      </p:sp>
      <p:sp>
        <p:nvSpPr>
          <p:cNvPr id="24" name="PR report chip"/>
          <p:cNvSpPr/>
          <p:nvPr/>
        </p:nvSpPr>
        <p:spPr>
          <a:xfrm>
            <a:off x="9989820" y="4434840"/>
            <a:ext cx="1737360" cy="548640"/>
          </a:xfrm>
          <a:prstGeom prst="roundRect">
            <a:avLst>
              <a:gd name="adj" fmla="val 25000"/>
            </a:avLst>
          </a:prstGeom>
          <a:solidFill>
            <a:srgbClr val="F3672A"/>
          </a:solidFill>
          <a:ln w="19050">
            <a:solidFill>
              <a:srgbClr val="F3672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normAutofit/>
          </a:bodyPr>
          <a:lstStyle/>
          <a:p>
            <a:pPr marL="0" indent="0" algn="ctr">
              <a:buNone/>
            </a:pPr>
            <a:r>
              <a:rPr sz="1400" b="1" i="0">
                <a:solidFill>
                  <a:srgbClr val="FFFFFF"/>
                </a:solidFill>
                <a:latin typeface="Calibri"/>
                <a:cs typeface="Calibri"/>
              </a:rPr>
              <a:t>Populist Right</a:t>
            </a:r>
          </a:p>
        </p:txBody>
      </p:sp>
      <p:sp>
        <p:nvSpPr>
          <p:cNvPr id="25" name="Footnote"/>
          <p:cNvSpPr/>
          <p:nvPr/>
        </p:nvSpPr>
        <p:spPr>
          <a:xfrm>
            <a:off x="457200" y="5166360"/>
            <a:ext cx="11274552"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normAutofit/>
          </a:bodyPr>
          <a:lstStyle/>
          <a:p>
            <a:pPr marL="0" indent="0" algn="ctr">
              <a:buNone/>
            </a:pPr>
            <a:r>
              <a:rPr sz="1500" b="0" i="1">
                <a:solidFill>
                  <a:srgbClr val="5C5C5C"/>
                </a:solidFill>
                <a:latin typeface="Calibri"/>
                <a:cs typeface="Calibri"/>
              </a:rPr>
              <a:t>Then the question for your memo: was it one of these that decided the government, or seats and policy after 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Debrief Memo</a:t>
            </a:r>
          </a:p>
        </p:txBody>
      </p:sp>
      <p:sp>
        <p:nvSpPr>
          <p:cNvPr id="3" name="Content Placeholder 2"/>
          <p:cNvSpPr>
            <a:spLocks noGrp="1"/>
          </p:cNvSpPr>
          <p:nvPr>
            <p:ph idx="1"/>
          </p:nvPr>
        </p:nvSpPr>
        <p:spPr/>
        <p:txBody>
          <a:bodyPr/>
          <a:lstStyle/>
          <a:p>
            <a:r>
              <a:rPr lang="en-US" dirty="0"/>
              <a:t>No more than 1000 </a:t>
            </a:r>
            <a:r>
              <a:rPr dirty="0"/>
              <a:t>words</a:t>
            </a:r>
          </a:p>
          <a:p>
            <a:r>
              <a:rPr dirty="0"/>
              <a:t>Three parts: what happened; which account explains it; what the theory missed</a:t>
            </a:r>
          </a:p>
          <a:p>
            <a:r>
              <a:rPr lang="en-US" dirty="0"/>
              <a:t>Compare what we did to what </a:t>
            </a:r>
            <a:r>
              <a:rPr lang="en-US"/>
              <a:t>has happened in the real world</a:t>
            </a:r>
            <a:endParaRPr dirty="0"/>
          </a:p>
          <a:p>
            <a:r>
              <a:rPr dirty="0"/>
              <a:t>Use this unit’s readings to make the case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F3A67B4-7677-6D48-8A23-307ED2182D5F}" vid="{2DDAFCB2-C0F4-134B-95C2-A0AF19CD5C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55B7E29D531854B94AF162BA5E34C01" ma:contentTypeVersion="7" ma:contentTypeDescription="Create a new document." ma:contentTypeScope="" ma:versionID="a2d9ab3b17afba22fc6238f31afd41c4">
  <xsd:schema xmlns:xsd="http://www.w3.org/2001/XMLSchema" xmlns:xs="http://www.w3.org/2001/XMLSchema" xmlns:p="http://schemas.microsoft.com/office/2006/metadata/properties" xmlns:ns2="a715ae59-2f24-4114-8440-5cd12e181661" targetNamespace="http://schemas.microsoft.com/office/2006/metadata/properties" ma:root="true" ma:fieldsID="5637070ca8fd4ee77d34cf4d1beb725d" ns2:_="">
    <xsd:import namespace="a715ae59-2f24-4114-8440-5cd12e1816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15ae59-2f24-4114-8440-5cd12e1816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780447-5855-4BB0-83B6-5A98EE7B0F8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A2C7DAE-7229-4980-9A9B-F34468D09F58}">
  <ds:schemaRefs>
    <ds:schemaRef ds:uri="http://schemas.microsoft.com/sharepoint/v3/contenttype/forms"/>
  </ds:schemaRefs>
</ds:datastoreItem>
</file>

<file path=customXml/itemProps3.xml><?xml version="1.0" encoding="utf-8"?>
<ds:datastoreItem xmlns:ds="http://schemas.openxmlformats.org/officeDocument/2006/customXml" ds:itemID="{010DAE83-54CE-43D5-92CC-2BDDDDCC19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15ae59-2f24-4114-8440-5cd12e1816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5014</TotalTime>
  <Words>2619</Words>
  <Application>Microsoft Macintosh PowerPoint</Application>
  <PresentationFormat>Widescreen</PresentationFormat>
  <Paragraphs>431</Paragraphs>
  <Slides>24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Arial</vt:lpstr>
      <vt:lpstr>Calibri</vt:lpstr>
      <vt:lpstr>Franklin Gothic Book</vt:lpstr>
      <vt:lpstr>Franklin Gothic Medium Cond</vt:lpstr>
      <vt:lpstr>Sabon Next LT</vt:lpstr>
      <vt:lpstr>Office Theme</vt:lpstr>
      <vt:lpstr>POSC 3710: European Politics</vt:lpstr>
      <vt:lpstr>Happening Now: Sweden</vt:lpstr>
      <vt:lpstr>Coalition Bargaining</vt:lpstr>
      <vt:lpstr>Three Accounts of Coalition Formation</vt:lpstr>
      <vt:lpstr>Germany 2025: Build a Majority</vt:lpstr>
      <vt:lpstr>Minimum Winning, Oversized, Minority</vt:lpstr>
      <vt:lpstr>Minority Governments</vt:lpstr>
      <vt:lpstr>The Dutch Election: Not Quite a Return to the Center</vt:lpstr>
      <vt:lpstr>The Netherlands: How Do You Get to 76?</vt:lpstr>
      <vt:lpstr>Who Gets What?</vt:lpstr>
      <vt:lpstr>Guess the Cabinet</vt:lpstr>
      <vt:lpstr>Britain, May 2010: No Majority</vt:lpstr>
      <vt:lpstr>The Liberal Democrats’ Three Options</vt:lpstr>
      <vt:lpstr>What It Cost</vt:lpstr>
      <vt:lpstr>When a Large Party Is Ruled Out</vt:lpstr>
      <vt:lpstr>How Long Does It Take?</vt:lpstr>
      <vt:lpstr>Coalition Histories and Polarization</vt:lpstr>
      <vt:lpstr>Governing Together</vt:lpstr>
      <vt:lpstr>The FRC’s Government</vt:lpstr>
      <vt:lpstr>What Happened on Wednesday</vt:lpstr>
      <vt:lpstr>Test 1: Office</vt:lpstr>
      <vt:lpstr>Test 2: Policy</vt:lpstr>
      <vt:lpstr>Test 3: Something Messier</vt:lpstr>
      <vt:lpstr>The Debrief Memo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William Horne</dc:creator>
  <cp:lastModifiedBy>Will Horne</cp:lastModifiedBy>
  <cp:revision>20</cp:revision>
  <dcterms:created xsi:type="dcterms:W3CDTF">2025-01-14T20:27:56Z</dcterms:created>
  <dcterms:modified xsi:type="dcterms:W3CDTF">2026-10-26T16:14:43Z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0x010100555B7E29D531854B94AF162BA5E34C01</vt:lpwstr>
  </property>
</Properties>
</file>